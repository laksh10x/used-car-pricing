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479" autoAdjust="0"/>
  </p:normalViewPr>
  <p:slideViewPr>
    <p:cSldViewPr snapToGrid="0">
      <p:cViewPr>
        <p:scale>
          <a:sx n="75" d="100"/>
          <a:sy n="75" d="100"/>
        </p:scale>
        <p:origin x="327" y="-3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wanted this final presentation to start with the real moment behind the project. Buying a used car is already stressful, and the hardest part is not always the price itself. It is trying to understand what the seller's words actually mean.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the emotional center of the problem. A phrase like "small dent" sounds simple, but buyers still have to make a money decision from it. My project is about turning that uncertainty into something more readable.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is not that structured pricing data is wrong. It is incomplete. Two cars can have the same year and mileage, but the written condition can completely change how much risk the buyer is taking.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did not want this to be just a model score. The project is more useful if it helps a buyer and seller talk about the car in a clearer way. That is why I treated it as a decision support 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system view. The important part is that the text does not stay as text. It becomes signals that can be used by the model and then explained back to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NLP layer, I kept the first version understandable. It uses text cleaning, TF-IDF style features, and damage rules that make the output explainable. A transformer model could come later, but I wanted the prototype to show the full idea clearly.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chose a range because a single price can give a false sense of certainty. Used car pricing has noise. Damage descriptions also have noise. A range is more honest and more useful for negotiation.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dashboard is intentionally simple. It is not trying to make the user hunt through model details. It gives the range, the damage breakdown, and a place to ask follow-up questions in normal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where the prototype becomes more than a calculator. A buyer may not know what to do with a model score. The chatbot turns the result into a practical next step, like whether to negotiate or request an inspection.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verification, I looked at the system in layers. I checked the text extraction, the model output, the API response, and the dashboard behavior. That also lines up with the final deliverable expectations for testing and system documentation.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want to be honest about limitations. This is a capstone prototype, not a production valuation platform. The biggest next step would be better labeled data, because stronger data would make every later improvement more meaningful.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close, the project is really about confidence. Not confidence that the model knows everything, but confidence that a buyer has a clearer starting point and can ask better questions before making a major purchase.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1911346-D752-48FC-94DF-739E61E9697E}"/>
              </a:ext>
            </a:extLst>
          </p:cNvPr>
          <p:cNvSpPr>
            <a:spLocks noGrp="1"/>
          </p:cNvSpPr>
          <p:nvPr>
            <p:ph type="ctrTitle"/>
          </p:nvPr>
        </p:nvSpPr>
        <p:spPr>
          <a:xfrm>
            <a:off x="1524000" y="1122363"/>
            <a:ext cx="9144000" cy="2387600"/>
          </a:xfrm>
        </p:spPr>
        <p:txBody>
          <a:bodyPr anchor="b"/>
          <a:lstStyle>
            <a:lvl1pPr algn="ctr">
              <a:buNone/>
              <a:defRPr sz="6000"/>
            </a:lvl1pPr>
          </a:lstStyle>
          <a:p>
            <a:endParaRPr/>
          </a:p>
        </p:txBody>
      </p:sp>
      <p:sp>
        <p:nvSpPr>
          <p:cNvPr id="2" name="Subtitle 2">
            <a:extLst>
              <a:ext uri="{FF2B5EF4-FFF2-40B4-BE49-F238E27FC236}">
                <a16:creationId xmlns:a16="http://schemas.microsoft.com/office/drawing/2014/main" id="{2C03946C-681C-4E9B-99EB-91CDA6D984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3" name="Date Placeholder 3">
            <a:extLst>
              <a:ext uri="{FF2B5EF4-FFF2-40B4-BE49-F238E27FC236}">
                <a16:creationId xmlns:a16="http://schemas.microsoft.com/office/drawing/2014/main" id="{BF953813-3BD5-456A-847B-B07144C7826C}"/>
              </a:ext>
            </a:extLst>
          </p:cNvPr>
          <p:cNvSpPr>
            <a:spLocks noGrp="1"/>
          </p:cNvSpPr>
          <p:nvPr>
            <p:ph type="dt" idx="10"/>
          </p:nvPr>
        </p:nvSpPr>
        <p:spPr/>
        <p:txBody>
          <a:bodyPr/>
          <a:lstStyle/>
          <a:p>
            <a:endParaRPr/>
          </a:p>
        </p:txBody>
      </p:sp>
      <p:sp>
        <p:nvSpPr>
          <p:cNvPr id="4" name="Footer Placeholder 4">
            <a:extLst>
              <a:ext uri="{FF2B5EF4-FFF2-40B4-BE49-F238E27FC236}">
                <a16:creationId xmlns:a16="http://schemas.microsoft.com/office/drawing/2014/main" id="{0E702024-BA07-4C4E-9882-1C7CEA9FEA54}"/>
              </a:ext>
            </a:extLst>
          </p:cNvPr>
          <p:cNvSpPr>
            <a:spLocks noGrp="1"/>
          </p:cNvSpPr>
          <p:nvPr>
            <p:ph type="ftr" idx="11"/>
          </p:nvPr>
        </p:nvSpPr>
        <p:spPr/>
        <p:txBody>
          <a:bodyPr/>
          <a:lstStyle/>
          <a:p>
            <a:endParaRPr/>
          </a:p>
        </p:txBody>
      </p:sp>
      <p:sp>
        <p:nvSpPr>
          <p:cNvPr id="5" name="Slide Number Placeholder 5">
            <a:extLst>
              <a:ext uri="{FF2B5EF4-FFF2-40B4-BE49-F238E27FC236}">
                <a16:creationId xmlns:a16="http://schemas.microsoft.com/office/drawing/2014/main" id="{2A8FDA44-78E5-4D30-AB5D-D07E98725BD3}"/>
              </a:ext>
            </a:extLst>
          </p:cNvPr>
          <p:cNvSpPr>
            <a:spLocks noGrp="1"/>
          </p:cNvSpPr>
          <p:nvPr>
            <p:ph type="sldNum" idx="12"/>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05491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8A0D9706-9937-451F-BEA4-9545ED5A132A}"/>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12" name="Slide Number Placeholder 5">
            <a:extLst>
              <a:ext uri="{FF2B5EF4-FFF2-40B4-BE49-F238E27FC236}">
                <a16:creationId xmlns:a16="http://schemas.microsoft.com/office/drawing/2014/main" id="{2A8FDA44-78E5-4D30-AB5D-D07E98725BD3}"/>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14750" b="14750"/>
          <a:stretch>
            <a:fillRect/>
          </a:stretch>
        </p:blipFill>
        <p:spPr>
          <a:xfrm>
            <a:off x="6286500" y="857250"/>
            <a:ext cx="4762500" cy="4476750"/>
          </a:xfrm>
          <a:prstGeom prst="rect">
            <a:avLst/>
          </a:prstGeom>
        </p:spPr>
      </p:pic>
      <p:sp>
        <p:nvSpPr>
          <p:cNvPr id="3" name="Rectangle 2">
            <a:extLst>
              <a:ext uri="{FF2B5EF4-FFF2-40B4-BE49-F238E27FC236}">
                <a16:creationId xmlns:a16="http://schemas.microsoft.com/office/drawing/2014/main" id="{C9824566-7E4D-4DC3-9EAD-89FAAFBA00C8}"/>
              </a:ext>
            </a:extLst>
          </p:cNvPr>
          <p:cNvSpPr>
            <a:spLocks noGrp="1"/>
          </p:cNvSpPr>
          <p:nvPr/>
        </p:nvSpPr>
        <p:spPr>
          <a:xfrm>
            <a:off x="6286500" y="857250"/>
            <a:ext cx="4762500" cy="4476750"/>
          </a:xfrm>
          <a:prstGeom prst="rect">
            <a:avLst/>
          </a:prstGeom>
          <a:solidFill>
            <a:srgbClr val="111827">
              <a:alpha val="7843"/>
            </a:srgbClr>
          </a:solidFill>
          <a:ln w="9525">
            <a:solidFill>
              <a:srgbClr val="CBD5E1"/>
            </a:solidFill>
            <a:prstDash val="solid"/>
          </a:ln>
        </p:spPr>
        <p:txBody>
          <a:bodyPr/>
          <a:lstStyle/>
          <a:p>
            <a:endParaRPr lang="en-US"/>
          </a:p>
        </p:txBody>
      </p:sp>
      <p:sp>
        <p:nvSpPr>
          <p:cNvPr id="4" name="Rectangle 3">
            <a:extLst>
              <a:ext uri="{FF2B5EF4-FFF2-40B4-BE49-F238E27FC236}">
                <a16:creationId xmlns:a16="http://schemas.microsoft.com/office/drawing/2014/main" id="{5548A423-DFDE-4FBE-9D8C-C6E3245E4FC1}"/>
              </a:ext>
            </a:extLst>
          </p:cNvPr>
          <p:cNvSpPr>
            <a:spLocks noGrp="1"/>
          </p:cNvSpPr>
          <p:nvPr/>
        </p:nvSpPr>
        <p:spPr>
          <a:xfrm>
            <a:off x="0" y="0"/>
            <a:ext cx="5905500" cy="6858000"/>
          </a:xfrm>
          <a:prstGeom prst="rect">
            <a:avLst/>
          </a:prstGeom>
          <a:solidFill>
            <a:srgbClr val="111827"/>
          </a:solidFill>
          <a:ln w="0">
            <a:solidFill>
              <a:srgbClr val="111827">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12892C05-61FF-4E2C-9FD8-213B9E9C14EE}"/>
              </a:ext>
            </a:extLst>
          </p:cNvPr>
          <p:cNvSpPr>
            <a:spLocks noGrp="1"/>
          </p:cNvSpPr>
          <p:nvPr/>
        </p:nvSpPr>
        <p:spPr>
          <a:xfrm>
            <a:off x="609600" y="800100"/>
            <a:ext cx="1619250" cy="38100"/>
          </a:xfrm>
          <a:prstGeom prst="rect">
            <a:avLst/>
          </a:prstGeom>
          <a:solidFill>
            <a:srgbClr val="DC2626"/>
          </a:solidFill>
          <a:ln w="0">
            <a:solidFill>
              <a:srgbClr val="DC2626"/>
            </a:solidFill>
            <a:prstDash val="solid"/>
          </a:ln>
        </p:spPr>
        <p:txBody>
          <a:bodyPr/>
          <a:lstStyle/>
          <a:p>
            <a:endParaRPr lang="en-US"/>
          </a:p>
        </p:txBody>
      </p:sp>
      <p:sp>
        <p:nvSpPr>
          <p:cNvPr id="6" name="Rectangle 5">
            <a:extLst>
              <a:ext uri="{FF2B5EF4-FFF2-40B4-BE49-F238E27FC236}">
                <a16:creationId xmlns:a16="http://schemas.microsoft.com/office/drawing/2014/main" id="{29960282-5999-4FA3-BA59-058D97C25500}"/>
              </a:ext>
            </a:extLst>
          </p:cNvPr>
          <p:cNvSpPr>
            <a:spLocks noGrp="1"/>
          </p:cNvSpPr>
          <p:nvPr/>
        </p:nvSpPr>
        <p:spPr>
          <a:xfrm>
            <a:off x="609600" y="1200150"/>
            <a:ext cx="5334000" cy="8001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4200" b="1">
                <a:solidFill>
                  <a:srgbClr val="FAFAFA"/>
                </a:solidFill>
              </a:defRPr>
            </a:pPr>
            <a:r>
              <a:rPr sz="4200" b="1">
                <a:solidFill>
                  <a:srgbClr val="FAFAFA"/>
                </a:solidFill>
              </a:rPr>
              <a:t>CarSight AI</a:t>
            </a:r>
          </a:p>
        </p:txBody>
      </p:sp>
      <p:sp>
        <p:nvSpPr>
          <p:cNvPr id="7" name="Rectangle 6">
            <a:extLst>
              <a:ext uri="{FF2B5EF4-FFF2-40B4-BE49-F238E27FC236}">
                <a16:creationId xmlns:a16="http://schemas.microsoft.com/office/drawing/2014/main" id="{4D444B60-7402-4C9B-A248-0B16890E9856}"/>
              </a:ext>
            </a:extLst>
          </p:cNvPr>
          <p:cNvSpPr>
            <a:spLocks noGrp="1"/>
          </p:cNvSpPr>
          <p:nvPr/>
        </p:nvSpPr>
        <p:spPr>
          <a:xfrm>
            <a:off x="647700" y="2152650"/>
            <a:ext cx="4953000" cy="7429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950" b="0">
                <a:solidFill>
                  <a:srgbClr val="D1D5DB"/>
                </a:solidFill>
              </a:defRPr>
            </a:pPr>
            <a:r>
              <a:rPr sz="1950" b="0">
                <a:solidFill>
                  <a:srgbClr val="D1D5DB"/>
                </a:solidFill>
              </a:rPr>
              <a:t>Making used car pricing less of a guessing game.</a:t>
            </a:r>
          </a:p>
        </p:txBody>
      </p:sp>
      <p:sp>
        <p:nvSpPr>
          <p:cNvPr id="8" name="Rectangle 7">
            <a:extLst>
              <a:ext uri="{FF2B5EF4-FFF2-40B4-BE49-F238E27FC236}">
                <a16:creationId xmlns:a16="http://schemas.microsoft.com/office/drawing/2014/main" id="{995F5E54-2D34-4F46-9F4F-395521E2E352}"/>
              </a:ext>
            </a:extLst>
          </p:cNvPr>
          <p:cNvSpPr>
            <a:spLocks noGrp="1"/>
          </p:cNvSpPr>
          <p:nvPr/>
        </p:nvSpPr>
        <p:spPr>
          <a:xfrm>
            <a:off x="647700" y="5353050"/>
            <a:ext cx="4572000" cy="6096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D1D5DB"/>
                </a:solidFill>
              </a:defRPr>
            </a:pPr>
            <a:r>
              <a:rPr sz="1350" b="0">
                <a:solidFill>
                  <a:srgbClr val="D1D5DB"/>
                </a:solidFill>
              </a:rPr>
              <a:t>Lakshya Mohan Rastogi</a:t>
            </a:r>
          </a:p>
          <a:p>
            <a:pPr algn="l">
              <a:defRPr sz="1350" b="0">
                <a:solidFill>
                  <a:srgbClr val="D1D5DB"/>
                </a:solidFill>
              </a:defRPr>
            </a:pPr>
            <a:r>
              <a:rPr sz="1350" b="0">
                <a:solidFill>
                  <a:srgbClr val="D1D5DB"/>
                </a:solidFill>
              </a:rPr>
              <a:t>DS 440 Capstone Project</a:t>
            </a:r>
          </a:p>
        </p:txBody>
      </p:sp>
      <p:sp>
        <p:nvSpPr>
          <p:cNvPr id="9" name="Rectangle 8">
            <a:extLst>
              <a:ext uri="{FF2B5EF4-FFF2-40B4-BE49-F238E27FC236}">
                <a16:creationId xmlns:a16="http://schemas.microsoft.com/office/drawing/2014/main" id="{846D190F-C23F-4958-AB3D-B8E511B013DA}"/>
              </a:ext>
            </a:extLst>
          </p:cNvPr>
          <p:cNvSpPr>
            <a:spLocks noGrp="1"/>
          </p:cNvSpPr>
          <p:nvPr/>
        </p:nvSpPr>
        <p:spPr>
          <a:xfrm>
            <a:off x="609600" y="6419850"/>
            <a:ext cx="1524000" cy="19050"/>
          </a:xfrm>
          <a:prstGeom prst="rect">
            <a:avLst/>
          </a:prstGeom>
          <a:solidFill>
            <a:srgbClr val="DC2626"/>
          </a:solidFill>
          <a:ln w="0">
            <a:solidFill>
              <a:srgbClr val="DC2626"/>
            </a:solidFill>
            <a:prstDash val="solid"/>
          </a:ln>
        </p:spPr>
        <p:txBody>
          <a:bodyPr/>
          <a:lstStyle/>
          <a:p>
            <a:endParaRPr lang="en-US"/>
          </a:p>
        </p:txBody>
      </p:sp>
      <p:sp>
        <p:nvSpPr>
          <p:cNvPr id="10" name="Rectangle 9">
            <a:extLst>
              <a:ext uri="{FF2B5EF4-FFF2-40B4-BE49-F238E27FC236}">
                <a16:creationId xmlns:a16="http://schemas.microsoft.com/office/drawing/2014/main" id="{718E6751-F9F1-471C-8B22-1C8E35F3E275}"/>
              </a:ext>
            </a:extLst>
          </p:cNvPr>
          <p:cNvSpPr>
            <a:spLocks noGrp="1"/>
          </p:cNvSpPr>
          <p:nvPr/>
        </p:nvSpPr>
        <p:spPr>
          <a:xfrm>
            <a:off x="2266950" y="6315075"/>
            <a:ext cx="1714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050" b="0">
                <a:solidFill>
                  <a:srgbClr val="6B7280"/>
                </a:solidFill>
              </a:defRPr>
            </a:pPr>
            <a:r>
              <a:rPr sz="1050" b="0">
                <a:solidFill>
                  <a:srgbClr val="6B7280"/>
                </a:solidFill>
              </a:rPr>
              <a:t>CarSight AI</a:t>
            </a:r>
          </a:p>
        </p:txBody>
      </p:sp>
      <p:sp>
        <p:nvSpPr>
          <p:cNvPr id="11" name="Rectangle 10">
            <a:extLst>
              <a:ext uri="{FF2B5EF4-FFF2-40B4-BE49-F238E27FC236}">
                <a16:creationId xmlns:a16="http://schemas.microsoft.com/office/drawing/2014/main" id="{D25FB853-7E01-474C-9091-21259F033976}"/>
              </a:ext>
            </a:extLst>
          </p:cNvPr>
          <p:cNvSpPr>
            <a:spLocks noGrp="1"/>
          </p:cNvSpPr>
          <p:nvPr/>
        </p:nvSpPr>
        <p:spPr>
          <a:xfrm>
            <a:off x="11315700" y="6286500"/>
            <a:ext cx="3619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r">
              <a:defRPr sz="1200" b="0">
                <a:solidFill>
                  <a:srgbClr val="6B7280"/>
                </a:solidFill>
              </a:defRPr>
            </a:pPr>
            <a:r>
              <a:rPr sz="1200" b="0">
                <a:solidFill>
                  <a:srgbClr val="6B7280"/>
                </a:solidFill>
              </a:rPr>
              <a:t>1</a:t>
            </a:r>
          </a:p>
        </p:txBody>
      </p:sp>
    </p:spTree>
    <p:extLst>
      <p:ext uri="{BB962C8B-B14F-4D97-AF65-F5344CB8AC3E}">
        <p14:creationId xmlns:p14="http://schemas.microsoft.com/office/powerpoint/2010/main" val="1691629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3798282"/>
            <a:ext cx="4784052" cy="2691029"/>
          </a:xfrm>
          <a:prstGeom prst="rect">
            <a:avLst/>
          </a:prstGeom>
        </p:spPr>
      </p:pic>
      <p:sp>
        <p:nvSpPr>
          <p:cNvPr id="3" name="Shape 0"/>
          <p:cNvSpPr/>
          <p:nvPr/>
        </p:nvSpPr>
        <p:spPr>
          <a:xfrm>
            <a:off x="0" y="0"/>
            <a:ext cx="4343400" cy="6858000"/>
          </a:xfrm>
          <a:prstGeom prst="rect">
            <a:avLst/>
          </a:prstGeom>
          <a:solidFill>
            <a:srgbClr val="DC2626"/>
          </a:solidFill>
          <a:ln/>
        </p:spPr>
        <p:txBody>
          <a:bodyPr/>
          <a:lstStyle/>
          <a:p>
            <a:endParaRPr lang="en-US" sz="2400"/>
          </a:p>
        </p:txBody>
      </p:sp>
      <p:sp>
        <p:nvSpPr>
          <p:cNvPr id="4" name="Shape 1"/>
          <p:cNvSpPr/>
          <p:nvPr/>
        </p:nvSpPr>
        <p:spPr>
          <a:xfrm>
            <a:off x="4267200" y="0"/>
            <a:ext cx="76200" cy="6858000"/>
          </a:xfrm>
          <a:prstGeom prst="rect">
            <a:avLst/>
          </a:prstGeom>
          <a:solidFill>
            <a:srgbClr val="111827"/>
          </a:solidFill>
          <a:ln/>
        </p:spPr>
        <p:txBody>
          <a:bodyPr/>
          <a:lstStyle/>
          <a:p>
            <a:endParaRPr lang="en-US" sz="2400"/>
          </a:p>
        </p:txBody>
      </p:sp>
      <p:sp>
        <p:nvSpPr>
          <p:cNvPr id="5" name="Text 2"/>
          <p:cNvSpPr/>
          <p:nvPr/>
        </p:nvSpPr>
        <p:spPr>
          <a:xfrm>
            <a:off x="571501" y="895351"/>
            <a:ext cx="600998" cy="154466"/>
          </a:xfrm>
          <a:prstGeom prst="rect">
            <a:avLst/>
          </a:prstGeom>
          <a:noFill/>
          <a:ln/>
        </p:spPr>
        <p:txBody>
          <a:bodyPr wrap="none" lIns="0" tIns="0" rIns="0" bIns="0" rtlCol="0" anchor="t">
            <a:spAutoFit/>
          </a:bodyPr>
          <a:lstStyle/>
          <a:p>
            <a:pPr>
              <a:lnSpc>
                <a:spcPts val="1200"/>
              </a:lnSpc>
            </a:pPr>
            <a:r>
              <a:rPr lang="en-US" sz="1100" b="1" kern="0" spc="3" dirty="0">
                <a:solidFill>
                  <a:srgbClr val="FAFAFA">
                    <a:alpha val="80000"/>
                  </a:srgbClr>
                </a:solidFill>
              </a:rPr>
              <a:t>The Hook</a:t>
            </a:r>
            <a:endParaRPr lang="en-US" sz="1100" b="1" dirty="0"/>
          </a:p>
        </p:txBody>
      </p:sp>
      <p:sp>
        <p:nvSpPr>
          <p:cNvPr id="6" name="Text 3"/>
          <p:cNvSpPr/>
          <p:nvPr/>
        </p:nvSpPr>
        <p:spPr>
          <a:xfrm>
            <a:off x="571500" y="1551050"/>
            <a:ext cx="3492512" cy="1013034"/>
          </a:xfrm>
          <a:prstGeom prst="rect">
            <a:avLst/>
          </a:prstGeom>
          <a:noFill/>
          <a:ln/>
        </p:spPr>
        <p:txBody>
          <a:bodyPr wrap="square" lIns="0" tIns="0" rIns="0" bIns="0" rtlCol="0" anchor="t">
            <a:spAutoFit/>
          </a:bodyPr>
          <a:lstStyle/>
          <a:p>
            <a:pPr>
              <a:lnSpc>
                <a:spcPts val="4000"/>
              </a:lnSpc>
            </a:pPr>
            <a:r>
              <a:rPr lang="en-US" sz="3248" b="1" dirty="0">
                <a:solidFill>
                  <a:srgbClr val="FAFAFA"/>
                </a:solidFill>
              </a:rPr>
              <a:t>The "Hidden" Cost of a Used Car</a:t>
            </a:r>
            <a:endParaRPr lang="en-US" sz="3248" dirty="0"/>
          </a:p>
        </p:txBody>
      </p:sp>
      <p:sp>
        <p:nvSpPr>
          <p:cNvPr id="7" name="Text 4"/>
          <p:cNvSpPr/>
          <p:nvPr/>
        </p:nvSpPr>
        <p:spPr>
          <a:xfrm>
            <a:off x="4749812" y="656122"/>
            <a:ext cx="1518054" cy="153888"/>
          </a:xfrm>
          <a:prstGeom prst="rect">
            <a:avLst/>
          </a:prstGeom>
          <a:noFill/>
          <a:ln/>
        </p:spPr>
        <p:txBody>
          <a:bodyPr wrap="square" lIns="0" tIns="0" rIns="0" bIns="0" rtlCol="0" anchor="t">
            <a:spAutoFit/>
          </a:bodyPr>
          <a:lstStyle/>
          <a:p>
            <a:pPr>
              <a:lnSpc>
                <a:spcPts val="1200"/>
              </a:lnSpc>
            </a:pPr>
            <a:r>
              <a:rPr lang="en-US" sz="1100" kern="0" spc="3" dirty="0">
                <a:solidFill>
                  <a:srgbClr val="111827">
                    <a:alpha val="60000"/>
                  </a:srgbClr>
                </a:solidFill>
              </a:rPr>
              <a:t>Scenario: Online Listing</a:t>
            </a:r>
            <a:endParaRPr lang="en-US" sz="1100" dirty="0"/>
          </a:p>
        </p:txBody>
      </p:sp>
      <p:sp>
        <p:nvSpPr>
          <p:cNvPr id="8" name="Shape 5"/>
          <p:cNvSpPr/>
          <p:nvPr/>
        </p:nvSpPr>
        <p:spPr>
          <a:xfrm>
            <a:off x="4749813" y="932345"/>
            <a:ext cx="6984988" cy="1752600"/>
          </a:xfrm>
          <a:prstGeom prst="rect">
            <a:avLst/>
          </a:prstGeom>
          <a:solidFill>
            <a:srgbClr val="111827"/>
          </a:solidFill>
          <a:ln/>
        </p:spPr>
        <p:txBody>
          <a:bodyPr/>
          <a:lstStyle/>
          <a:p>
            <a:endParaRPr lang="en-US" sz="2400"/>
          </a:p>
        </p:txBody>
      </p:sp>
      <p:pic>
        <p:nvPicPr>
          <p:cNvPr id="9" name="Image 1" descr="preencoded.png"/>
          <p:cNvPicPr>
            <a:picLocks noChangeAspect="1"/>
          </p:cNvPicPr>
          <p:nvPr/>
        </p:nvPicPr>
        <p:blipFill>
          <a:blip r:embed="rId4">
            <a:alphaModFix amt="20000"/>
          </a:blip>
          <a:stretch>
            <a:fillRect/>
          </a:stretch>
        </p:blipFill>
        <p:spPr>
          <a:xfrm>
            <a:off x="4796765" y="956640"/>
            <a:ext cx="333375" cy="381000"/>
          </a:xfrm>
          <a:prstGeom prst="rect">
            <a:avLst/>
          </a:prstGeom>
        </p:spPr>
      </p:pic>
      <p:sp>
        <p:nvSpPr>
          <p:cNvPr id="10" name="Text 6"/>
          <p:cNvSpPr/>
          <p:nvPr/>
        </p:nvSpPr>
        <p:spPr>
          <a:xfrm>
            <a:off x="5016512" y="1160946"/>
            <a:ext cx="4871462" cy="353709"/>
          </a:xfrm>
          <a:prstGeom prst="rect">
            <a:avLst/>
          </a:prstGeom>
          <a:noFill/>
          <a:ln/>
        </p:spPr>
        <p:txBody>
          <a:bodyPr wrap="none" lIns="0" tIns="90763" rIns="0" bIns="0" rtlCol="0" anchor="t">
            <a:spAutoFit/>
          </a:bodyPr>
          <a:lstStyle/>
          <a:p>
            <a:pPr>
              <a:lnSpc>
                <a:spcPts val="2133"/>
              </a:lnSpc>
            </a:pPr>
            <a:r>
              <a:rPr lang="en-US" sz="1692" dirty="0">
                <a:solidFill>
                  <a:srgbClr val="FAFAFA"/>
                </a:solidFill>
              </a:rPr>
              <a:t>"Minor scratches. Slight bumper damage. Runs fine."</a:t>
            </a:r>
            <a:endParaRPr lang="en-US" sz="1692" dirty="0"/>
          </a:p>
        </p:txBody>
      </p:sp>
      <p:sp>
        <p:nvSpPr>
          <p:cNvPr id="11" name="Text 7"/>
          <p:cNvSpPr/>
          <p:nvPr/>
        </p:nvSpPr>
        <p:spPr>
          <a:xfrm>
            <a:off x="4749812" y="2875445"/>
            <a:ext cx="5778547" cy="359586"/>
          </a:xfrm>
          <a:prstGeom prst="rect">
            <a:avLst/>
          </a:prstGeom>
          <a:noFill/>
          <a:ln/>
        </p:spPr>
        <p:txBody>
          <a:bodyPr wrap="none" lIns="226737" tIns="0" rIns="0" bIns="0" rtlCol="0" anchor="t">
            <a:spAutoFit/>
          </a:bodyPr>
          <a:lstStyle/>
          <a:p>
            <a:pPr>
              <a:lnSpc>
                <a:spcPts val="2933"/>
              </a:lnSpc>
            </a:pPr>
            <a:r>
              <a:rPr lang="en-US" sz="2272" dirty="0">
                <a:solidFill>
                  <a:srgbClr val="111827"/>
                </a:solidFill>
              </a:rPr>
              <a:t>What does "minor" actually mean in dollars?</a:t>
            </a:r>
            <a:endParaRPr lang="en-US" sz="2272" dirty="0"/>
          </a:p>
        </p:txBody>
      </p:sp>
      <p:sp>
        <p:nvSpPr>
          <p:cNvPr id="12" name="Text 8"/>
          <p:cNvSpPr/>
          <p:nvPr/>
        </p:nvSpPr>
        <p:spPr>
          <a:xfrm>
            <a:off x="4749812" y="3387415"/>
            <a:ext cx="4637552" cy="232500"/>
          </a:xfrm>
          <a:prstGeom prst="rect">
            <a:avLst/>
          </a:prstGeom>
          <a:noFill/>
          <a:ln/>
        </p:spPr>
        <p:txBody>
          <a:bodyPr wrap="none" lIns="0" tIns="0" rIns="0" bIns="0" rtlCol="0" anchor="t">
            <a:spAutoFit/>
          </a:bodyPr>
          <a:lstStyle/>
          <a:p>
            <a:pPr>
              <a:lnSpc>
                <a:spcPts val="1867"/>
              </a:lnSpc>
            </a:pPr>
            <a:r>
              <a:rPr lang="en-US" sz="1400" dirty="0">
                <a:solidFill>
                  <a:srgbClr val="374151"/>
                </a:solidFill>
              </a:rPr>
              <a:t>Traditional tools look at mileage. They don't look at the story.</a:t>
            </a:r>
            <a:endParaRPr lang="en-US" sz="1400" dirty="0"/>
          </a:p>
        </p:txBody>
      </p:sp>
      <p:pic>
        <p:nvPicPr>
          <p:cNvPr id="2050" name="Picture 2" descr="Property Damage Facts - Injury Smart Law">
            <a:extLst>
              <a:ext uri="{FF2B5EF4-FFF2-40B4-BE49-F238E27FC236}">
                <a16:creationId xmlns:a16="http://schemas.microsoft.com/office/drawing/2014/main" id="{C45B07E5-368D-8D65-C421-C1A1A79487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2748" y="3756422"/>
            <a:ext cx="3588040" cy="269102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voiding the Used Car Salesman Trap">
            <a:extLst>
              <a:ext uri="{FF2B5EF4-FFF2-40B4-BE49-F238E27FC236}">
                <a16:creationId xmlns:a16="http://schemas.microsoft.com/office/drawing/2014/main" id="{06E1F364-78FD-478E-66FF-9C622F27C61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8402" t="7791" r="2958"/>
          <a:stretch>
            <a:fillRect/>
          </a:stretch>
        </p:blipFill>
        <p:spPr bwMode="auto">
          <a:xfrm>
            <a:off x="5710991" y="4318039"/>
            <a:ext cx="1616173" cy="2042589"/>
          </a:xfrm>
          <a:prstGeom prst="rect">
            <a:avLst/>
          </a:prstGeom>
          <a:noFill/>
          <a:extLst>
            <a:ext uri="{909E8E84-426E-40DD-AFC4-6F175D3DCCD1}">
              <a14:hiddenFill xmlns:a14="http://schemas.microsoft.com/office/drawing/2010/main">
                <a:solidFill>
                  <a:srgbClr val="FFFFFF"/>
                </a:solidFill>
              </a14:hiddenFill>
            </a:ext>
          </a:extLst>
        </p:spPr>
      </p:pic>
      <p:sp>
        <p:nvSpPr>
          <p:cNvPr id="13" name="Speech Bubble: Oval 12">
            <a:extLst>
              <a:ext uri="{FF2B5EF4-FFF2-40B4-BE49-F238E27FC236}">
                <a16:creationId xmlns:a16="http://schemas.microsoft.com/office/drawing/2014/main" id="{5908D7CB-5699-A9B7-ADBF-4F92672D1E18}"/>
              </a:ext>
            </a:extLst>
          </p:cNvPr>
          <p:cNvSpPr/>
          <p:nvPr/>
        </p:nvSpPr>
        <p:spPr>
          <a:xfrm>
            <a:off x="7487066" y="3798282"/>
            <a:ext cx="2575709" cy="1204572"/>
          </a:xfrm>
          <a:prstGeom prst="wedgeEllipseCallout">
            <a:avLst>
              <a:gd name="adj1" fmla="val -54448"/>
              <a:gd name="adj2" fmla="val 42268"/>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4" name="TextBox 13">
            <a:extLst>
              <a:ext uri="{FF2B5EF4-FFF2-40B4-BE49-F238E27FC236}">
                <a16:creationId xmlns:a16="http://schemas.microsoft.com/office/drawing/2014/main" id="{C67D9125-95A2-F851-9D94-1F6454257F47}"/>
              </a:ext>
            </a:extLst>
          </p:cNvPr>
          <p:cNvSpPr txBox="1"/>
          <p:nvPr/>
        </p:nvSpPr>
        <p:spPr>
          <a:xfrm>
            <a:off x="7743381" y="4092790"/>
            <a:ext cx="2135193" cy="584775"/>
          </a:xfrm>
          <a:prstGeom prst="rect">
            <a:avLst/>
          </a:prstGeom>
          <a:noFill/>
        </p:spPr>
        <p:txBody>
          <a:bodyPr wrap="square" rtlCol="0">
            <a:spAutoFit/>
          </a:bodyPr>
          <a:lstStyle/>
          <a:p>
            <a:r>
              <a:rPr lang="en-US" sz="1600" dirty="0"/>
              <a:t>Nothing much! Just a minor bump, that’s it</a:t>
            </a:r>
          </a:p>
        </p:txBody>
      </p:sp>
      <p:pic>
        <p:nvPicPr>
          <p:cNvPr id="15" name="Image 1" descr="preencoded.png">
            <a:extLst>
              <a:ext uri="{FF2B5EF4-FFF2-40B4-BE49-F238E27FC236}">
                <a16:creationId xmlns:a16="http://schemas.microsoft.com/office/drawing/2014/main" id="{AD9932F2-F24B-3555-B36E-0EB98C96EA99}"/>
              </a:ext>
            </a:extLst>
          </p:cNvPr>
          <p:cNvPicPr>
            <a:picLocks noChangeAspect="1"/>
          </p:cNvPicPr>
          <p:nvPr/>
        </p:nvPicPr>
        <p:blipFill>
          <a:blip r:embed="rId4">
            <a:alphaModFix amt="20000"/>
          </a:blip>
          <a:stretch>
            <a:fillRect/>
          </a:stretch>
        </p:blipFill>
        <p:spPr>
          <a:xfrm rot="10800000">
            <a:off x="9873685" y="1046645"/>
            <a:ext cx="333375" cy="381000"/>
          </a:xfrm>
          <a:prstGeom prst="rect">
            <a:avLst/>
          </a:prstGeom>
        </p:spPr>
      </p:pic>
      <p:sp>
        <p:nvSpPr>
          <p:cNvPr id="19" name="Arrow: Right 18">
            <a:extLst>
              <a:ext uri="{FF2B5EF4-FFF2-40B4-BE49-F238E27FC236}">
                <a16:creationId xmlns:a16="http://schemas.microsoft.com/office/drawing/2014/main" id="{BA91E944-38EF-BA5B-3C6D-45AEF2B4611B}"/>
              </a:ext>
            </a:extLst>
          </p:cNvPr>
          <p:cNvSpPr/>
          <p:nvPr/>
        </p:nvSpPr>
        <p:spPr>
          <a:xfrm>
            <a:off x="4502730" y="5145658"/>
            <a:ext cx="1003300" cy="3873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4FC8CB5-2881-4220-A73D-BE9464B3FDA5}"/>
              </a:ext>
            </a:extLst>
          </p:cNvPr>
          <p:cNvSpPr>
            <a:spLocks noGrp="1"/>
          </p:cNvSpPr>
          <p:nvPr/>
        </p:nvSpPr>
        <p:spPr>
          <a:xfrm>
            <a:off x="609600" y="457200"/>
            <a:ext cx="1809750" cy="323850"/>
          </a:xfrm>
          <a:prstGeom prst="roundRect">
            <a:avLst>
              <a:gd name="adj" fmla="val 16667"/>
            </a:avLst>
          </a:prstGeom>
          <a:solidFill>
            <a:srgbClr val="DC2626"/>
          </a:solidFill>
          <a:ln w="0">
            <a:solidFill>
              <a:srgbClr val="DC2626"/>
            </a:solidFill>
            <a:prstDash val="solid"/>
          </a:ln>
        </p:spPr>
        <p:txBody>
          <a:bodyPr lIns="95250" tIns="28575" rIns="95250" bIns="28575" anchor="ctr"/>
          <a:lstStyle/>
          <a:p>
            <a:pPr algn="ctr">
              <a:defRPr sz="1050" b="1">
                <a:solidFill>
                  <a:srgbClr val="FAFAFA"/>
                </a:solidFill>
              </a:defRPr>
            </a:pPr>
            <a:r>
              <a:rPr sz="1050" b="1">
                <a:solidFill>
                  <a:srgbClr val="FAFAFA"/>
                </a:solidFill>
              </a:rPr>
              <a:t>THE BUYER MOMENT</a:t>
            </a:r>
          </a:p>
        </p:txBody>
      </p:sp>
      <p:sp>
        <p:nvSpPr>
          <p:cNvPr id="3" name="Rectangle 2">
            <a:extLst>
              <a:ext uri="{FF2B5EF4-FFF2-40B4-BE49-F238E27FC236}">
                <a16:creationId xmlns:a16="http://schemas.microsoft.com/office/drawing/2014/main" id="{7C11B7D2-5E4F-4C1C-88A7-5569EDB59736}"/>
              </a:ext>
            </a:extLst>
          </p:cNvPr>
          <p:cNvSpPr>
            <a:spLocks noGrp="1"/>
          </p:cNvSpPr>
          <p:nvPr/>
        </p:nvSpPr>
        <p:spPr>
          <a:xfrm>
            <a:off x="609600" y="914400"/>
            <a:ext cx="7429500" cy="8191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3450" b="1">
                <a:solidFill>
                  <a:srgbClr val="FAFAFA"/>
                </a:solidFill>
              </a:defRPr>
            </a:pPr>
            <a:r>
              <a:rPr sz="3450" b="1">
                <a:solidFill>
                  <a:srgbClr val="FAFAFA"/>
                </a:solidFill>
              </a:rPr>
              <a:t>The scary part is not the dent.</a:t>
            </a:r>
          </a:p>
        </p:txBody>
      </p:sp>
      <p:sp>
        <p:nvSpPr>
          <p:cNvPr id="4" name="Rectangle 3">
            <a:extLst>
              <a:ext uri="{FF2B5EF4-FFF2-40B4-BE49-F238E27FC236}">
                <a16:creationId xmlns:a16="http://schemas.microsoft.com/office/drawing/2014/main" id="{2900CC95-EC13-4D96-A03F-F0A7D2A2A9CA}"/>
              </a:ext>
            </a:extLst>
          </p:cNvPr>
          <p:cNvSpPr>
            <a:spLocks noGrp="1"/>
          </p:cNvSpPr>
          <p:nvPr/>
        </p:nvSpPr>
        <p:spPr>
          <a:xfrm>
            <a:off x="628650" y="1752600"/>
            <a:ext cx="6858000" cy="4762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650" b="0">
                <a:solidFill>
                  <a:srgbClr val="D1D5DB"/>
                </a:solidFill>
              </a:defRPr>
            </a:pPr>
            <a:r>
              <a:rPr sz="1650" b="0">
                <a:solidFill>
                  <a:srgbClr val="D1D5DB"/>
                </a:solidFill>
              </a:rPr>
              <a:t>It is not knowing what that dent should do to the price.</a:t>
            </a:r>
          </a:p>
        </p:txBody>
      </p:sp>
      <p:sp>
        <p:nvSpPr>
          <p:cNvPr id="5" name="Rectangle: Rounded Corners 4">
            <a:extLst>
              <a:ext uri="{FF2B5EF4-FFF2-40B4-BE49-F238E27FC236}">
                <a16:creationId xmlns:a16="http://schemas.microsoft.com/office/drawing/2014/main" id="{E88C9C50-CC73-4974-B4A9-D186062C6FEE}"/>
              </a:ext>
            </a:extLst>
          </p:cNvPr>
          <p:cNvSpPr>
            <a:spLocks noGrp="1"/>
          </p:cNvSpPr>
          <p:nvPr/>
        </p:nvSpPr>
        <p:spPr>
          <a:xfrm>
            <a:off x="876300" y="2724150"/>
            <a:ext cx="4572000" cy="2305050"/>
          </a:xfrm>
          <a:prstGeom prst="roundRect">
            <a:avLst>
              <a:gd name="adj" fmla="val 12000"/>
            </a:avLst>
          </a:prstGeom>
          <a:solidFill>
            <a:srgbClr val="F8FAFC"/>
          </a:solidFill>
          <a:ln w="9525">
            <a:solidFill>
              <a:srgbClr val="CBD5E1"/>
            </a:solidFill>
            <a:prstDash val="solid"/>
          </a:ln>
        </p:spPr>
        <p:txBody>
          <a:bodyPr/>
          <a:lstStyle/>
          <a:p>
            <a:endParaRPr lang="en-US"/>
          </a:p>
        </p:txBody>
      </p:sp>
      <p:sp>
        <p:nvSpPr>
          <p:cNvPr id="6" name="Rectangle 5">
            <a:extLst>
              <a:ext uri="{FF2B5EF4-FFF2-40B4-BE49-F238E27FC236}">
                <a16:creationId xmlns:a16="http://schemas.microsoft.com/office/drawing/2014/main" id="{59527A30-A4B7-415E-87D1-5288E7729C52}"/>
              </a:ext>
            </a:extLst>
          </p:cNvPr>
          <p:cNvSpPr>
            <a:spLocks noGrp="1"/>
          </p:cNvSpPr>
          <p:nvPr/>
        </p:nvSpPr>
        <p:spPr>
          <a:xfrm>
            <a:off x="876300" y="2724150"/>
            <a:ext cx="4572000" cy="457200"/>
          </a:xfrm>
          <a:prstGeom prst="rect">
            <a:avLst/>
          </a:prstGeom>
          <a:solidFill>
            <a:srgbClr val="DC2626"/>
          </a:solidFill>
          <a:ln w="0">
            <a:solidFill>
              <a:srgbClr val="DC2626"/>
            </a:solidFill>
            <a:prstDash val="solid"/>
          </a:ln>
        </p:spPr>
        <p:txBody>
          <a:bodyPr/>
          <a:lstStyle/>
          <a:p>
            <a:endParaRPr lang="en-US"/>
          </a:p>
        </p:txBody>
      </p:sp>
      <p:sp>
        <p:nvSpPr>
          <p:cNvPr id="7" name="Rectangle 6">
            <a:extLst>
              <a:ext uri="{FF2B5EF4-FFF2-40B4-BE49-F238E27FC236}">
                <a16:creationId xmlns:a16="http://schemas.microsoft.com/office/drawing/2014/main" id="{6465B07F-DD80-4716-BD6A-8957AD138CAC}"/>
              </a:ext>
            </a:extLst>
          </p:cNvPr>
          <p:cNvSpPr>
            <a:spLocks noGrp="1"/>
          </p:cNvSpPr>
          <p:nvPr/>
        </p:nvSpPr>
        <p:spPr>
          <a:xfrm>
            <a:off x="1104900" y="2838450"/>
            <a:ext cx="2381250" cy="2286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1">
                <a:solidFill>
                  <a:srgbClr val="FAFAFA"/>
                </a:solidFill>
              </a:defRPr>
            </a:pPr>
            <a:r>
              <a:rPr sz="1350" b="1">
                <a:solidFill>
                  <a:srgbClr val="FAFAFA"/>
                </a:solidFill>
              </a:rPr>
              <a:t>Seller description</a:t>
            </a:r>
          </a:p>
        </p:txBody>
      </p:sp>
      <p:sp>
        <p:nvSpPr>
          <p:cNvPr id="8" name="Rectangle 7">
            <a:extLst>
              <a:ext uri="{FF2B5EF4-FFF2-40B4-BE49-F238E27FC236}">
                <a16:creationId xmlns:a16="http://schemas.microsoft.com/office/drawing/2014/main" id="{52BD53A2-EA4E-4248-A219-908B90E2BADD}"/>
              </a:ext>
            </a:extLst>
          </p:cNvPr>
          <p:cNvSpPr>
            <a:spLocks noGrp="1"/>
          </p:cNvSpPr>
          <p:nvPr/>
        </p:nvSpPr>
        <p:spPr>
          <a:xfrm>
            <a:off x="1143000" y="3486150"/>
            <a:ext cx="4000500" cy="742950"/>
          </a:xfrm>
          <a:prstGeom prst="rect">
            <a:avLst/>
          </a:prstGeom>
          <a:solidFill>
            <a:srgbClr val="000000">
              <a:alpha val="0"/>
            </a:srgbClr>
          </a:solidFill>
          <a:ln w="0">
            <a:solidFill>
              <a:srgbClr val="000000">
                <a:alpha val="0"/>
              </a:srgbClr>
            </a:solidFill>
            <a:prstDash val="solid"/>
          </a:ln>
        </p:spPr>
        <p:txBody>
          <a:bodyPr lIns="0" tIns="0" rIns="0" bIns="0" anchor="t">
            <a:normAutofit fontScale="97618" lnSpcReduction="10000"/>
          </a:bodyPr>
          <a:lstStyle/>
          <a:p>
            <a:pPr algn="l">
              <a:defRPr sz="1875" b="1">
                <a:solidFill>
                  <a:srgbClr val="111827"/>
                </a:solidFill>
              </a:defRPr>
            </a:pPr>
            <a:r>
              <a:rPr sz="1875" b="1">
                <a:solidFill>
                  <a:srgbClr val="111827"/>
                </a:solidFill>
              </a:rPr>
              <a:t>"Small dent on rear bumper. Engine makes a light knocking sound. Runs fine."</a:t>
            </a:r>
          </a:p>
        </p:txBody>
      </p:sp>
      <p:sp>
        <p:nvSpPr>
          <p:cNvPr id="9" name="Rectangle 8">
            <a:extLst>
              <a:ext uri="{FF2B5EF4-FFF2-40B4-BE49-F238E27FC236}">
                <a16:creationId xmlns:a16="http://schemas.microsoft.com/office/drawing/2014/main" id="{7B37C969-6AB4-477A-9F18-93746AB18879}"/>
              </a:ext>
            </a:extLst>
          </p:cNvPr>
          <p:cNvSpPr>
            <a:spLocks noGrp="1"/>
          </p:cNvSpPr>
          <p:nvPr/>
        </p:nvSpPr>
        <p:spPr>
          <a:xfrm>
            <a:off x="1143000" y="4438650"/>
            <a:ext cx="3714750" cy="3429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00" b="1">
                <a:solidFill>
                  <a:srgbClr val="DC2626"/>
                </a:solidFill>
              </a:defRPr>
            </a:pPr>
            <a:r>
              <a:rPr sz="1500" b="1">
                <a:solidFill>
                  <a:srgbClr val="DC2626"/>
                </a:solidFill>
              </a:rPr>
              <a:t>What does that mean in dollars?</a:t>
            </a:r>
          </a:p>
        </p:txBody>
      </p:sp>
      <p:sp>
        <p:nvSpPr>
          <p:cNvPr id="10" name="Rectangle 9">
            <a:extLst>
              <a:ext uri="{FF2B5EF4-FFF2-40B4-BE49-F238E27FC236}">
                <a16:creationId xmlns:a16="http://schemas.microsoft.com/office/drawing/2014/main" id="{41E458CF-EB6F-4EC1-9F07-F810DA72B9DC}"/>
              </a:ext>
            </a:extLst>
          </p:cNvPr>
          <p:cNvSpPr>
            <a:spLocks noGrp="1"/>
          </p:cNvSpPr>
          <p:nvPr/>
        </p:nvSpPr>
        <p:spPr>
          <a:xfrm>
            <a:off x="6400800" y="2819400"/>
            <a:ext cx="4286250" cy="933450"/>
          </a:xfrm>
          <a:prstGeom prst="rect">
            <a:avLst/>
          </a:prstGeom>
          <a:solidFill>
            <a:srgbClr val="000000">
              <a:alpha val="0"/>
            </a:srgbClr>
          </a:solidFill>
          <a:ln w="0">
            <a:solidFill>
              <a:srgbClr val="000000">
                <a:alpha val="0"/>
              </a:srgbClr>
            </a:solidFill>
            <a:prstDash val="solid"/>
          </a:ln>
        </p:spPr>
        <p:txBody>
          <a:bodyPr lIns="0" tIns="0" rIns="0" bIns="0" anchor="t">
            <a:normAutofit fontScale="93824" lnSpcReduction="10000"/>
          </a:bodyPr>
          <a:lstStyle/>
          <a:p>
            <a:pPr algn="l">
              <a:defRPr sz="2325" b="1">
                <a:solidFill>
                  <a:srgbClr val="FAFAFA"/>
                </a:solidFill>
              </a:defRPr>
            </a:pPr>
            <a:r>
              <a:rPr sz="2325" b="1">
                <a:solidFill>
                  <a:srgbClr val="FAFAFA"/>
                </a:solidFill>
              </a:rPr>
              <a:t>The same words can feel harmless to one buyer and like a warning sign to another.</a:t>
            </a:r>
          </a:p>
        </p:txBody>
      </p:sp>
      <p:sp>
        <p:nvSpPr>
          <p:cNvPr id="11" name="Rectangle: Rounded Corners 10">
            <a:extLst>
              <a:ext uri="{FF2B5EF4-FFF2-40B4-BE49-F238E27FC236}">
                <a16:creationId xmlns:a16="http://schemas.microsoft.com/office/drawing/2014/main" id="{1993AB92-9EA0-4017-A9D8-93A04F5B1BCF}"/>
              </a:ext>
            </a:extLst>
          </p:cNvPr>
          <p:cNvSpPr>
            <a:spLocks noGrp="1"/>
          </p:cNvSpPr>
          <p:nvPr/>
        </p:nvSpPr>
        <p:spPr>
          <a:xfrm>
            <a:off x="6400800" y="4171950"/>
            <a:ext cx="1619250" cy="10668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2" name="Rectangle 11">
            <a:extLst>
              <a:ext uri="{FF2B5EF4-FFF2-40B4-BE49-F238E27FC236}">
                <a16:creationId xmlns:a16="http://schemas.microsoft.com/office/drawing/2014/main" id="{91E80D20-CB45-48B6-B689-2664C1AB3C72}"/>
              </a:ext>
            </a:extLst>
          </p:cNvPr>
          <p:cNvSpPr>
            <a:spLocks noGrp="1"/>
          </p:cNvSpPr>
          <p:nvPr/>
        </p:nvSpPr>
        <p:spPr>
          <a:xfrm>
            <a:off x="6400800" y="4171950"/>
            <a:ext cx="57150" cy="1066800"/>
          </a:xfrm>
          <a:prstGeom prst="rect">
            <a:avLst/>
          </a:prstGeom>
          <a:solidFill>
            <a:srgbClr val="DC2626"/>
          </a:solidFill>
          <a:ln w="0">
            <a:solidFill>
              <a:srgbClr val="DC2626"/>
            </a:solidFill>
            <a:prstDash val="solid"/>
          </a:ln>
        </p:spPr>
        <p:txBody>
          <a:bodyPr/>
          <a:lstStyle/>
          <a:p>
            <a:endParaRPr lang="en-US"/>
          </a:p>
        </p:txBody>
      </p:sp>
      <p:sp>
        <p:nvSpPr>
          <p:cNvPr id="13" name="Rectangle 12">
            <a:extLst>
              <a:ext uri="{FF2B5EF4-FFF2-40B4-BE49-F238E27FC236}">
                <a16:creationId xmlns:a16="http://schemas.microsoft.com/office/drawing/2014/main" id="{55EFE696-8A24-4B11-B68A-1FEFD0FDFF3F}"/>
              </a:ext>
            </a:extLst>
          </p:cNvPr>
          <p:cNvSpPr>
            <a:spLocks noGrp="1"/>
          </p:cNvSpPr>
          <p:nvPr/>
        </p:nvSpPr>
        <p:spPr>
          <a:xfrm>
            <a:off x="6629400" y="4381500"/>
            <a:ext cx="1200150" cy="285750"/>
          </a:xfrm>
          <a:prstGeom prst="rect">
            <a:avLst/>
          </a:prstGeom>
          <a:solidFill>
            <a:srgbClr val="000000">
              <a:alpha val="0"/>
            </a:srgbClr>
          </a:solidFill>
          <a:ln w="0">
            <a:solidFill>
              <a:srgbClr val="000000">
                <a:alpha val="0"/>
              </a:srgbClr>
            </a:solidFill>
            <a:prstDash val="solid"/>
          </a:ln>
        </p:spPr>
        <p:txBody>
          <a:bodyPr lIns="0" tIns="0" rIns="0" bIns="0" anchor="t">
            <a:normAutofit fontScale="92500"/>
          </a:bodyPr>
          <a:lstStyle/>
          <a:p>
            <a:pPr algn="l">
              <a:defRPr sz="1575" b="1">
                <a:solidFill>
                  <a:srgbClr val="FAFAFA"/>
                </a:solidFill>
              </a:defRPr>
            </a:pPr>
            <a:r>
              <a:rPr sz="1575" b="1" dirty="0">
                <a:solidFill>
                  <a:srgbClr val="FAFAFA"/>
                </a:solidFill>
              </a:rPr>
              <a:t>Can I trust it?</a:t>
            </a:r>
          </a:p>
        </p:txBody>
      </p:sp>
      <p:sp>
        <p:nvSpPr>
          <p:cNvPr id="14" name="Rectangle 13">
            <a:extLst>
              <a:ext uri="{FF2B5EF4-FFF2-40B4-BE49-F238E27FC236}">
                <a16:creationId xmlns:a16="http://schemas.microsoft.com/office/drawing/2014/main" id="{DE5E0B3C-D1C5-4078-9AC7-38099E0C2A33}"/>
              </a:ext>
            </a:extLst>
          </p:cNvPr>
          <p:cNvSpPr>
            <a:spLocks noGrp="1"/>
          </p:cNvSpPr>
          <p:nvPr/>
        </p:nvSpPr>
        <p:spPr>
          <a:xfrm>
            <a:off x="6611592" y="4838700"/>
            <a:ext cx="1200150" cy="323850"/>
          </a:xfrm>
          <a:prstGeom prst="rect">
            <a:avLst/>
          </a:prstGeom>
          <a:solidFill>
            <a:srgbClr val="000000">
              <a:alpha val="0"/>
            </a:srgbClr>
          </a:solidFill>
          <a:ln w="0">
            <a:solidFill>
              <a:srgbClr val="000000">
                <a:alpha val="0"/>
              </a:srgbClr>
            </a:solidFill>
            <a:prstDash val="solid"/>
          </a:ln>
        </p:spPr>
        <p:txBody>
          <a:bodyPr lIns="0" tIns="0" rIns="0" bIns="0" anchor="t">
            <a:normAutofit fontScale="90908"/>
          </a:bodyPr>
          <a:lstStyle/>
          <a:p>
            <a:pPr algn="l">
              <a:defRPr sz="1350" b="0">
                <a:solidFill>
                  <a:srgbClr val="D1D5DB"/>
                </a:solidFill>
              </a:defRPr>
            </a:pPr>
            <a:r>
              <a:rPr sz="900" b="0" dirty="0">
                <a:solidFill>
                  <a:srgbClr val="D1D5DB"/>
                </a:solidFill>
              </a:rPr>
              <a:t>The listing sounds casual, but the risk is real.</a:t>
            </a:r>
          </a:p>
        </p:txBody>
      </p:sp>
      <p:sp>
        <p:nvSpPr>
          <p:cNvPr id="15" name="Rectangle: Rounded Corners 14">
            <a:extLst>
              <a:ext uri="{FF2B5EF4-FFF2-40B4-BE49-F238E27FC236}">
                <a16:creationId xmlns:a16="http://schemas.microsoft.com/office/drawing/2014/main" id="{D439B42C-1D63-441A-B6F2-48D12A8C2188}"/>
              </a:ext>
            </a:extLst>
          </p:cNvPr>
          <p:cNvSpPr>
            <a:spLocks noGrp="1"/>
          </p:cNvSpPr>
          <p:nvPr/>
        </p:nvSpPr>
        <p:spPr>
          <a:xfrm>
            <a:off x="8248650" y="4171950"/>
            <a:ext cx="1619250" cy="10668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6" name="Rectangle 15">
            <a:extLst>
              <a:ext uri="{FF2B5EF4-FFF2-40B4-BE49-F238E27FC236}">
                <a16:creationId xmlns:a16="http://schemas.microsoft.com/office/drawing/2014/main" id="{91A8651A-0CE9-4174-9D83-475032D68A10}"/>
              </a:ext>
            </a:extLst>
          </p:cNvPr>
          <p:cNvSpPr>
            <a:spLocks noGrp="1"/>
          </p:cNvSpPr>
          <p:nvPr/>
        </p:nvSpPr>
        <p:spPr>
          <a:xfrm>
            <a:off x="8248650" y="4171950"/>
            <a:ext cx="57150" cy="1066800"/>
          </a:xfrm>
          <a:prstGeom prst="rect">
            <a:avLst/>
          </a:prstGeom>
          <a:solidFill>
            <a:srgbClr val="DC2626"/>
          </a:solidFill>
          <a:ln w="0">
            <a:solidFill>
              <a:srgbClr val="DC2626"/>
            </a:solidFill>
            <a:prstDash val="solid"/>
          </a:ln>
        </p:spPr>
        <p:txBody>
          <a:bodyPr/>
          <a:lstStyle/>
          <a:p>
            <a:endParaRPr lang="en-US"/>
          </a:p>
        </p:txBody>
      </p:sp>
      <p:sp>
        <p:nvSpPr>
          <p:cNvPr id="17" name="Rectangle 16">
            <a:extLst>
              <a:ext uri="{FF2B5EF4-FFF2-40B4-BE49-F238E27FC236}">
                <a16:creationId xmlns:a16="http://schemas.microsoft.com/office/drawing/2014/main" id="{F46368A2-78F7-414D-B217-744CC299203E}"/>
              </a:ext>
            </a:extLst>
          </p:cNvPr>
          <p:cNvSpPr>
            <a:spLocks noGrp="1"/>
          </p:cNvSpPr>
          <p:nvPr/>
        </p:nvSpPr>
        <p:spPr>
          <a:xfrm>
            <a:off x="8477250" y="4381500"/>
            <a:ext cx="1200150" cy="285750"/>
          </a:xfrm>
          <a:prstGeom prst="rect">
            <a:avLst/>
          </a:prstGeom>
          <a:solidFill>
            <a:srgbClr val="000000">
              <a:alpha val="0"/>
            </a:srgbClr>
          </a:solidFill>
          <a:ln w="0">
            <a:solidFill>
              <a:srgbClr val="000000">
                <a:alpha val="0"/>
              </a:srgbClr>
            </a:solidFill>
            <a:prstDash val="solid"/>
          </a:ln>
        </p:spPr>
        <p:txBody>
          <a:bodyPr lIns="0" tIns="0" rIns="0" bIns="0" anchor="t">
            <a:normAutofit fontScale="67531" lnSpcReduction="20000"/>
          </a:bodyPr>
          <a:lstStyle/>
          <a:p>
            <a:pPr algn="l">
              <a:defRPr sz="1575" b="1">
                <a:solidFill>
                  <a:srgbClr val="FAFAFA"/>
                </a:solidFill>
              </a:defRPr>
            </a:pPr>
            <a:r>
              <a:rPr sz="1575" b="1">
                <a:solidFill>
                  <a:srgbClr val="FAFAFA"/>
                </a:solidFill>
              </a:rPr>
              <a:t>Should I negotiate?</a:t>
            </a:r>
          </a:p>
        </p:txBody>
      </p:sp>
      <p:sp>
        <p:nvSpPr>
          <p:cNvPr id="18" name="Rectangle 17">
            <a:extLst>
              <a:ext uri="{FF2B5EF4-FFF2-40B4-BE49-F238E27FC236}">
                <a16:creationId xmlns:a16="http://schemas.microsoft.com/office/drawing/2014/main" id="{97BD6F1F-8D71-4A08-B88A-5015AFE3B8F8}"/>
              </a:ext>
            </a:extLst>
          </p:cNvPr>
          <p:cNvSpPr>
            <a:spLocks noGrp="1"/>
          </p:cNvSpPr>
          <p:nvPr/>
        </p:nvSpPr>
        <p:spPr>
          <a:xfrm>
            <a:off x="8477250" y="4762500"/>
            <a:ext cx="1200150" cy="323850"/>
          </a:xfrm>
          <a:prstGeom prst="rect">
            <a:avLst/>
          </a:prstGeom>
          <a:solidFill>
            <a:srgbClr val="000000">
              <a:alpha val="0"/>
            </a:srgbClr>
          </a:solidFill>
          <a:ln w="0">
            <a:solidFill>
              <a:srgbClr val="000000">
                <a:alpha val="0"/>
              </a:srgbClr>
            </a:solidFill>
            <a:prstDash val="solid"/>
          </a:ln>
        </p:spPr>
        <p:txBody>
          <a:bodyPr lIns="0" tIns="0" rIns="0" bIns="0" anchor="t">
            <a:normAutofit fontScale="92369" lnSpcReduction="20000"/>
          </a:bodyPr>
          <a:lstStyle/>
          <a:p>
            <a:pPr algn="l">
              <a:defRPr sz="1350" b="0">
                <a:solidFill>
                  <a:srgbClr val="D1D5DB"/>
                </a:solidFill>
              </a:defRPr>
            </a:pPr>
            <a:r>
              <a:rPr sz="1350" b="0">
                <a:solidFill>
                  <a:srgbClr val="D1D5DB"/>
                </a:solidFill>
              </a:rPr>
              <a:t>The buyer needs a fair starting point.</a:t>
            </a:r>
          </a:p>
        </p:txBody>
      </p:sp>
      <p:sp>
        <p:nvSpPr>
          <p:cNvPr id="19" name="Rectangle: Rounded Corners 18">
            <a:extLst>
              <a:ext uri="{FF2B5EF4-FFF2-40B4-BE49-F238E27FC236}">
                <a16:creationId xmlns:a16="http://schemas.microsoft.com/office/drawing/2014/main" id="{9256FFFB-A6F6-4A8E-AB46-876B2ECD2FA0}"/>
              </a:ext>
            </a:extLst>
          </p:cNvPr>
          <p:cNvSpPr>
            <a:spLocks noGrp="1"/>
          </p:cNvSpPr>
          <p:nvPr/>
        </p:nvSpPr>
        <p:spPr>
          <a:xfrm>
            <a:off x="10096500" y="4171950"/>
            <a:ext cx="1619250" cy="10668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20" name="Rectangle 19">
            <a:extLst>
              <a:ext uri="{FF2B5EF4-FFF2-40B4-BE49-F238E27FC236}">
                <a16:creationId xmlns:a16="http://schemas.microsoft.com/office/drawing/2014/main" id="{0EC6EA32-7C1C-4B0A-801D-6990F57443AD}"/>
              </a:ext>
            </a:extLst>
          </p:cNvPr>
          <p:cNvSpPr>
            <a:spLocks noGrp="1"/>
          </p:cNvSpPr>
          <p:nvPr/>
        </p:nvSpPr>
        <p:spPr>
          <a:xfrm>
            <a:off x="10096500" y="4171950"/>
            <a:ext cx="57150" cy="1066800"/>
          </a:xfrm>
          <a:prstGeom prst="rect">
            <a:avLst/>
          </a:prstGeom>
          <a:solidFill>
            <a:srgbClr val="DC2626"/>
          </a:solidFill>
          <a:ln w="0">
            <a:solidFill>
              <a:srgbClr val="DC2626"/>
            </a:solidFill>
            <a:prstDash val="solid"/>
          </a:ln>
        </p:spPr>
        <p:txBody>
          <a:bodyPr/>
          <a:lstStyle/>
          <a:p>
            <a:endParaRPr lang="en-US"/>
          </a:p>
        </p:txBody>
      </p:sp>
      <p:sp>
        <p:nvSpPr>
          <p:cNvPr id="21" name="Rectangle 20">
            <a:extLst>
              <a:ext uri="{FF2B5EF4-FFF2-40B4-BE49-F238E27FC236}">
                <a16:creationId xmlns:a16="http://schemas.microsoft.com/office/drawing/2014/main" id="{0E304077-45DB-4209-8563-43982FEE175F}"/>
              </a:ext>
            </a:extLst>
          </p:cNvPr>
          <p:cNvSpPr>
            <a:spLocks noGrp="1"/>
          </p:cNvSpPr>
          <p:nvPr/>
        </p:nvSpPr>
        <p:spPr>
          <a:xfrm>
            <a:off x="10325100" y="4381500"/>
            <a:ext cx="1200150" cy="285750"/>
          </a:xfrm>
          <a:prstGeom prst="rect">
            <a:avLst/>
          </a:prstGeom>
          <a:solidFill>
            <a:srgbClr val="000000">
              <a:alpha val="0"/>
            </a:srgbClr>
          </a:solidFill>
          <a:ln w="0">
            <a:solidFill>
              <a:srgbClr val="000000">
                <a:alpha val="0"/>
              </a:srgbClr>
            </a:solidFill>
            <a:prstDash val="solid"/>
          </a:ln>
        </p:spPr>
        <p:txBody>
          <a:bodyPr lIns="0" tIns="0" rIns="0" bIns="0" anchor="t">
            <a:normAutofit fontScale="83050" lnSpcReduction="10000"/>
          </a:bodyPr>
          <a:lstStyle/>
          <a:p>
            <a:pPr algn="l">
              <a:defRPr sz="1575" b="1">
                <a:solidFill>
                  <a:srgbClr val="FAFAFA"/>
                </a:solidFill>
              </a:defRPr>
            </a:pPr>
            <a:r>
              <a:rPr sz="1575" b="1">
                <a:solidFill>
                  <a:srgbClr val="FAFAFA"/>
                </a:solidFill>
              </a:rPr>
              <a:t>Is it overpriced?</a:t>
            </a:r>
          </a:p>
        </p:txBody>
      </p:sp>
      <p:sp>
        <p:nvSpPr>
          <p:cNvPr id="22" name="Rectangle 21">
            <a:extLst>
              <a:ext uri="{FF2B5EF4-FFF2-40B4-BE49-F238E27FC236}">
                <a16:creationId xmlns:a16="http://schemas.microsoft.com/office/drawing/2014/main" id="{0DE94890-39E5-442D-A48D-2DC05155C712}"/>
              </a:ext>
            </a:extLst>
          </p:cNvPr>
          <p:cNvSpPr>
            <a:spLocks noGrp="1"/>
          </p:cNvSpPr>
          <p:nvPr/>
        </p:nvSpPr>
        <p:spPr>
          <a:xfrm>
            <a:off x="10325100" y="4762500"/>
            <a:ext cx="1200150" cy="323850"/>
          </a:xfrm>
          <a:prstGeom prst="rect">
            <a:avLst/>
          </a:prstGeom>
          <a:solidFill>
            <a:srgbClr val="000000">
              <a:alpha val="0"/>
            </a:srgbClr>
          </a:solidFill>
          <a:ln w="0">
            <a:solidFill>
              <a:srgbClr val="000000">
                <a:alpha val="0"/>
              </a:srgbClr>
            </a:solidFill>
            <a:prstDash val="solid"/>
          </a:ln>
        </p:spPr>
        <p:txBody>
          <a:bodyPr lIns="0" tIns="0" rIns="0" bIns="0" anchor="t">
            <a:normAutofit fontScale="77369" lnSpcReduction="20000"/>
          </a:bodyPr>
          <a:lstStyle/>
          <a:p>
            <a:pPr algn="l">
              <a:defRPr sz="1350" b="0">
                <a:solidFill>
                  <a:srgbClr val="D1D5DB"/>
                </a:solidFill>
              </a:defRPr>
            </a:pPr>
            <a:r>
              <a:rPr sz="1350" b="0">
                <a:solidFill>
                  <a:srgbClr val="D1D5DB"/>
                </a:solidFill>
              </a:rPr>
              <a:t>A single number does not explain enough.</a:t>
            </a:r>
          </a:p>
        </p:txBody>
      </p:sp>
      <p:sp>
        <p:nvSpPr>
          <p:cNvPr id="23" name="Rectangle 22">
            <a:extLst>
              <a:ext uri="{FF2B5EF4-FFF2-40B4-BE49-F238E27FC236}">
                <a16:creationId xmlns:a16="http://schemas.microsoft.com/office/drawing/2014/main" id="{76ACF578-B15A-4876-8F18-B12C19A386EF}"/>
              </a:ext>
            </a:extLst>
          </p:cNvPr>
          <p:cNvSpPr>
            <a:spLocks noGrp="1"/>
          </p:cNvSpPr>
          <p:nvPr/>
        </p:nvSpPr>
        <p:spPr>
          <a:xfrm>
            <a:off x="609600" y="6419850"/>
            <a:ext cx="1524000" cy="19050"/>
          </a:xfrm>
          <a:prstGeom prst="rect">
            <a:avLst/>
          </a:prstGeom>
          <a:solidFill>
            <a:srgbClr val="DC2626"/>
          </a:solidFill>
          <a:ln w="0">
            <a:solidFill>
              <a:srgbClr val="DC2626"/>
            </a:solidFill>
            <a:prstDash val="solid"/>
          </a:ln>
        </p:spPr>
        <p:txBody>
          <a:bodyPr/>
          <a:lstStyle/>
          <a:p>
            <a:endParaRPr lang="en-US"/>
          </a:p>
        </p:txBody>
      </p:sp>
      <p:sp>
        <p:nvSpPr>
          <p:cNvPr id="24" name="Rectangle 23">
            <a:extLst>
              <a:ext uri="{FF2B5EF4-FFF2-40B4-BE49-F238E27FC236}">
                <a16:creationId xmlns:a16="http://schemas.microsoft.com/office/drawing/2014/main" id="{B300E680-641B-4DF0-920D-5A0F144439EB}"/>
              </a:ext>
            </a:extLst>
          </p:cNvPr>
          <p:cNvSpPr>
            <a:spLocks noGrp="1"/>
          </p:cNvSpPr>
          <p:nvPr/>
        </p:nvSpPr>
        <p:spPr>
          <a:xfrm>
            <a:off x="2266950" y="6315075"/>
            <a:ext cx="1714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050" b="0">
                <a:solidFill>
                  <a:srgbClr val="6B7280"/>
                </a:solidFill>
              </a:defRPr>
            </a:pPr>
            <a:r>
              <a:rPr sz="1050" b="0">
                <a:solidFill>
                  <a:srgbClr val="6B7280"/>
                </a:solidFill>
              </a:rPr>
              <a:t>CarSight AI</a:t>
            </a:r>
          </a:p>
        </p:txBody>
      </p:sp>
      <p:sp>
        <p:nvSpPr>
          <p:cNvPr id="25" name="Rectangle 24">
            <a:extLst>
              <a:ext uri="{FF2B5EF4-FFF2-40B4-BE49-F238E27FC236}">
                <a16:creationId xmlns:a16="http://schemas.microsoft.com/office/drawing/2014/main" id="{A40909E1-F6AC-4CD1-AF63-9787F327D3B2}"/>
              </a:ext>
            </a:extLst>
          </p:cNvPr>
          <p:cNvSpPr>
            <a:spLocks noGrp="1"/>
          </p:cNvSpPr>
          <p:nvPr/>
        </p:nvSpPr>
        <p:spPr>
          <a:xfrm>
            <a:off x="11315700" y="6286500"/>
            <a:ext cx="3619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r">
              <a:defRPr sz="1200" b="0">
                <a:solidFill>
                  <a:srgbClr val="6B7280"/>
                </a:solidFill>
              </a:defRPr>
            </a:pPr>
            <a:r>
              <a:rPr sz="1200" b="0">
                <a:solidFill>
                  <a:srgbClr val="6B7280"/>
                </a:solidFill>
              </a:rPr>
              <a:t>2</a:t>
            </a:r>
          </a:p>
        </p:txBody>
      </p:sp>
    </p:spTree>
    <p:extLst>
      <p:ext uri="{BB962C8B-B14F-4D97-AF65-F5344CB8AC3E}">
        <p14:creationId xmlns:p14="http://schemas.microsoft.com/office/powerpoint/2010/main" val="161257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0DB42A1-2939-48C7-8C94-3733F9BC1EF5}"/>
              </a:ext>
            </a:extLst>
          </p:cNvPr>
          <p:cNvSpPr>
            <a:spLocks noGrp="1"/>
          </p:cNvSpPr>
          <p:nvPr/>
        </p:nvSpPr>
        <p:spPr>
          <a:xfrm>
            <a:off x="609600" y="457200"/>
            <a:ext cx="1809750" cy="323850"/>
          </a:xfrm>
          <a:prstGeom prst="roundRect">
            <a:avLst>
              <a:gd name="adj" fmla="val 16667"/>
            </a:avLst>
          </a:prstGeom>
          <a:solidFill>
            <a:srgbClr val="DC2626"/>
          </a:solidFill>
          <a:ln w="0">
            <a:solidFill>
              <a:srgbClr val="DC2626"/>
            </a:solidFill>
            <a:prstDash val="solid"/>
          </a:ln>
        </p:spPr>
        <p:txBody>
          <a:bodyPr lIns="95250" tIns="28575" rIns="95250" bIns="28575" anchor="ctr"/>
          <a:lstStyle/>
          <a:p>
            <a:pPr algn="ctr">
              <a:defRPr sz="1050" b="1">
                <a:solidFill>
                  <a:srgbClr val="FAFAFA"/>
                </a:solidFill>
              </a:defRPr>
            </a:pPr>
            <a:r>
              <a:rPr sz="1050" b="1">
                <a:solidFill>
                  <a:srgbClr val="FAFAFA"/>
                </a:solidFill>
              </a:rPr>
              <a:t>THE GAP</a:t>
            </a:r>
          </a:p>
        </p:txBody>
      </p:sp>
      <p:sp>
        <p:nvSpPr>
          <p:cNvPr id="3" name="Rectangle 2">
            <a:extLst>
              <a:ext uri="{FF2B5EF4-FFF2-40B4-BE49-F238E27FC236}">
                <a16:creationId xmlns:a16="http://schemas.microsoft.com/office/drawing/2014/main" id="{D968404D-44D4-4FED-843F-EB9AB36570FC}"/>
              </a:ext>
            </a:extLst>
          </p:cNvPr>
          <p:cNvSpPr>
            <a:spLocks noGrp="1"/>
          </p:cNvSpPr>
          <p:nvPr/>
        </p:nvSpPr>
        <p:spPr>
          <a:xfrm>
            <a:off x="609600" y="887896"/>
            <a:ext cx="7429500" cy="819150"/>
          </a:xfrm>
          <a:prstGeom prst="rect">
            <a:avLst/>
          </a:prstGeom>
          <a:solidFill>
            <a:srgbClr val="000000">
              <a:alpha val="0"/>
            </a:srgbClr>
          </a:solidFill>
          <a:ln w="0">
            <a:solidFill>
              <a:srgbClr val="000000">
                <a:alpha val="0"/>
              </a:srgbClr>
            </a:solidFill>
            <a:prstDash val="solid"/>
          </a:ln>
        </p:spPr>
        <p:txBody>
          <a:bodyPr lIns="0" tIns="0" rIns="0" bIns="0" anchor="t">
            <a:normAutofit fontScale="90947" lnSpcReduction="20000"/>
          </a:bodyPr>
          <a:lstStyle/>
          <a:p>
            <a:pPr algn="l">
              <a:defRPr sz="3450" b="1">
                <a:solidFill>
                  <a:srgbClr val="FAFAFA"/>
                </a:solidFill>
              </a:defRPr>
            </a:pPr>
            <a:r>
              <a:rPr sz="3450" b="1" dirty="0">
                <a:solidFill>
                  <a:srgbClr val="FAFAFA"/>
                </a:solidFill>
              </a:rPr>
              <a:t>Most pricing tools read the car, not the story.</a:t>
            </a:r>
          </a:p>
        </p:txBody>
      </p:sp>
      <p:sp>
        <p:nvSpPr>
          <p:cNvPr id="4" name="Rectangle 3">
            <a:extLst>
              <a:ext uri="{FF2B5EF4-FFF2-40B4-BE49-F238E27FC236}">
                <a16:creationId xmlns:a16="http://schemas.microsoft.com/office/drawing/2014/main" id="{A420AAD5-35C0-48B3-96DB-B684762EB35C}"/>
              </a:ext>
            </a:extLst>
          </p:cNvPr>
          <p:cNvSpPr>
            <a:spLocks noGrp="1"/>
          </p:cNvSpPr>
          <p:nvPr/>
        </p:nvSpPr>
        <p:spPr>
          <a:xfrm>
            <a:off x="628650" y="1752600"/>
            <a:ext cx="6858000" cy="4762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650" b="0">
                <a:solidFill>
                  <a:srgbClr val="D1D5DB"/>
                </a:solidFill>
              </a:defRPr>
            </a:pPr>
            <a:r>
              <a:rPr sz="1650" b="0">
                <a:solidFill>
                  <a:srgbClr val="D1D5DB"/>
                </a:solidFill>
              </a:rPr>
              <a:t>Year and mileage matter, but the description often carries the risk.</a:t>
            </a:r>
          </a:p>
        </p:txBody>
      </p:sp>
      <p:sp>
        <p:nvSpPr>
          <p:cNvPr id="5" name="Rectangle 4">
            <a:extLst>
              <a:ext uri="{FF2B5EF4-FFF2-40B4-BE49-F238E27FC236}">
                <a16:creationId xmlns:a16="http://schemas.microsoft.com/office/drawing/2014/main" id="{5CF992B3-7D15-4049-A157-505AF086FF97}"/>
              </a:ext>
            </a:extLst>
          </p:cNvPr>
          <p:cNvSpPr>
            <a:spLocks noGrp="1"/>
          </p:cNvSpPr>
          <p:nvPr/>
        </p:nvSpPr>
        <p:spPr>
          <a:xfrm>
            <a:off x="1104900" y="2667000"/>
            <a:ext cx="4000500" cy="3238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875" b="1">
                <a:solidFill>
                  <a:srgbClr val="FAFAFA"/>
                </a:solidFill>
              </a:defRPr>
            </a:pPr>
            <a:r>
              <a:rPr sz="1875" b="1">
                <a:solidFill>
                  <a:srgbClr val="FAFAFA"/>
                </a:solidFill>
              </a:rPr>
              <a:t>What current tools usually see</a:t>
            </a:r>
          </a:p>
        </p:txBody>
      </p:sp>
      <p:sp>
        <p:nvSpPr>
          <p:cNvPr id="6" name="Rectangle: Rounded Corners 5">
            <a:extLst>
              <a:ext uri="{FF2B5EF4-FFF2-40B4-BE49-F238E27FC236}">
                <a16:creationId xmlns:a16="http://schemas.microsoft.com/office/drawing/2014/main" id="{2B689F6B-8613-4ECF-AC4A-1DE022234427}"/>
              </a:ext>
            </a:extLst>
          </p:cNvPr>
          <p:cNvSpPr>
            <a:spLocks noGrp="1"/>
          </p:cNvSpPr>
          <p:nvPr/>
        </p:nvSpPr>
        <p:spPr>
          <a:xfrm>
            <a:off x="1104900" y="3200400"/>
            <a:ext cx="3581400" cy="47625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7" name="Rectangle 6">
            <a:extLst>
              <a:ext uri="{FF2B5EF4-FFF2-40B4-BE49-F238E27FC236}">
                <a16:creationId xmlns:a16="http://schemas.microsoft.com/office/drawing/2014/main" id="{F3D5D754-8678-4717-BF36-29BA00474130}"/>
              </a:ext>
            </a:extLst>
          </p:cNvPr>
          <p:cNvSpPr>
            <a:spLocks noGrp="1"/>
          </p:cNvSpPr>
          <p:nvPr/>
        </p:nvSpPr>
        <p:spPr>
          <a:xfrm>
            <a:off x="1104900" y="3200400"/>
            <a:ext cx="57150" cy="476250"/>
          </a:xfrm>
          <a:prstGeom prst="rect">
            <a:avLst/>
          </a:prstGeom>
          <a:solidFill>
            <a:srgbClr val="374151"/>
          </a:solidFill>
          <a:ln w="0">
            <a:solidFill>
              <a:srgbClr val="374151"/>
            </a:solidFill>
            <a:prstDash val="solid"/>
          </a:ln>
        </p:spPr>
        <p:txBody>
          <a:bodyPr/>
          <a:lstStyle/>
          <a:p>
            <a:endParaRPr lang="en-US"/>
          </a:p>
        </p:txBody>
      </p:sp>
      <p:sp>
        <p:nvSpPr>
          <p:cNvPr id="8" name="Rectangle 7">
            <a:extLst>
              <a:ext uri="{FF2B5EF4-FFF2-40B4-BE49-F238E27FC236}">
                <a16:creationId xmlns:a16="http://schemas.microsoft.com/office/drawing/2014/main" id="{88743104-E4BD-4AE5-BE38-D75048D1DBDE}"/>
              </a:ext>
            </a:extLst>
          </p:cNvPr>
          <p:cNvSpPr>
            <a:spLocks noGrp="1"/>
          </p:cNvSpPr>
          <p:nvPr/>
        </p:nvSpPr>
        <p:spPr>
          <a:xfrm>
            <a:off x="1333500" y="3409950"/>
            <a:ext cx="316230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Year</a:t>
            </a:r>
          </a:p>
        </p:txBody>
      </p:sp>
      <p:sp>
        <p:nvSpPr>
          <p:cNvPr id="9" name="Rectangle 8">
            <a:extLst>
              <a:ext uri="{FF2B5EF4-FFF2-40B4-BE49-F238E27FC236}">
                <a16:creationId xmlns:a16="http://schemas.microsoft.com/office/drawing/2014/main" id="{3450E5E2-EBC0-468B-AE14-36E8B332E94D}"/>
              </a:ext>
            </a:extLst>
          </p:cNvPr>
          <p:cNvSpPr>
            <a:spLocks noGrp="1"/>
          </p:cNvSpPr>
          <p:nvPr/>
        </p:nvSpPr>
        <p:spPr>
          <a:xfrm>
            <a:off x="1333500" y="3790950"/>
            <a:ext cx="3162300" cy="0"/>
          </a:xfrm>
          <a:prstGeom prst="rect">
            <a:avLst/>
          </a:prstGeom>
          <a:solidFill>
            <a:srgbClr val="000000">
              <a:alpha val="0"/>
            </a:srgbClr>
          </a:solidFill>
          <a:ln w="0">
            <a:solidFill>
              <a:srgbClr val="000000">
                <a:alpha val="0"/>
              </a:srgbClr>
            </a:solidFill>
            <a:prstDash val="solid"/>
          </a:ln>
        </p:spPr>
        <p:txBody>
          <a:bodyPr lIns="0" tIns="0" rIns="0" bIns="0" anchor="t">
            <a:normAutofit fontScale="25000" lnSpcReduction="20000"/>
          </a:bodyPr>
          <a:lstStyle/>
          <a:p>
            <a:endParaRPr/>
          </a:p>
        </p:txBody>
      </p:sp>
      <p:sp>
        <p:nvSpPr>
          <p:cNvPr id="10" name="Rectangle: Rounded Corners 9">
            <a:extLst>
              <a:ext uri="{FF2B5EF4-FFF2-40B4-BE49-F238E27FC236}">
                <a16:creationId xmlns:a16="http://schemas.microsoft.com/office/drawing/2014/main" id="{FE475155-36A5-4DCA-809C-AA2835E67A31}"/>
              </a:ext>
            </a:extLst>
          </p:cNvPr>
          <p:cNvSpPr>
            <a:spLocks noGrp="1"/>
          </p:cNvSpPr>
          <p:nvPr/>
        </p:nvSpPr>
        <p:spPr>
          <a:xfrm>
            <a:off x="1104900" y="3848100"/>
            <a:ext cx="3581400" cy="47625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1" name="Rectangle 10">
            <a:extLst>
              <a:ext uri="{FF2B5EF4-FFF2-40B4-BE49-F238E27FC236}">
                <a16:creationId xmlns:a16="http://schemas.microsoft.com/office/drawing/2014/main" id="{0A2BBD7D-1241-44F2-87D2-8537F726A433}"/>
              </a:ext>
            </a:extLst>
          </p:cNvPr>
          <p:cNvSpPr>
            <a:spLocks noGrp="1"/>
          </p:cNvSpPr>
          <p:nvPr/>
        </p:nvSpPr>
        <p:spPr>
          <a:xfrm>
            <a:off x="1104900" y="3848100"/>
            <a:ext cx="57150" cy="476250"/>
          </a:xfrm>
          <a:prstGeom prst="rect">
            <a:avLst/>
          </a:prstGeom>
          <a:solidFill>
            <a:srgbClr val="374151"/>
          </a:solidFill>
          <a:ln w="0">
            <a:solidFill>
              <a:srgbClr val="374151"/>
            </a:solidFill>
            <a:prstDash val="solid"/>
          </a:ln>
        </p:spPr>
        <p:txBody>
          <a:bodyPr/>
          <a:lstStyle/>
          <a:p>
            <a:endParaRPr lang="en-US"/>
          </a:p>
        </p:txBody>
      </p:sp>
      <p:sp>
        <p:nvSpPr>
          <p:cNvPr id="12" name="Rectangle 11">
            <a:extLst>
              <a:ext uri="{FF2B5EF4-FFF2-40B4-BE49-F238E27FC236}">
                <a16:creationId xmlns:a16="http://schemas.microsoft.com/office/drawing/2014/main" id="{C39638A7-163D-4B52-BB30-B5F3BF7E40AF}"/>
              </a:ext>
            </a:extLst>
          </p:cNvPr>
          <p:cNvSpPr>
            <a:spLocks noGrp="1"/>
          </p:cNvSpPr>
          <p:nvPr/>
        </p:nvSpPr>
        <p:spPr>
          <a:xfrm>
            <a:off x="1333500" y="4057650"/>
            <a:ext cx="316230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Mileage</a:t>
            </a:r>
          </a:p>
        </p:txBody>
      </p:sp>
      <p:sp>
        <p:nvSpPr>
          <p:cNvPr id="13" name="Rectangle 12">
            <a:extLst>
              <a:ext uri="{FF2B5EF4-FFF2-40B4-BE49-F238E27FC236}">
                <a16:creationId xmlns:a16="http://schemas.microsoft.com/office/drawing/2014/main" id="{D6410650-B07F-4B30-B77A-0F1FCA3FF7DB}"/>
              </a:ext>
            </a:extLst>
          </p:cNvPr>
          <p:cNvSpPr>
            <a:spLocks noGrp="1"/>
          </p:cNvSpPr>
          <p:nvPr/>
        </p:nvSpPr>
        <p:spPr>
          <a:xfrm>
            <a:off x="1333500" y="4438650"/>
            <a:ext cx="3162300" cy="0"/>
          </a:xfrm>
          <a:prstGeom prst="rect">
            <a:avLst/>
          </a:prstGeom>
          <a:solidFill>
            <a:srgbClr val="000000">
              <a:alpha val="0"/>
            </a:srgbClr>
          </a:solidFill>
          <a:ln w="0">
            <a:solidFill>
              <a:srgbClr val="000000">
                <a:alpha val="0"/>
              </a:srgbClr>
            </a:solidFill>
            <a:prstDash val="solid"/>
          </a:ln>
        </p:spPr>
        <p:txBody>
          <a:bodyPr lIns="0" tIns="0" rIns="0" bIns="0" anchor="t">
            <a:normAutofit fontScale="25000" lnSpcReduction="20000"/>
          </a:bodyPr>
          <a:lstStyle/>
          <a:p>
            <a:endParaRPr/>
          </a:p>
        </p:txBody>
      </p:sp>
      <p:sp>
        <p:nvSpPr>
          <p:cNvPr id="14" name="Rectangle: Rounded Corners 13">
            <a:extLst>
              <a:ext uri="{FF2B5EF4-FFF2-40B4-BE49-F238E27FC236}">
                <a16:creationId xmlns:a16="http://schemas.microsoft.com/office/drawing/2014/main" id="{99858736-05D6-4AAD-A170-A9C2E25BEA0E}"/>
              </a:ext>
            </a:extLst>
          </p:cNvPr>
          <p:cNvSpPr>
            <a:spLocks noGrp="1"/>
          </p:cNvSpPr>
          <p:nvPr/>
        </p:nvSpPr>
        <p:spPr>
          <a:xfrm>
            <a:off x="1104900" y="4495800"/>
            <a:ext cx="3581400" cy="47625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5" name="Rectangle 14">
            <a:extLst>
              <a:ext uri="{FF2B5EF4-FFF2-40B4-BE49-F238E27FC236}">
                <a16:creationId xmlns:a16="http://schemas.microsoft.com/office/drawing/2014/main" id="{1321AEEF-FC4D-492B-AE4F-3C7247DFAB4A}"/>
              </a:ext>
            </a:extLst>
          </p:cNvPr>
          <p:cNvSpPr>
            <a:spLocks noGrp="1"/>
          </p:cNvSpPr>
          <p:nvPr/>
        </p:nvSpPr>
        <p:spPr>
          <a:xfrm>
            <a:off x="1104900" y="4495800"/>
            <a:ext cx="57150" cy="476250"/>
          </a:xfrm>
          <a:prstGeom prst="rect">
            <a:avLst/>
          </a:prstGeom>
          <a:solidFill>
            <a:srgbClr val="374151"/>
          </a:solidFill>
          <a:ln w="0">
            <a:solidFill>
              <a:srgbClr val="374151"/>
            </a:solidFill>
            <a:prstDash val="solid"/>
          </a:ln>
        </p:spPr>
        <p:txBody>
          <a:bodyPr/>
          <a:lstStyle/>
          <a:p>
            <a:endParaRPr lang="en-US"/>
          </a:p>
        </p:txBody>
      </p:sp>
      <p:sp>
        <p:nvSpPr>
          <p:cNvPr id="16" name="Rectangle 15">
            <a:extLst>
              <a:ext uri="{FF2B5EF4-FFF2-40B4-BE49-F238E27FC236}">
                <a16:creationId xmlns:a16="http://schemas.microsoft.com/office/drawing/2014/main" id="{477385AE-C7D0-4AC2-9548-8AFD54BAF3DD}"/>
              </a:ext>
            </a:extLst>
          </p:cNvPr>
          <p:cNvSpPr>
            <a:spLocks noGrp="1"/>
          </p:cNvSpPr>
          <p:nvPr/>
        </p:nvSpPr>
        <p:spPr>
          <a:xfrm>
            <a:off x="1333500" y="4705350"/>
            <a:ext cx="316230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Make / model</a:t>
            </a:r>
          </a:p>
        </p:txBody>
      </p:sp>
      <p:sp>
        <p:nvSpPr>
          <p:cNvPr id="17" name="Rectangle 16">
            <a:extLst>
              <a:ext uri="{FF2B5EF4-FFF2-40B4-BE49-F238E27FC236}">
                <a16:creationId xmlns:a16="http://schemas.microsoft.com/office/drawing/2014/main" id="{0CF0343E-66D7-4055-83B0-C3B1944F9B1D}"/>
              </a:ext>
            </a:extLst>
          </p:cNvPr>
          <p:cNvSpPr>
            <a:spLocks noGrp="1"/>
          </p:cNvSpPr>
          <p:nvPr/>
        </p:nvSpPr>
        <p:spPr>
          <a:xfrm>
            <a:off x="1333500" y="5086350"/>
            <a:ext cx="3162300" cy="0"/>
          </a:xfrm>
          <a:prstGeom prst="rect">
            <a:avLst/>
          </a:prstGeom>
          <a:solidFill>
            <a:srgbClr val="000000">
              <a:alpha val="0"/>
            </a:srgbClr>
          </a:solidFill>
          <a:ln w="0">
            <a:solidFill>
              <a:srgbClr val="000000">
                <a:alpha val="0"/>
              </a:srgbClr>
            </a:solidFill>
            <a:prstDash val="solid"/>
          </a:ln>
        </p:spPr>
        <p:txBody>
          <a:bodyPr lIns="0" tIns="0" rIns="0" bIns="0" anchor="t">
            <a:normAutofit fontScale="25000" lnSpcReduction="20000"/>
          </a:bodyPr>
          <a:lstStyle/>
          <a:p>
            <a:endParaRPr/>
          </a:p>
        </p:txBody>
      </p:sp>
      <p:sp>
        <p:nvSpPr>
          <p:cNvPr id="18" name="Rectangle: Rounded Corners 17">
            <a:extLst>
              <a:ext uri="{FF2B5EF4-FFF2-40B4-BE49-F238E27FC236}">
                <a16:creationId xmlns:a16="http://schemas.microsoft.com/office/drawing/2014/main" id="{B14FF66D-6F7D-4055-8DF6-26A3BEB3535B}"/>
              </a:ext>
            </a:extLst>
          </p:cNvPr>
          <p:cNvSpPr>
            <a:spLocks noGrp="1"/>
          </p:cNvSpPr>
          <p:nvPr/>
        </p:nvSpPr>
        <p:spPr>
          <a:xfrm>
            <a:off x="1104900" y="5143500"/>
            <a:ext cx="3581400" cy="47625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9" name="Rectangle 18">
            <a:extLst>
              <a:ext uri="{FF2B5EF4-FFF2-40B4-BE49-F238E27FC236}">
                <a16:creationId xmlns:a16="http://schemas.microsoft.com/office/drawing/2014/main" id="{3239361E-1F61-4AA9-A6D1-9ECDB2C06AB5}"/>
              </a:ext>
            </a:extLst>
          </p:cNvPr>
          <p:cNvSpPr>
            <a:spLocks noGrp="1"/>
          </p:cNvSpPr>
          <p:nvPr/>
        </p:nvSpPr>
        <p:spPr>
          <a:xfrm>
            <a:off x="1104900" y="5143500"/>
            <a:ext cx="57150" cy="476250"/>
          </a:xfrm>
          <a:prstGeom prst="rect">
            <a:avLst/>
          </a:prstGeom>
          <a:solidFill>
            <a:srgbClr val="374151"/>
          </a:solidFill>
          <a:ln w="0">
            <a:solidFill>
              <a:srgbClr val="374151"/>
            </a:solidFill>
            <a:prstDash val="solid"/>
          </a:ln>
        </p:spPr>
        <p:txBody>
          <a:bodyPr/>
          <a:lstStyle/>
          <a:p>
            <a:endParaRPr lang="en-US"/>
          </a:p>
        </p:txBody>
      </p:sp>
      <p:sp>
        <p:nvSpPr>
          <p:cNvPr id="20" name="Rectangle 19">
            <a:extLst>
              <a:ext uri="{FF2B5EF4-FFF2-40B4-BE49-F238E27FC236}">
                <a16:creationId xmlns:a16="http://schemas.microsoft.com/office/drawing/2014/main" id="{90DA5933-53B7-400C-AFE9-5933F70C67C5}"/>
              </a:ext>
            </a:extLst>
          </p:cNvPr>
          <p:cNvSpPr>
            <a:spLocks noGrp="1"/>
          </p:cNvSpPr>
          <p:nvPr/>
        </p:nvSpPr>
        <p:spPr>
          <a:xfrm>
            <a:off x="1333500" y="5353050"/>
            <a:ext cx="316230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Broad condition</a:t>
            </a:r>
          </a:p>
        </p:txBody>
      </p:sp>
      <p:sp>
        <p:nvSpPr>
          <p:cNvPr id="21" name="Rectangle 20">
            <a:extLst>
              <a:ext uri="{FF2B5EF4-FFF2-40B4-BE49-F238E27FC236}">
                <a16:creationId xmlns:a16="http://schemas.microsoft.com/office/drawing/2014/main" id="{18CEA6C4-40B5-4110-82D1-143126151623}"/>
              </a:ext>
            </a:extLst>
          </p:cNvPr>
          <p:cNvSpPr>
            <a:spLocks noGrp="1"/>
          </p:cNvSpPr>
          <p:nvPr/>
        </p:nvSpPr>
        <p:spPr>
          <a:xfrm>
            <a:off x="1333500" y="5734050"/>
            <a:ext cx="3162300" cy="0"/>
          </a:xfrm>
          <a:prstGeom prst="rect">
            <a:avLst/>
          </a:prstGeom>
          <a:solidFill>
            <a:srgbClr val="000000">
              <a:alpha val="0"/>
            </a:srgbClr>
          </a:solidFill>
          <a:ln w="0">
            <a:solidFill>
              <a:srgbClr val="000000">
                <a:alpha val="0"/>
              </a:srgbClr>
            </a:solidFill>
            <a:prstDash val="solid"/>
          </a:ln>
        </p:spPr>
        <p:txBody>
          <a:bodyPr lIns="0" tIns="0" rIns="0" bIns="0" anchor="t">
            <a:normAutofit fontScale="25000" lnSpcReduction="20000"/>
          </a:bodyPr>
          <a:lstStyle/>
          <a:p>
            <a:endParaRPr/>
          </a:p>
        </p:txBody>
      </p:sp>
      <p:sp>
        <p:nvSpPr>
          <p:cNvPr id="22" name="Rectangle 21">
            <a:extLst>
              <a:ext uri="{FF2B5EF4-FFF2-40B4-BE49-F238E27FC236}">
                <a16:creationId xmlns:a16="http://schemas.microsoft.com/office/drawing/2014/main" id="{D56E7524-18F6-4ABA-807C-46C9175975D7}"/>
              </a:ext>
            </a:extLst>
          </p:cNvPr>
          <p:cNvSpPr>
            <a:spLocks noGrp="1"/>
          </p:cNvSpPr>
          <p:nvPr/>
        </p:nvSpPr>
        <p:spPr>
          <a:xfrm>
            <a:off x="6724650" y="2667000"/>
            <a:ext cx="4095750" cy="3238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875" b="1">
                <a:solidFill>
                  <a:srgbClr val="FAFAFA"/>
                </a:solidFill>
              </a:defRPr>
            </a:pPr>
            <a:r>
              <a:rPr sz="1875" b="1">
                <a:solidFill>
                  <a:srgbClr val="FAFAFA"/>
                </a:solidFill>
              </a:rPr>
              <a:t>What buyers still have to interpret</a:t>
            </a:r>
          </a:p>
        </p:txBody>
      </p:sp>
      <p:sp>
        <p:nvSpPr>
          <p:cNvPr id="23" name="Rectangle: Rounded Corners 22">
            <a:extLst>
              <a:ext uri="{FF2B5EF4-FFF2-40B4-BE49-F238E27FC236}">
                <a16:creationId xmlns:a16="http://schemas.microsoft.com/office/drawing/2014/main" id="{A4F0D626-9555-4322-81DB-E68FAB3CDBB0}"/>
              </a:ext>
            </a:extLst>
          </p:cNvPr>
          <p:cNvSpPr>
            <a:spLocks noGrp="1"/>
          </p:cNvSpPr>
          <p:nvPr/>
        </p:nvSpPr>
        <p:spPr>
          <a:xfrm>
            <a:off x="6724650" y="3200400"/>
            <a:ext cx="3581400" cy="476250"/>
          </a:xfrm>
          <a:prstGeom prst="roundRect">
            <a:avLst>
              <a:gd name="adj" fmla="val 12000"/>
            </a:avLst>
          </a:prstGeom>
          <a:solidFill>
            <a:srgbClr val="2D1111"/>
          </a:solidFill>
          <a:ln w="10478">
            <a:solidFill>
              <a:srgbClr val="DC2626"/>
            </a:solidFill>
            <a:prstDash val="solid"/>
          </a:ln>
        </p:spPr>
        <p:txBody>
          <a:bodyPr/>
          <a:lstStyle/>
          <a:p>
            <a:endParaRPr lang="en-US"/>
          </a:p>
        </p:txBody>
      </p:sp>
      <p:sp>
        <p:nvSpPr>
          <p:cNvPr id="24" name="Rectangle 23">
            <a:extLst>
              <a:ext uri="{FF2B5EF4-FFF2-40B4-BE49-F238E27FC236}">
                <a16:creationId xmlns:a16="http://schemas.microsoft.com/office/drawing/2014/main" id="{4E63E1EA-C366-4D4A-A778-8C7EB6E21080}"/>
              </a:ext>
            </a:extLst>
          </p:cNvPr>
          <p:cNvSpPr>
            <a:spLocks noGrp="1"/>
          </p:cNvSpPr>
          <p:nvPr/>
        </p:nvSpPr>
        <p:spPr>
          <a:xfrm>
            <a:off x="6953250" y="3314700"/>
            <a:ext cx="2857500" cy="2476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small dent</a:t>
            </a:r>
          </a:p>
        </p:txBody>
      </p:sp>
      <p:sp>
        <p:nvSpPr>
          <p:cNvPr id="25" name="Rectangle: Rounded Corners 24">
            <a:extLst>
              <a:ext uri="{FF2B5EF4-FFF2-40B4-BE49-F238E27FC236}">
                <a16:creationId xmlns:a16="http://schemas.microsoft.com/office/drawing/2014/main" id="{97D127E4-3796-43F0-B6FB-0D4D1FD41C8C}"/>
              </a:ext>
            </a:extLst>
          </p:cNvPr>
          <p:cNvSpPr>
            <a:spLocks noGrp="1"/>
          </p:cNvSpPr>
          <p:nvPr/>
        </p:nvSpPr>
        <p:spPr>
          <a:xfrm>
            <a:off x="6724650" y="3848100"/>
            <a:ext cx="3581400" cy="476250"/>
          </a:xfrm>
          <a:prstGeom prst="roundRect">
            <a:avLst>
              <a:gd name="adj" fmla="val 12000"/>
            </a:avLst>
          </a:prstGeom>
          <a:solidFill>
            <a:srgbClr val="2D1111"/>
          </a:solidFill>
          <a:ln w="10478">
            <a:solidFill>
              <a:srgbClr val="DC2626"/>
            </a:solidFill>
            <a:prstDash val="solid"/>
          </a:ln>
        </p:spPr>
        <p:txBody>
          <a:bodyPr/>
          <a:lstStyle/>
          <a:p>
            <a:endParaRPr lang="en-US"/>
          </a:p>
        </p:txBody>
      </p:sp>
      <p:sp>
        <p:nvSpPr>
          <p:cNvPr id="26" name="Rectangle 25">
            <a:extLst>
              <a:ext uri="{FF2B5EF4-FFF2-40B4-BE49-F238E27FC236}">
                <a16:creationId xmlns:a16="http://schemas.microsoft.com/office/drawing/2014/main" id="{828560D7-9F0D-40B0-95FA-CDEF8C4D0B0F}"/>
              </a:ext>
            </a:extLst>
          </p:cNvPr>
          <p:cNvSpPr>
            <a:spLocks noGrp="1"/>
          </p:cNvSpPr>
          <p:nvPr/>
        </p:nvSpPr>
        <p:spPr>
          <a:xfrm>
            <a:off x="6953250" y="3962400"/>
            <a:ext cx="2857500" cy="2476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engine knocking</a:t>
            </a:r>
          </a:p>
        </p:txBody>
      </p:sp>
      <p:sp>
        <p:nvSpPr>
          <p:cNvPr id="27" name="Rectangle: Rounded Corners 26">
            <a:extLst>
              <a:ext uri="{FF2B5EF4-FFF2-40B4-BE49-F238E27FC236}">
                <a16:creationId xmlns:a16="http://schemas.microsoft.com/office/drawing/2014/main" id="{2068D645-4291-4861-89E9-300CFA1613B6}"/>
              </a:ext>
            </a:extLst>
          </p:cNvPr>
          <p:cNvSpPr>
            <a:spLocks noGrp="1"/>
          </p:cNvSpPr>
          <p:nvPr/>
        </p:nvSpPr>
        <p:spPr>
          <a:xfrm>
            <a:off x="6724650" y="4495800"/>
            <a:ext cx="3581400" cy="476250"/>
          </a:xfrm>
          <a:prstGeom prst="roundRect">
            <a:avLst>
              <a:gd name="adj" fmla="val 12000"/>
            </a:avLst>
          </a:prstGeom>
          <a:solidFill>
            <a:srgbClr val="2D1111"/>
          </a:solidFill>
          <a:ln w="10478">
            <a:solidFill>
              <a:srgbClr val="DC2626"/>
            </a:solidFill>
            <a:prstDash val="solid"/>
          </a:ln>
        </p:spPr>
        <p:txBody>
          <a:bodyPr/>
          <a:lstStyle/>
          <a:p>
            <a:endParaRPr lang="en-US"/>
          </a:p>
        </p:txBody>
      </p:sp>
      <p:sp>
        <p:nvSpPr>
          <p:cNvPr id="28" name="Rectangle 27">
            <a:extLst>
              <a:ext uri="{FF2B5EF4-FFF2-40B4-BE49-F238E27FC236}">
                <a16:creationId xmlns:a16="http://schemas.microsoft.com/office/drawing/2014/main" id="{8E86ED7B-0D26-40C6-8B18-1E53B220C415}"/>
              </a:ext>
            </a:extLst>
          </p:cNvPr>
          <p:cNvSpPr>
            <a:spLocks noGrp="1"/>
          </p:cNvSpPr>
          <p:nvPr/>
        </p:nvSpPr>
        <p:spPr>
          <a:xfrm>
            <a:off x="6953250" y="4610100"/>
            <a:ext cx="2857500" cy="2476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scratches everywhere</a:t>
            </a:r>
          </a:p>
        </p:txBody>
      </p:sp>
      <p:sp>
        <p:nvSpPr>
          <p:cNvPr id="29" name="Rectangle: Rounded Corners 28">
            <a:extLst>
              <a:ext uri="{FF2B5EF4-FFF2-40B4-BE49-F238E27FC236}">
                <a16:creationId xmlns:a16="http://schemas.microsoft.com/office/drawing/2014/main" id="{EC83D922-5B4C-485E-A728-515EF1A12FF0}"/>
              </a:ext>
            </a:extLst>
          </p:cNvPr>
          <p:cNvSpPr>
            <a:spLocks noGrp="1"/>
          </p:cNvSpPr>
          <p:nvPr/>
        </p:nvSpPr>
        <p:spPr>
          <a:xfrm>
            <a:off x="6724650" y="5143500"/>
            <a:ext cx="3581400" cy="476250"/>
          </a:xfrm>
          <a:prstGeom prst="roundRect">
            <a:avLst>
              <a:gd name="adj" fmla="val 12000"/>
            </a:avLst>
          </a:prstGeom>
          <a:solidFill>
            <a:srgbClr val="2D1111"/>
          </a:solidFill>
          <a:ln w="10478">
            <a:solidFill>
              <a:srgbClr val="DC2626"/>
            </a:solidFill>
            <a:prstDash val="solid"/>
          </a:ln>
        </p:spPr>
        <p:txBody>
          <a:bodyPr/>
          <a:lstStyle/>
          <a:p>
            <a:endParaRPr lang="en-US"/>
          </a:p>
        </p:txBody>
      </p:sp>
      <p:sp>
        <p:nvSpPr>
          <p:cNvPr id="30" name="Rectangle 29">
            <a:extLst>
              <a:ext uri="{FF2B5EF4-FFF2-40B4-BE49-F238E27FC236}">
                <a16:creationId xmlns:a16="http://schemas.microsoft.com/office/drawing/2014/main" id="{20F7C229-8C7B-4F09-8EF1-30614BC75699}"/>
              </a:ext>
            </a:extLst>
          </p:cNvPr>
          <p:cNvSpPr>
            <a:spLocks noGrp="1"/>
          </p:cNvSpPr>
          <p:nvPr/>
        </p:nvSpPr>
        <p:spPr>
          <a:xfrm>
            <a:off x="6953250" y="5257800"/>
            <a:ext cx="2857500" cy="2476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smoke smell</a:t>
            </a:r>
          </a:p>
        </p:txBody>
      </p:sp>
      <p:sp>
        <p:nvSpPr>
          <p:cNvPr id="32" name="Rectangle 31">
            <a:extLst>
              <a:ext uri="{FF2B5EF4-FFF2-40B4-BE49-F238E27FC236}">
                <a16:creationId xmlns:a16="http://schemas.microsoft.com/office/drawing/2014/main" id="{55A6F126-D0C1-4FC6-90CB-7216A43BEA13}"/>
              </a:ext>
            </a:extLst>
          </p:cNvPr>
          <p:cNvSpPr>
            <a:spLocks noGrp="1"/>
          </p:cNvSpPr>
          <p:nvPr/>
        </p:nvSpPr>
        <p:spPr>
          <a:xfrm>
            <a:off x="4953000" y="4343400"/>
            <a:ext cx="15240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1275" b="1">
                <a:solidFill>
                  <a:srgbClr val="DC2626"/>
                </a:solidFill>
              </a:defRPr>
            </a:pPr>
            <a:r>
              <a:rPr sz="1275" b="1">
                <a:solidFill>
                  <a:srgbClr val="DC2626"/>
                </a:solidFill>
              </a:rPr>
              <a:t>The missing link</a:t>
            </a:r>
          </a:p>
        </p:txBody>
      </p:sp>
      <p:sp>
        <p:nvSpPr>
          <p:cNvPr id="33" name="Rectangle 32">
            <a:extLst>
              <a:ext uri="{FF2B5EF4-FFF2-40B4-BE49-F238E27FC236}">
                <a16:creationId xmlns:a16="http://schemas.microsoft.com/office/drawing/2014/main" id="{CB3121DC-4A72-4904-B6F8-4BC1FF148E37}"/>
              </a:ext>
            </a:extLst>
          </p:cNvPr>
          <p:cNvSpPr>
            <a:spLocks noGrp="1"/>
          </p:cNvSpPr>
          <p:nvPr/>
        </p:nvSpPr>
        <p:spPr>
          <a:xfrm>
            <a:off x="609600" y="6419850"/>
            <a:ext cx="1524000" cy="19050"/>
          </a:xfrm>
          <a:prstGeom prst="rect">
            <a:avLst/>
          </a:prstGeom>
          <a:solidFill>
            <a:srgbClr val="DC2626"/>
          </a:solidFill>
          <a:ln w="0">
            <a:solidFill>
              <a:srgbClr val="DC2626"/>
            </a:solidFill>
            <a:prstDash val="solid"/>
          </a:ln>
        </p:spPr>
        <p:txBody>
          <a:bodyPr/>
          <a:lstStyle/>
          <a:p>
            <a:endParaRPr lang="en-US"/>
          </a:p>
        </p:txBody>
      </p:sp>
      <p:sp>
        <p:nvSpPr>
          <p:cNvPr id="34" name="Rectangle 33">
            <a:extLst>
              <a:ext uri="{FF2B5EF4-FFF2-40B4-BE49-F238E27FC236}">
                <a16:creationId xmlns:a16="http://schemas.microsoft.com/office/drawing/2014/main" id="{8DEECCED-B740-43F8-86BE-84491493138F}"/>
              </a:ext>
            </a:extLst>
          </p:cNvPr>
          <p:cNvSpPr>
            <a:spLocks noGrp="1"/>
          </p:cNvSpPr>
          <p:nvPr/>
        </p:nvSpPr>
        <p:spPr>
          <a:xfrm>
            <a:off x="2266950" y="6315075"/>
            <a:ext cx="1714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050" b="0">
                <a:solidFill>
                  <a:srgbClr val="6B7280"/>
                </a:solidFill>
              </a:defRPr>
            </a:pPr>
            <a:r>
              <a:rPr sz="1050" b="0">
                <a:solidFill>
                  <a:srgbClr val="6B7280"/>
                </a:solidFill>
              </a:rPr>
              <a:t>CarSight AI</a:t>
            </a:r>
          </a:p>
        </p:txBody>
      </p:sp>
      <p:sp>
        <p:nvSpPr>
          <p:cNvPr id="35" name="Rectangle 34">
            <a:extLst>
              <a:ext uri="{FF2B5EF4-FFF2-40B4-BE49-F238E27FC236}">
                <a16:creationId xmlns:a16="http://schemas.microsoft.com/office/drawing/2014/main" id="{0664943F-33EC-4074-BEF0-336185BBA62A}"/>
              </a:ext>
            </a:extLst>
          </p:cNvPr>
          <p:cNvSpPr>
            <a:spLocks noGrp="1"/>
          </p:cNvSpPr>
          <p:nvPr/>
        </p:nvSpPr>
        <p:spPr>
          <a:xfrm>
            <a:off x="11315700" y="6286500"/>
            <a:ext cx="3619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r">
              <a:defRPr sz="1200" b="0">
                <a:solidFill>
                  <a:srgbClr val="6B7280"/>
                </a:solidFill>
              </a:defRPr>
            </a:pPr>
            <a:r>
              <a:rPr sz="1200" b="0">
                <a:solidFill>
                  <a:srgbClr val="6B7280"/>
                </a:solidFill>
              </a:rPr>
              <a:t>3</a:t>
            </a:r>
          </a:p>
        </p:txBody>
      </p:sp>
      <p:cxnSp>
        <p:nvCxnSpPr>
          <p:cNvPr id="38" name="Straight Arrow Connector 37">
            <a:extLst>
              <a:ext uri="{FF2B5EF4-FFF2-40B4-BE49-F238E27FC236}">
                <a16:creationId xmlns:a16="http://schemas.microsoft.com/office/drawing/2014/main" id="{BF58E383-CADD-FCC4-242B-69C90302E04B}"/>
              </a:ext>
            </a:extLst>
          </p:cNvPr>
          <p:cNvCxnSpPr>
            <a:cxnSpLocks/>
          </p:cNvCxnSpPr>
          <p:nvPr/>
        </p:nvCxnSpPr>
        <p:spPr>
          <a:xfrm>
            <a:off x="5165034" y="4108174"/>
            <a:ext cx="1056862"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418607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E6F83CA-0DA7-4021-9906-375C15D4CA60}"/>
              </a:ext>
            </a:extLst>
          </p:cNvPr>
          <p:cNvSpPr>
            <a:spLocks noGrp="1"/>
          </p:cNvSpPr>
          <p:nvPr/>
        </p:nvSpPr>
        <p:spPr>
          <a:xfrm>
            <a:off x="609600" y="457200"/>
            <a:ext cx="1809750" cy="323850"/>
          </a:xfrm>
          <a:prstGeom prst="roundRect">
            <a:avLst>
              <a:gd name="adj" fmla="val 16667"/>
            </a:avLst>
          </a:prstGeom>
          <a:solidFill>
            <a:srgbClr val="DC2626"/>
          </a:solidFill>
          <a:ln w="0">
            <a:solidFill>
              <a:srgbClr val="DC2626"/>
            </a:solidFill>
            <a:prstDash val="solid"/>
          </a:ln>
        </p:spPr>
        <p:txBody>
          <a:bodyPr lIns="95250" tIns="28575" rIns="95250" bIns="28575" anchor="ctr"/>
          <a:lstStyle/>
          <a:p>
            <a:pPr algn="ctr">
              <a:defRPr sz="1050" b="1">
                <a:solidFill>
                  <a:srgbClr val="FAFAFA"/>
                </a:solidFill>
              </a:defRPr>
            </a:pPr>
            <a:r>
              <a:rPr sz="1050" b="1">
                <a:solidFill>
                  <a:srgbClr val="FAFAFA"/>
                </a:solidFill>
              </a:rPr>
              <a:t>WHO IT HELPS</a:t>
            </a:r>
          </a:p>
        </p:txBody>
      </p:sp>
      <p:sp>
        <p:nvSpPr>
          <p:cNvPr id="3" name="Rectangle 2">
            <a:extLst>
              <a:ext uri="{FF2B5EF4-FFF2-40B4-BE49-F238E27FC236}">
                <a16:creationId xmlns:a16="http://schemas.microsoft.com/office/drawing/2014/main" id="{518DC145-D8FC-4926-9250-2684172DEC70}"/>
              </a:ext>
            </a:extLst>
          </p:cNvPr>
          <p:cNvSpPr>
            <a:spLocks noGrp="1"/>
          </p:cNvSpPr>
          <p:nvPr/>
        </p:nvSpPr>
        <p:spPr>
          <a:xfrm>
            <a:off x="609600" y="914400"/>
            <a:ext cx="7429500" cy="8191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3450" b="1">
                <a:solidFill>
                  <a:srgbClr val="FAFAFA"/>
                </a:solidFill>
              </a:defRPr>
            </a:pPr>
            <a:r>
              <a:rPr sz="3450" b="1">
                <a:solidFill>
                  <a:srgbClr val="FAFAFA"/>
                </a:solidFill>
              </a:rPr>
              <a:t>The goal is a fairer conversation.</a:t>
            </a:r>
          </a:p>
        </p:txBody>
      </p:sp>
      <p:sp>
        <p:nvSpPr>
          <p:cNvPr id="4" name="Rectangle 3">
            <a:extLst>
              <a:ext uri="{FF2B5EF4-FFF2-40B4-BE49-F238E27FC236}">
                <a16:creationId xmlns:a16="http://schemas.microsoft.com/office/drawing/2014/main" id="{699B6A39-BAE5-4DCC-897D-6BB658DD7045}"/>
              </a:ext>
            </a:extLst>
          </p:cNvPr>
          <p:cNvSpPr>
            <a:spLocks noGrp="1"/>
          </p:cNvSpPr>
          <p:nvPr/>
        </p:nvSpPr>
        <p:spPr>
          <a:xfrm>
            <a:off x="628650" y="1752600"/>
            <a:ext cx="6858000" cy="4762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650" b="0">
                <a:solidFill>
                  <a:srgbClr val="D1D5DB"/>
                </a:solidFill>
              </a:defRPr>
            </a:pPr>
            <a:r>
              <a:rPr sz="1650" b="0">
                <a:solidFill>
                  <a:srgbClr val="D1D5DB"/>
                </a:solidFill>
              </a:rPr>
              <a:t>CarSight is built for people who need clarity before money changes hands.</a:t>
            </a:r>
          </a:p>
        </p:txBody>
      </p:sp>
      <p:sp>
        <p:nvSpPr>
          <p:cNvPr id="5" name="Rectangle: Rounded Corners 4">
            <a:extLst>
              <a:ext uri="{FF2B5EF4-FFF2-40B4-BE49-F238E27FC236}">
                <a16:creationId xmlns:a16="http://schemas.microsoft.com/office/drawing/2014/main" id="{E381252B-BC9B-486D-8F00-314F3D7DB006}"/>
              </a:ext>
            </a:extLst>
          </p:cNvPr>
          <p:cNvSpPr>
            <a:spLocks noGrp="1"/>
          </p:cNvSpPr>
          <p:nvPr/>
        </p:nvSpPr>
        <p:spPr>
          <a:xfrm>
            <a:off x="819150" y="2724150"/>
            <a:ext cx="3143250" cy="173355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6" name="Rectangle 5">
            <a:extLst>
              <a:ext uri="{FF2B5EF4-FFF2-40B4-BE49-F238E27FC236}">
                <a16:creationId xmlns:a16="http://schemas.microsoft.com/office/drawing/2014/main" id="{CB73904B-6877-4D59-8FB3-759FAF72C072}"/>
              </a:ext>
            </a:extLst>
          </p:cNvPr>
          <p:cNvSpPr>
            <a:spLocks noGrp="1"/>
          </p:cNvSpPr>
          <p:nvPr/>
        </p:nvSpPr>
        <p:spPr>
          <a:xfrm>
            <a:off x="819150" y="2724150"/>
            <a:ext cx="57150" cy="1733550"/>
          </a:xfrm>
          <a:prstGeom prst="rect">
            <a:avLst/>
          </a:prstGeom>
          <a:solidFill>
            <a:srgbClr val="DC2626"/>
          </a:solidFill>
          <a:ln w="0">
            <a:solidFill>
              <a:srgbClr val="DC2626"/>
            </a:solidFill>
            <a:prstDash val="solid"/>
          </a:ln>
        </p:spPr>
        <p:txBody>
          <a:bodyPr/>
          <a:lstStyle/>
          <a:p>
            <a:endParaRPr lang="en-US"/>
          </a:p>
        </p:txBody>
      </p:sp>
      <p:sp>
        <p:nvSpPr>
          <p:cNvPr id="7" name="Rectangle 6">
            <a:extLst>
              <a:ext uri="{FF2B5EF4-FFF2-40B4-BE49-F238E27FC236}">
                <a16:creationId xmlns:a16="http://schemas.microsoft.com/office/drawing/2014/main" id="{A3400BBF-2C1B-4FB4-92AD-6A829D4FB572}"/>
              </a:ext>
            </a:extLst>
          </p:cNvPr>
          <p:cNvSpPr>
            <a:spLocks noGrp="1"/>
          </p:cNvSpPr>
          <p:nvPr/>
        </p:nvSpPr>
        <p:spPr>
          <a:xfrm>
            <a:off x="1047750" y="2933700"/>
            <a:ext cx="27241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First-time buyers</a:t>
            </a:r>
          </a:p>
        </p:txBody>
      </p:sp>
      <p:sp>
        <p:nvSpPr>
          <p:cNvPr id="8" name="Rectangle 7">
            <a:extLst>
              <a:ext uri="{FF2B5EF4-FFF2-40B4-BE49-F238E27FC236}">
                <a16:creationId xmlns:a16="http://schemas.microsoft.com/office/drawing/2014/main" id="{05C2455D-5091-4210-85B5-89C1F68AFB63}"/>
              </a:ext>
            </a:extLst>
          </p:cNvPr>
          <p:cNvSpPr>
            <a:spLocks noGrp="1"/>
          </p:cNvSpPr>
          <p:nvPr/>
        </p:nvSpPr>
        <p:spPr>
          <a:xfrm>
            <a:off x="1047750" y="3314700"/>
            <a:ext cx="2724150" cy="9906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D1D5DB"/>
                </a:solidFill>
              </a:defRPr>
            </a:pPr>
            <a:r>
              <a:rPr sz="1350" b="0">
                <a:solidFill>
                  <a:srgbClr val="D1D5DB"/>
                </a:solidFill>
              </a:rPr>
              <a:t>People who do not know whether a damage description is normal, serious, or a negotiation point.</a:t>
            </a:r>
          </a:p>
        </p:txBody>
      </p:sp>
      <p:sp>
        <p:nvSpPr>
          <p:cNvPr id="9" name="Rectangle: Rounded Corners 8">
            <a:extLst>
              <a:ext uri="{FF2B5EF4-FFF2-40B4-BE49-F238E27FC236}">
                <a16:creationId xmlns:a16="http://schemas.microsoft.com/office/drawing/2014/main" id="{9032BE2C-32B5-431E-B9C3-F2DC38154DB1}"/>
              </a:ext>
            </a:extLst>
          </p:cNvPr>
          <p:cNvSpPr>
            <a:spLocks noGrp="1"/>
          </p:cNvSpPr>
          <p:nvPr/>
        </p:nvSpPr>
        <p:spPr>
          <a:xfrm>
            <a:off x="4533900" y="2724150"/>
            <a:ext cx="3143250" cy="173355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0" name="Rectangle 9">
            <a:extLst>
              <a:ext uri="{FF2B5EF4-FFF2-40B4-BE49-F238E27FC236}">
                <a16:creationId xmlns:a16="http://schemas.microsoft.com/office/drawing/2014/main" id="{0DF66406-D0FD-474E-B0B4-190B0EC74909}"/>
              </a:ext>
            </a:extLst>
          </p:cNvPr>
          <p:cNvSpPr>
            <a:spLocks noGrp="1"/>
          </p:cNvSpPr>
          <p:nvPr/>
        </p:nvSpPr>
        <p:spPr>
          <a:xfrm>
            <a:off x="4533900" y="2724150"/>
            <a:ext cx="57150" cy="1733550"/>
          </a:xfrm>
          <a:prstGeom prst="rect">
            <a:avLst/>
          </a:prstGeom>
          <a:solidFill>
            <a:srgbClr val="DC2626"/>
          </a:solidFill>
          <a:ln w="0">
            <a:solidFill>
              <a:srgbClr val="DC2626"/>
            </a:solidFill>
            <a:prstDash val="solid"/>
          </a:ln>
        </p:spPr>
        <p:txBody>
          <a:bodyPr/>
          <a:lstStyle/>
          <a:p>
            <a:endParaRPr lang="en-US"/>
          </a:p>
        </p:txBody>
      </p:sp>
      <p:sp>
        <p:nvSpPr>
          <p:cNvPr id="11" name="Rectangle 10">
            <a:extLst>
              <a:ext uri="{FF2B5EF4-FFF2-40B4-BE49-F238E27FC236}">
                <a16:creationId xmlns:a16="http://schemas.microsoft.com/office/drawing/2014/main" id="{5CF0C5B3-F653-4EBD-B5F6-4CD63E0253C7}"/>
              </a:ext>
            </a:extLst>
          </p:cNvPr>
          <p:cNvSpPr>
            <a:spLocks noGrp="1"/>
          </p:cNvSpPr>
          <p:nvPr/>
        </p:nvSpPr>
        <p:spPr>
          <a:xfrm>
            <a:off x="4762500" y="2933700"/>
            <a:ext cx="27241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Everyday sellers</a:t>
            </a:r>
          </a:p>
        </p:txBody>
      </p:sp>
      <p:sp>
        <p:nvSpPr>
          <p:cNvPr id="12" name="Rectangle 11">
            <a:extLst>
              <a:ext uri="{FF2B5EF4-FFF2-40B4-BE49-F238E27FC236}">
                <a16:creationId xmlns:a16="http://schemas.microsoft.com/office/drawing/2014/main" id="{31CDECFA-F0E9-49F9-8BE6-58751F10D287}"/>
              </a:ext>
            </a:extLst>
          </p:cNvPr>
          <p:cNvSpPr>
            <a:spLocks noGrp="1"/>
          </p:cNvSpPr>
          <p:nvPr/>
        </p:nvSpPr>
        <p:spPr>
          <a:xfrm>
            <a:off x="4762500" y="3314700"/>
            <a:ext cx="2724150" cy="9906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D1D5DB"/>
                </a:solidFill>
              </a:defRPr>
            </a:pPr>
            <a:r>
              <a:rPr sz="1350" b="0">
                <a:solidFill>
                  <a:srgbClr val="D1D5DB"/>
                </a:solidFill>
              </a:rPr>
              <a:t>People who want to price honestly without guessing too high or too low.</a:t>
            </a:r>
          </a:p>
        </p:txBody>
      </p:sp>
      <p:sp>
        <p:nvSpPr>
          <p:cNvPr id="13" name="Rectangle: Rounded Corners 12">
            <a:extLst>
              <a:ext uri="{FF2B5EF4-FFF2-40B4-BE49-F238E27FC236}">
                <a16:creationId xmlns:a16="http://schemas.microsoft.com/office/drawing/2014/main" id="{9BBBE551-9196-46EC-A00A-719B960FF133}"/>
              </a:ext>
            </a:extLst>
          </p:cNvPr>
          <p:cNvSpPr>
            <a:spLocks noGrp="1"/>
          </p:cNvSpPr>
          <p:nvPr/>
        </p:nvSpPr>
        <p:spPr>
          <a:xfrm>
            <a:off x="8248650" y="2724150"/>
            <a:ext cx="3143250" cy="173355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4" name="Rectangle 13">
            <a:extLst>
              <a:ext uri="{FF2B5EF4-FFF2-40B4-BE49-F238E27FC236}">
                <a16:creationId xmlns:a16="http://schemas.microsoft.com/office/drawing/2014/main" id="{B941240B-CC83-443B-8584-978938FD24B1}"/>
              </a:ext>
            </a:extLst>
          </p:cNvPr>
          <p:cNvSpPr>
            <a:spLocks noGrp="1"/>
          </p:cNvSpPr>
          <p:nvPr/>
        </p:nvSpPr>
        <p:spPr>
          <a:xfrm>
            <a:off x="8248650" y="2724150"/>
            <a:ext cx="57150" cy="1733550"/>
          </a:xfrm>
          <a:prstGeom prst="rect">
            <a:avLst/>
          </a:prstGeom>
          <a:solidFill>
            <a:srgbClr val="DC2626"/>
          </a:solidFill>
          <a:ln w="0">
            <a:solidFill>
              <a:srgbClr val="DC2626"/>
            </a:solidFill>
            <a:prstDash val="solid"/>
          </a:ln>
        </p:spPr>
        <p:txBody>
          <a:bodyPr/>
          <a:lstStyle/>
          <a:p>
            <a:endParaRPr lang="en-US"/>
          </a:p>
        </p:txBody>
      </p:sp>
      <p:sp>
        <p:nvSpPr>
          <p:cNvPr id="15" name="Rectangle 14">
            <a:extLst>
              <a:ext uri="{FF2B5EF4-FFF2-40B4-BE49-F238E27FC236}">
                <a16:creationId xmlns:a16="http://schemas.microsoft.com/office/drawing/2014/main" id="{153C97D9-5A7F-4C75-9A72-031F40CCF11F}"/>
              </a:ext>
            </a:extLst>
          </p:cNvPr>
          <p:cNvSpPr>
            <a:spLocks noGrp="1"/>
          </p:cNvSpPr>
          <p:nvPr/>
        </p:nvSpPr>
        <p:spPr>
          <a:xfrm>
            <a:off x="8477250" y="2933700"/>
            <a:ext cx="27241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Online marketplaces</a:t>
            </a:r>
          </a:p>
        </p:txBody>
      </p:sp>
      <p:sp>
        <p:nvSpPr>
          <p:cNvPr id="16" name="Rectangle 15">
            <a:extLst>
              <a:ext uri="{FF2B5EF4-FFF2-40B4-BE49-F238E27FC236}">
                <a16:creationId xmlns:a16="http://schemas.microsoft.com/office/drawing/2014/main" id="{9A375874-0BE3-43E7-8124-F25C4BC0BFB4}"/>
              </a:ext>
            </a:extLst>
          </p:cNvPr>
          <p:cNvSpPr>
            <a:spLocks noGrp="1"/>
          </p:cNvSpPr>
          <p:nvPr/>
        </p:nvSpPr>
        <p:spPr>
          <a:xfrm>
            <a:off x="8477250" y="3314700"/>
            <a:ext cx="2724150" cy="9906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D1D5DB"/>
                </a:solidFill>
              </a:defRPr>
            </a:pPr>
            <a:r>
              <a:rPr sz="1350" b="0">
                <a:solidFill>
                  <a:srgbClr val="D1D5DB"/>
                </a:solidFill>
              </a:rPr>
              <a:t>Platforms where better explanations can reduce confusion and build trust.</a:t>
            </a:r>
          </a:p>
        </p:txBody>
      </p:sp>
      <p:sp>
        <p:nvSpPr>
          <p:cNvPr id="17" name="Rectangle 16">
            <a:extLst>
              <a:ext uri="{FF2B5EF4-FFF2-40B4-BE49-F238E27FC236}">
                <a16:creationId xmlns:a16="http://schemas.microsoft.com/office/drawing/2014/main" id="{7BE10AE6-94C9-4335-A356-3835AE47EEEA}"/>
              </a:ext>
            </a:extLst>
          </p:cNvPr>
          <p:cNvSpPr>
            <a:spLocks noGrp="1"/>
          </p:cNvSpPr>
          <p:nvPr/>
        </p:nvSpPr>
        <p:spPr>
          <a:xfrm>
            <a:off x="1524000" y="5257800"/>
            <a:ext cx="9144000" cy="19050"/>
          </a:xfrm>
          <a:prstGeom prst="rect">
            <a:avLst/>
          </a:prstGeom>
          <a:solidFill>
            <a:srgbClr val="DC2626"/>
          </a:solidFill>
          <a:ln w="0">
            <a:solidFill>
              <a:srgbClr val="DC2626"/>
            </a:solidFill>
            <a:prstDash val="solid"/>
          </a:ln>
        </p:spPr>
        <p:txBody>
          <a:bodyPr/>
          <a:lstStyle/>
          <a:p>
            <a:endParaRPr lang="en-US"/>
          </a:p>
        </p:txBody>
      </p:sp>
      <p:sp>
        <p:nvSpPr>
          <p:cNvPr id="18" name="Rectangle 17">
            <a:extLst>
              <a:ext uri="{FF2B5EF4-FFF2-40B4-BE49-F238E27FC236}">
                <a16:creationId xmlns:a16="http://schemas.microsoft.com/office/drawing/2014/main" id="{1DD22E0A-B8F0-4D2E-8FFA-DFE57FCD1288}"/>
              </a:ext>
            </a:extLst>
          </p:cNvPr>
          <p:cNvSpPr>
            <a:spLocks noGrp="1"/>
          </p:cNvSpPr>
          <p:nvPr/>
        </p:nvSpPr>
        <p:spPr>
          <a:xfrm>
            <a:off x="1866900" y="5562600"/>
            <a:ext cx="8458200" cy="476250"/>
          </a:xfrm>
          <a:prstGeom prst="rect">
            <a:avLst/>
          </a:prstGeom>
          <a:solidFill>
            <a:srgbClr val="000000">
              <a:alpha val="0"/>
            </a:srgbClr>
          </a:solidFill>
          <a:ln w="0">
            <a:solidFill>
              <a:srgbClr val="000000">
                <a:alpha val="0"/>
              </a:srgbClr>
            </a:solidFill>
            <a:prstDash val="solid"/>
          </a:ln>
        </p:spPr>
        <p:txBody>
          <a:bodyPr lIns="0" tIns="0" rIns="0" bIns="0" anchor="t">
            <a:normAutofit fontScale="84266" lnSpcReduction="10000"/>
          </a:bodyPr>
          <a:lstStyle/>
          <a:p>
            <a:pPr algn="ctr">
              <a:defRPr sz="1875" b="1">
                <a:solidFill>
                  <a:srgbClr val="FAFAFA"/>
                </a:solidFill>
              </a:defRPr>
            </a:pPr>
            <a:r>
              <a:rPr sz="1875" b="1">
                <a:solidFill>
                  <a:srgbClr val="FAFAFA"/>
                </a:solidFill>
              </a:rPr>
              <a:t>If pricing is explained better, the conversation becomes less about pressure and more about evidence.</a:t>
            </a:r>
          </a:p>
        </p:txBody>
      </p:sp>
      <p:sp>
        <p:nvSpPr>
          <p:cNvPr id="19" name="Rectangle 18">
            <a:extLst>
              <a:ext uri="{FF2B5EF4-FFF2-40B4-BE49-F238E27FC236}">
                <a16:creationId xmlns:a16="http://schemas.microsoft.com/office/drawing/2014/main" id="{E4B9481E-F2B1-4165-9948-556A5FD73D27}"/>
              </a:ext>
            </a:extLst>
          </p:cNvPr>
          <p:cNvSpPr>
            <a:spLocks noGrp="1"/>
          </p:cNvSpPr>
          <p:nvPr/>
        </p:nvSpPr>
        <p:spPr>
          <a:xfrm>
            <a:off x="609600" y="6419850"/>
            <a:ext cx="1524000" cy="19050"/>
          </a:xfrm>
          <a:prstGeom prst="rect">
            <a:avLst/>
          </a:prstGeom>
          <a:solidFill>
            <a:srgbClr val="DC2626"/>
          </a:solidFill>
          <a:ln w="0">
            <a:solidFill>
              <a:srgbClr val="DC2626"/>
            </a:solidFill>
            <a:prstDash val="solid"/>
          </a:ln>
        </p:spPr>
        <p:txBody>
          <a:bodyPr/>
          <a:lstStyle/>
          <a:p>
            <a:endParaRPr lang="en-US"/>
          </a:p>
        </p:txBody>
      </p:sp>
      <p:sp>
        <p:nvSpPr>
          <p:cNvPr id="20" name="Rectangle 19">
            <a:extLst>
              <a:ext uri="{FF2B5EF4-FFF2-40B4-BE49-F238E27FC236}">
                <a16:creationId xmlns:a16="http://schemas.microsoft.com/office/drawing/2014/main" id="{F530505C-195D-432B-872C-EBFD9B67D2AA}"/>
              </a:ext>
            </a:extLst>
          </p:cNvPr>
          <p:cNvSpPr>
            <a:spLocks noGrp="1"/>
          </p:cNvSpPr>
          <p:nvPr/>
        </p:nvSpPr>
        <p:spPr>
          <a:xfrm>
            <a:off x="2266950" y="6315075"/>
            <a:ext cx="1714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050" b="0">
                <a:solidFill>
                  <a:srgbClr val="6B7280"/>
                </a:solidFill>
              </a:defRPr>
            </a:pPr>
            <a:r>
              <a:rPr sz="1050" b="0">
                <a:solidFill>
                  <a:srgbClr val="6B7280"/>
                </a:solidFill>
              </a:rPr>
              <a:t>CarSight AI</a:t>
            </a:r>
          </a:p>
        </p:txBody>
      </p:sp>
      <p:sp>
        <p:nvSpPr>
          <p:cNvPr id="21" name="Rectangle 20">
            <a:extLst>
              <a:ext uri="{FF2B5EF4-FFF2-40B4-BE49-F238E27FC236}">
                <a16:creationId xmlns:a16="http://schemas.microsoft.com/office/drawing/2014/main" id="{DABC7EBA-4CD1-473A-BFBD-B66653D367AF}"/>
              </a:ext>
            </a:extLst>
          </p:cNvPr>
          <p:cNvSpPr>
            <a:spLocks noGrp="1"/>
          </p:cNvSpPr>
          <p:nvPr/>
        </p:nvSpPr>
        <p:spPr>
          <a:xfrm>
            <a:off x="11315700" y="6286500"/>
            <a:ext cx="3619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r">
              <a:defRPr sz="1200" b="0">
                <a:solidFill>
                  <a:srgbClr val="6B7280"/>
                </a:solidFill>
              </a:defRPr>
            </a:pPr>
            <a:r>
              <a:rPr sz="1200" b="0">
                <a:solidFill>
                  <a:srgbClr val="6B7280"/>
                </a:solidFill>
              </a:rPr>
              <a:t>4</a:t>
            </a:r>
          </a:p>
        </p:txBody>
      </p:sp>
    </p:spTree>
    <p:extLst>
      <p:ext uri="{BB962C8B-B14F-4D97-AF65-F5344CB8AC3E}">
        <p14:creationId xmlns:p14="http://schemas.microsoft.com/office/powerpoint/2010/main" val="154841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6B3D14E-AB09-497D-A211-194F0527441B}"/>
              </a:ext>
            </a:extLst>
          </p:cNvPr>
          <p:cNvSpPr>
            <a:spLocks noGrp="1"/>
          </p:cNvSpPr>
          <p:nvPr/>
        </p:nvSpPr>
        <p:spPr>
          <a:xfrm>
            <a:off x="609600" y="457200"/>
            <a:ext cx="1809750" cy="323850"/>
          </a:xfrm>
          <a:prstGeom prst="roundRect">
            <a:avLst>
              <a:gd name="adj" fmla="val 16667"/>
            </a:avLst>
          </a:prstGeom>
          <a:solidFill>
            <a:srgbClr val="DC2626"/>
          </a:solidFill>
          <a:ln w="0">
            <a:solidFill>
              <a:srgbClr val="DC2626"/>
            </a:solidFill>
            <a:prstDash val="solid"/>
          </a:ln>
        </p:spPr>
        <p:txBody>
          <a:bodyPr lIns="95250" tIns="28575" rIns="95250" bIns="28575" anchor="ctr"/>
          <a:lstStyle/>
          <a:p>
            <a:pPr algn="ctr">
              <a:defRPr sz="1050" b="1">
                <a:solidFill>
                  <a:srgbClr val="FAFAFA"/>
                </a:solidFill>
              </a:defRPr>
            </a:pPr>
            <a:r>
              <a:rPr sz="1050" b="1">
                <a:solidFill>
                  <a:srgbClr val="FAFAFA"/>
                </a:solidFill>
              </a:rPr>
              <a:t>THE SYSTEM</a:t>
            </a:r>
          </a:p>
        </p:txBody>
      </p:sp>
      <p:sp>
        <p:nvSpPr>
          <p:cNvPr id="3" name="Rectangle 2">
            <a:extLst>
              <a:ext uri="{FF2B5EF4-FFF2-40B4-BE49-F238E27FC236}">
                <a16:creationId xmlns:a16="http://schemas.microsoft.com/office/drawing/2014/main" id="{D23AA1CA-D1DF-4ABC-8547-6B77C44C5A96}"/>
              </a:ext>
            </a:extLst>
          </p:cNvPr>
          <p:cNvSpPr>
            <a:spLocks noGrp="1"/>
          </p:cNvSpPr>
          <p:nvPr/>
        </p:nvSpPr>
        <p:spPr>
          <a:xfrm>
            <a:off x="609600" y="914400"/>
            <a:ext cx="7429500" cy="819150"/>
          </a:xfrm>
          <a:prstGeom prst="rect">
            <a:avLst/>
          </a:prstGeom>
          <a:solidFill>
            <a:srgbClr val="000000">
              <a:alpha val="0"/>
            </a:srgbClr>
          </a:solidFill>
          <a:ln w="0">
            <a:solidFill>
              <a:srgbClr val="000000">
                <a:alpha val="0"/>
              </a:srgbClr>
            </a:solidFill>
            <a:prstDash val="solid"/>
          </a:ln>
        </p:spPr>
        <p:txBody>
          <a:bodyPr lIns="0" tIns="0" rIns="0" bIns="0" anchor="t">
            <a:normAutofit fontScale="91905" lnSpcReduction="20000"/>
          </a:bodyPr>
          <a:lstStyle/>
          <a:p>
            <a:pPr algn="l">
              <a:defRPr sz="3450" b="1">
                <a:solidFill>
                  <a:srgbClr val="FAFAFA"/>
                </a:solidFill>
              </a:defRPr>
            </a:pPr>
            <a:r>
              <a:rPr sz="3450" b="1" dirty="0">
                <a:solidFill>
                  <a:srgbClr val="FAFAFA"/>
                </a:solidFill>
              </a:rPr>
              <a:t>What I built: a pricing support prototype.</a:t>
            </a:r>
          </a:p>
        </p:txBody>
      </p:sp>
      <p:sp>
        <p:nvSpPr>
          <p:cNvPr id="4" name="Rectangle 3">
            <a:extLst>
              <a:ext uri="{FF2B5EF4-FFF2-40B4-BE49-F238E27FC236}">
                <a16:creationId xmlns:a16="http://schemas.microsoft.com/office/drawing/2014/main" id="{6D8A253D-975D-489C-A13B-AB03CB959D6E}"/>
              </a:ext>
            </a:extLst>
          </p:cNvPr>
          <p:cNvSpPr>
            <a:spLocks noGrp="1"/>
          </p:cNvSpPr>
          <p:nvPr/>
        </p:nvSpPr>
        <p:spPr>
          <a:xfrm>
            <a:off x="609600" y="1985962"/>
            <a:ext cx="6858000" cy="476250"/>
          </a:xfrm>
          <a:prstGeom prst="rect">
            <a:avLst/>
          </a:prstGeom>
          <a:solidFill>
            <a:srgbClr val="000000">
              <a:alpha val="0"/>
            </a:srgbClr>
          </a:solidFill>
          <a:ln w="0">
            <a:solidFill>
              <a:srgbClr val="000000">
                <a:alpha val="0"/>
              </a:srgbClr>
            </a:solidFill>
            <a:prstDash val="solid"/>
          </a:ln>
        </p:spPr>
        <p:txBody>
          <a:bodyPr lIns="0" tIns="0" rIns="0" bIns="0" anchor="t">
            <a:normAutofit fontScale="93091"/>
          </a:bodyPr>
          <a:lstStyle/>
          <a:p>
            <a:pPr algn="l">
              <a:defRPr sz="1650" b="0">
                <a:solidFill>
                  <a:srgbClr val="D1D5DB"/>
                </a:solidFill>
              </a:defRPr>
            </a:pPr>
            <a:r>
              <a:rPr sz="1650" b="0" dirty="0">
                <a:solidFill>
                  <a:srgbClr val="D1D5DB"/>
                </a:solidFill>
              </a:rPr>
              <a:t>It connects text analysis, structured car data, a pricing model, and plain-language explanations.</a:t>
            </a:r>
          </a:p>
        </p:txBody>
      </p:sp>
      <p:sp>
        <p:nvSpPr>
          <p:cNvPr id="5" name="Rectangle: Rounded Corners 4">
            <a:extLst>
              <a:ext uri="{FF2B5EF4-FFF2-40B4-BE49-F238E27FC236}">
                <a16:creationId xmlns:a16="http://schemas.microsoft.com/office/drawing/2014/main" id="{0C5294BD-DDF5-43DE-83A3-4115BFF929D3}"/>
              </a:ext>
            </a:extLst>
          </p:cNvPr>
          <p:cNvSpPr>
            <a:spLocks noGrp="1"/>
          </p:cNvSpPr>
          <p:nvPr/>
        </p:nvSpPr>
        <p:spPr>
          <a:xfrm>
            <a:off x="800100" y="2857500"/>
            <a:ext cx="2266950" cy="2000250"/>
          </a:xfrm>
          <a:prstGeom prst="roundRect">
            <a:avLst>
              <a:gd name="adj" fmla="val 10000"/>
            </a:avLst>
          </a:prstGeom>
          <a:solidFill>
            <a:srgbClr val="1F2937"/>
          </a:solidFill>
          <a:ln w="9525">
            <a:solidFill>
              <a:srgbClr val="334155"/>
            </a:solidFill>
            <a:prstDash val="solid"/>
          </a:ln>
        </p:spPr>
        <p:txBody>
          <a:bodyPr/>
          <a:lstStyle/>
          <a:p>
            <a:endParaRPr lang="en-US"/>
          </a:p>
        </p:txBody>
      </p:sp>
      <p:sp>
        <p:nvSpPr>
          <p:cNvPr id="6" name="Rectangle 5">
            <a:extLst>
              <a:ext uri="{FF2B5EF4-FFF2-40B4-BE49-F238E27FC236}">
                <a16:creationId xmlns:a16="http://schemas.microsoft.com/office/drawing/2014/main" id="{748189C8-2147-4780-94C1-D05A672D5B9F}"/>
              </a:ext>
            </a:extLst>
          </p:cNvPr>
          <p:cNvSpPr>
            <a:spLocks noGrp="1"/>
          </p:cNvSpPr>
          <p:nvPr/>
        </p:nvSpPr>
        <p:spPr>
          <a:xfrm>
            <a:off x="1009650" y="3067050"/>
            <a:ext cx="66675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2550" b="1">
                <a:solidFill>
                  <a:srgbClr val="DC2626"/>
                </a:solidFill>
              </a:defRPr>
            </a:pPr>
            <a:r>
              <a:rPr sz="2550" b="1">
                <a:solidFill>
                  <a:srgbClr val="DC2626"/>
                </a:solidFill>
              </a:rPr>
              <a:t>01</a:t>
            </a:r>
          </a:p>
        </p:txBody>
      </p:sp>
      <p:sp>
        <p:nvSpPr>
          <p:cNvPr id="7" name="Rectangle 6">
            <a:extLst>
              <a:ext uri="{FF2B5EF4-FFF2-40B4-BE49-F238E27FC236}">
                <a16:creationId xmlns:a16="http://schemas.microsoft.com/office/drawing/2014/main" id="{7335E6B4-3A8E-40A9-92E9-95AF6CC328B7}"/>
              </a:ext>
            </a:extLst>
          </p:cNvPr>
          <p:cNvSpPr>
            <a:spLocks noGrp="1"/>
          </p:cNvSpPr>
          <p:nvPr/>
        </p:nvSpPr>
        <p:spPr>
          <a:xfrm>
            <a:off x="1009650" y="3562350"/>
            <a:ext cx="1600200" cy="285750"/>
          </a:xfrm>
          <a:prstGeom prst="rect">
            <a:avLst/>
          </a:prstGeom>
          <a:solidFill>
            <a:srgbClr val="000000">
              <a:alpha val="0"/>
            </a:srgbClr>
          </a:solidFill>
          <a:ln w="0">
            <a:solidFill>
              <a:srgbClr val="000000">
                <a:alpha val="0"/>
              </a:srgbClr>
            </a:solidFill>
            <a:prstDash val="solid"/>
          </a:ln>
        </p:spPr>
        <p:txBody>
          <a:bodyPr lIns="0" tIns="0" rIns="0" bIns="0" anchor="t">
            <a:normAutofit fontScale="98304"/>
          </a:bodyPr>
          <a:lstStyle/>
          <a:p>
            <a:pPr algn="l">
              <a:defRPr sz="1875" b="1">
                <a:solidFill>
                  <a:srgbClr val="FAFAFA"/>
                </a:solidFill>
              </a:defRPr>
            </a:pPr>
            <a:r>
              <a:rPr sz="1875" b="1">
                <a:solidFill>
                  <a:srgbClr val="FAFAFA"/>
                </a:solidFill>
              </a:rPr>
              <a:t>Input</a:t>
            </a:r>
          </a:p>
        </p:txBody>
      </p:sp>
      <p:sp>
        <p:nvSpPr>
          <p:cNvPr id="8" name="Rectangle 7">
            <a:extLst>
              <a:ext uri="{FF2B5EF4-FFF2-40B4-BE49-F238E27FC236}">
                <a16:creationId xmlns:a16="http://schemas.microsoft.com/office/drawing/2014/main" id="{4125DF64-9B26-4658-93E1-66EB1BA8063E}"/>
              </a:ext>
            </a:extLst>
          </p:cNvPr>
          <p:cNvSpPr>
            <a:spLocks noGrp="1"/>
          </p:cNvSpPr>
          <p:nvPr/>
        </p:nvSpPr>
        <p:spPr>
          <a:xfrm>
            <a:off x="1009650" y="4000500"/>
            <a:ext cx="1809750" cy="647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275" b="0">
                <a:solidFill>
                  <a:srgbClr val="D1D5DB"/>
                </a:solidFill>
              </a:defRPr>
            </a:pPr>
            <a:r>
              <a:rPr sz="1275" b="0">
                <a:solidFill>
                  <a:srgbClr val="D1D5DB"/>
                </a:solidFill>
              </a:rPr>
              <a:t>Vehicle fields plus the seller's damage description.</a:t>
            </a:r>
          </a:p>
        </p:txBody>
      </p:sp>
      <p:sp>
        <p:nvSpPr>
          <p:cNvPr id="10" name="Rectangle: Rounded Corners 9">
            <a:extLst>
              <a:ext uri="{FF2B5EF4-FFF2-40B4-BE49-F238E27FC236}">
                <a16:creationId xmlns:a16="http://schemas.microsoft.com/office/drawing/2014/main" id="{936F0AE4-1185-420F-B73A-A9A64D6EC267}"/>
              </a:ext>
            </a:extLst>
          </p:cNvPr>
          <p:cNvSpPr>
            <a:spLocks noGrp="1"/>
          </p:cNvSpPr>
          <p:nvPr/>
        </p:nvSpPr>
        <p:spPr>
          <a:xfrm>
            <a:off x="3657600" y="2857500"/>
            <a:ext cx="2266950" cy="2000250"/>
          </a:xfrm>
          <a:prstGeom prst="roundRect">
            <a:avLst>
              <a:gd name="adj" fmla="val 10000"/>
            </a:avLst>
          </a:prstGeom>
          <a:solidFill>
            <a:srgbClr val="1F2937"/>
          </a:solidFill>
          <a:ln w="9525">
            <a:solidFill>
              <a:srgbClr val="334155"/>
            </a:solidFill>
            <a:prstDash val="solid"/>
          </a:ln>
        </p:spPr>
        <p:txBody>
          <a:bodyPr/>
          <a:lstStyle/>
          <a:p>
            <a:endParaRPr lang="en-US"/>
          </a:p>
        </p:txBody>
      </p:sp>
      <p:sp>
        <p:nvSpPr>
          <p:cNvPr id="11" name="Rectangle 10">
            <a:extLst>
              <a:ext uri="{FF2B5EF4-FFF2-40B4-BE49-F238E27FC236}">
                <a16:creationId xmlns:a16="http://schemas.microsoft.com/office/drawing/2014/main" id="{3BE502D5-135F-427F-8D42-F3EDA3FD3337}"/>
              </a:ext>
            </a:extLst>
          </p:cNvPr>
          <p:cNvSpPr>
            <a:spLocks noGrp="1"/>
          </p:cNvSpPr>
          <p:nvPr/>
        </p:nvSpPr>
        <p:spPr>
          <a:xfrm>
            <a:off x="3867150" y="3067050"/>
            <a:ext cx="66675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2550" b="1">
                <a:solidFill>
                  <a:srgbClr val="DC2626"/>
                </a:solidFill>
              </a:defRPr>
            </a:pPr>
            <a:r>
              <a:rPr sz="2550" b="1">
                <a:solidFill>
                  <a:srgbClr val="DC2626"/>
                </a:solidFill>
              </a:rPr>
              <a:t>02</a:t>
            </a:r>
          </a:p>
        </p:txBody>
      </p:sp>
      <p:sp>
        <p:nvSpPr>
          <p:cNvPr id="12" name="Rectangle 11">
            <a:extLst>
              <a:ext uri="{FF2B5EF4-FFF2-40B4-BE49-F238E27FC236}">
                <a16:creationId xmlns:a16="http://schemas.microsoft.com/office/drawing/2014/main" id="{FD9542E9-F9FA-4B7A-9775-8E175022E4BA}"/>
              </a:ext>
            </a:extLst>
          </p:cNvPr>
          <p:cNvSpPr>
            <a:spLocks noGrp="1"/>
          </p:cNvSpPr>
          <p:nvPr/>
        </p:nvSpPr>
        <p:spPr>
          <a:xfrm>
            <a:off x="3867150" y="3562350"/>
            <a:ext cx="1600200" cy="285750"/>
          </a:xfrm>
          <a:prstGeom prst="rect">
            <a:avLst/>
          </a:prstGeom>
          <a:solidFill>
            <a:srgbClr val="000000">
              <a:alpha val="0"/>
            </a:srgbClr>
          </a:solidFill>
          <a:ln w="0">
            <a:solidFill>
              <a:srgbClr val="000000">
                <a:alpha val="0"/>
              </a:srgbClr>
            </a:solidFill>
            <a:prstDash val="solid"/>
          </a:ln>
        </p:spPr>
        <p:txBody>
          <a:bodyPr lIns="0" tIns="0" rIns="0" bIns="0" anchor="t">
            <a:normAutofit fontScale="98304"/>
          </a:bodyPr>
          <a:lstStyle/>
          <a:p>
            <a:pPr algn="l">
              <a:defRPr sz="1875" b="1">
                <a:solidFill>
                  <a:srgbClr val="FAFAFA"/>
                </a:solidFill>
              </a:defRPr>
            </a:pPr>
            <a:r>
              <a:rPr sz="1875" b="1">
                <a:solidFill>
                  <a:srgbClr val="FAFAFA"/>
                </a:solidFill>
              </a:rPr>
              <a:t>NLP</a:t>
            </a:r>
          </a:p>
        </p:txBody>
      </p:sp>
      <p:sp>
        <p:nvSpPr>
          <p:cNvPr id="13" name="Rectangle 12">
            <a:extLst>
              <a:ext uri="{FF2B5EF4-FFF2-40B4-BE49-F238E27FC236}">
                <a16:creationId xmlns:a16="http://schemas.microsoft.com/office/drawing/2014/main" id="{41D2222B-433C-47E0-BEEA-597DE2F84B2E}"/>
              </a:ext>
            </a:extLst>
          </p:cNvPr>
          <p:cNvSpPr>
            <a:spLocks noGrp="1"/>
          </p:cNvSpPr>
          <p:nvPr/>
        </p:nvSpPr>
        <p:spPr>
          <a:xfrm>
            <a:off x="3867150" y="4000500"/>
            <a:ext cx="1809750" cy="647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275" b="0">
                <a:solidFill>
                  <a:srgbClr val="D1D5DB"/>
                </a:solidFill>
              </a:defRPr>
            </a:pPr>
            <a:r>
              <a:rPr sz="1275" b="0">
                <a:solidFill>
                  <a:srgbClr val="D1D5DB"/>
                </a:solidFill>
              </a:rPr>
              <a:t>Clean text, extract damage terms, classify type and severity.</a:t>
            </a:r>
          </a:p>
        </p:txBody>
      </p:sp>
      <p:sp>
        <p:nvSpPr>
          <p:cNvPr id="15" name="Rectangle: Rounded Corners 14">
            <a:extLst>
              <a:ext uri="{FF2B5EF4-FFF2-40B4-BE49-F238E27FC236}">
                <a16:creationId xmlns:a16="http://schemas.microsoft.com/office/drawing/2014/main" id="{0F2C87F1-A7FC-4367-9EE3-88E448AFFCDF}"/>
              </a:ext>
            </a:extLst>
          </p:cNvPr>
          <p:cNvSpPr>
            <a:spLocks noGrp="1"/>
          </p:cNvSpPr>
          <p:nvPr/>
        </p:nvSpPr>
        <p:spPr>
          <a:xfrm>
            <a:off x="6515100" y="2857500"/>
            <a:ext cx="2266950" cy="2000250"/>
          </a:xfrm>
          <a:prstGeom prst="roundRect">
            <a:avLst>
              <a:gd name="adj" fmla="val 10000"/>
            </a:avLst>
          </a:prstGeom>
          <a:solidFill>
            <a:srgbClr val="1F2937"/>
          </a:solidFill>
          <a:ln w="9525">
            <a:solidFill>
              <a:srgbClr val="334155"/>
            </a:solidFill>
            <a:prstDash val="solid"/>
          </a:ln>
        </p:spPr>
        <p:txBody>
          <a:bodyPr/>
          <a:lstStyle/>
          <a:p>
            <a:endParaRPr lang="en-US"/>
          </a:p>
        </p:txBody>
      </p:sp>
      <p:sp>
        <p:nvSpPr>
          <p:cNvPr id="16" name="Rectangle 15">
            <a:extLst>
              <a:ext uri="{FF2B5EF4-FFF2-40B4-BE49-F238E27FC236}">
                <a16:creationId xmlns:a16="http://schemas.microsoft.com/office/drawing/2014/main" id="{E1C64AD6-6A94-4398-B3F7-9F891233E13D}"/>
              </a:ext>
            </a:extLst>
          </p:cNvPr>
          <p:cNvSpPr>
            <a:spLocks noGrp="1"/>
          </p:cNvSpPr>
          <p:nvPr/>
        </p:nvSpPr>
        <p:spPr>
          <a:xfrm>
            <a:off x="6724650" y="3067050"/>
            <a:ext cx="66675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2550" b="1">
                <a:solidFill>
                  <a:srgbClr val="DC2626"/>
                </a:solidFill>
              </a:defRPr>
            </a:pPr>
            <a:r>
              <a:rPr sz="2550" b="1">
                <a:solidFill>
                  <a:srgbClr val="DC2626"/>
                </a:solidFill>
              </a:rPr>
              <a:t>03</a:t>
            </a:r>
          </a:p>
        </p:txBody>
      </p:sp>
      <p:sp>
        <p:nvSpPr>
          <p:cNvPr id="17" name="Rectangle 16">
            <a:extLst>
              <a:ext uri="{FF2B5EF4-FFF2-40B4-BE49-F238E27FC236}">
                <a16:creationId xmlns:a16="http://schemas.microsoft.com/office/drawing/2014/main" id="{F691360F-05CA-43BF-82A2-FCAB436E3913}"/>
              </a:ext>
            </a:extLst>
          </p:cNvPr>
          <p:cNvSpPr>
            <a:spLocks noGrp="1"/>
          </p:cNvSpPr>
          <p:nvPr/>
        </p:nvSpPr>
        <p:spPr>
          <a:xfrm>
            <a:off x="6724650" y="3562350"/>
            <a:ext cx="1600200" cy="285750"/>
          </a:xfrm>
          <a:prstGeom prst="rect">
            <a:avLst/>
          </a:prstGeom>
          <a:solidFill>
            <a:srgbClr val="000000">
              <a:alpha val="0"/>
            </a:srgbClr>
          </a:solidFill>
          <a:ln w="0">
            <a:solidFill>
              <a:srgbClr val="000000">
                <a:alpha val="0"/>
              </a:srgbClr>
            </a:solidFill>
            <a:prstDash val="solid"/>
          </a:ln>
        </p:spPr>
        <p:txBody>
          <a:bodyPr lIns="0" tIns="0" rIns="0" bIns="0" anchor="t">
            <a:normAutofit fontScale="98304"/>
          </a:bodyPr>
          <a:lstStyle/>
          <a:p>
            <a:pPr algn="l">
              <a:defRPr sz="1875" b="1">
                <a:solidFill>
                  <a:srgbClr val="FAFAFA"/>
                </a:solidFill>
              </a:defRPr>
            </a:pPr>
            <a:r>
              <a:rPr sz="1875" b="1">
                <a:solidFill>
                  <a:srgbClr val="FAFAFA"/>
                </a:solidFill>
              </a:rPr>
              <a:t>Model</a:t>
            </a:r>
          </a:p>
        </p:txBody>
      </p:sp>
      <p:sp>
        <p:nvSpPr>
          <p:cNvPr id="18" name="Rectangle 17">
            <a:extLst>
              <a:ext uri="{FF2B5EF4-FFF2-40B4-BE49-F238E27FC236}">
                <a16:creationId xmlns:a16="http://schemas.microsoft.com/office/drawing/2014/main" id="{DE0C3783-37F5-435D-8AA1-55B5F3AC5140}"/>
              </a:ext>
            </a:extLst>
          </p:cNvPr>
          <p:cNvSpPr>
            <a:spLocks noGrp="1"/>
          </p:cNvSpPr>
          <p:nvPr/>
        </p:nvSpPr>
        <p:spPr>
          <a:xfrm>
            <a:off x="6724650" y="4000500"/>
            <a:ext cx="1809750" cy="647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275" b="0">
                <a:solidFill>
                  <a:srgbClr val="D1D5DB"/>
                </a:solidFill>
              </a:defRPr>
            </a:pPr>
            <a:r>
              <a:rPr sz="1275" b="0">
                <a:solidFill>
                  <a:srgbClr val="D1D5DB"/>
                </a:solidFill>
              </a:rPr>
              <a:t>Combine structured features with text-derived signals.</a:t>
            </a:r>
          </a:p>
        </p:txBody>
      </p:sp>
      <p:sp>
        <p:nvSpPr>
          <p:cNvPr id="20" name="Rectangle: Rounded Corners 19">
            <a:extLst>
              <a:ext uri="{FF2B5EF4-FFF2-40B4-BE49-F238E27FC236}">
                <a16:creationId xmlns:a16="http://schemas.microsoft.com/office/drawing/2014/main" id="{BBF67097-1D8A-490F-8F4C-B08C89722EDE}"/>
              </a:ext>
            </a:extLst>
          </p:cNvPr>
          <p:cNvSpPr>
            <a:spLocks noGrp="1"/>
          </p:cNvSpPr>
          <p:nvPr/>
        </p:nvSpPr>
        <p:spPr>
          <a:xfrm>
            <a:off x="9372600" y="2857500"/>
            <a:ext cx="2266950" cy="2000250"/>
          </a:xfrm>
          <a:prstGeom prst="roundRect">
            <a:avLst>
              <a:gd name="adj" fmla="val 10000"/>
            </a:avLst>
          </a:prstGeom>
          <a:solidFill>
            <a:srgbClr val="1F2937"/>
          </a:solidFill>
          <a:ln w="9525">
            <a:solidFill>
              <a:srgbClr val="334155"/>
            </a:solidFill>
            <a:prstDash val="solid"/>
          </a:ln>
        </p:spPr>
        <p:txBody>
          <a:bodyPr/>
          <a:lstStyle/>
          <a:p>
            <a:endParaRPr lang="en-US"/>
          </a:p>
        </p:txBody>
      </p:sp>
      <p:sp>
        <p:nvSpPr>
          <p:cNvPr id="21" name="Rectangle 20">
            <a:extLst>
              <a:ext uri="{FF2B5EF4-FFF2-40B4-BE49-F238E27FC236}">
                <a16:creationId xmlns:a16="http://schemas.microsoft.com/office/drawing/2014/main" id="{5C9A679E-5805-4B3A-A696-1A26C52FBA9F}"/>
              </a:ext>
            </a:extLst>
          </p:cNvPr>
          <p:cNvSpPr>
            <a:spLocks noGrp="1"/>
          </p:cNvSpPr>
          <p:nvPr/>
        </p:nvSpPr>
        <p:spPr>
          <a:xfrm>
            <a:off x="9582150" y="3067050"/>
            <a:ext cx="666750" cy="4000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2550" b="1">
                <a:solidFill>
                  <a:srgbClr val="DC2626"/>
                </a:solidFill>
              </a:defRPr>
            </a:pPr>
            <a:r>
              <a:rPr sz="2550" b="1">
                <a:solidFill>
                  <a:srgbClr val="DC2626"/>
                </a:solidFill>
              </a:rPr>
              <a:t>04</a:t>
            </a:r>
          </a:p>
        </p:txBody>
      </p:sp>
      <p:sp>
        <p:nvSpPr>
          <p:cNvPr id="22" name="Rectangle 21">
            <a:extLst>
              <a:ext uri="{FF2B5EF4-FFF2-40B4-BE49-F238E27FC236}">
                <a16:creationId xmlns:a16="http://schemas.microsoft.com/office/drawing/2014/main" id="{2336347A-5E0D-44DB-936A-620977512242}"/>
              </a:ext>
            </a:extLst>
          </p:cNvPr>
          <p:cNvSpPr>
            <a:spLocks noGrp="1"/>
          </p:cNvSpPr>
          <p:nvPr/>
        </p:nvSpPr>
        <p:spPr>
          <a:xfrm>
            <a:off x="9582150" y="3562350"/>
            <a:ext cx="1600200" cy="285750"/>
          </a:xfrm>
          <a:prstGeom prst="rect">
            <a:avLst/>
          </a:prstGeom>
          <a:solidFill>
            <a:srgbClr val="000000">
              <a:alpha val="0"/>
            </a:srgbClr>
          </a:solidFill>
          <a:ln w="0">
            <a:solidFill>
              <a:srgbClr val="000000">
                <a:alpha val="0"/>
              </a:srgbClr>
            </a:solidFill>
            <a:prstDash val="solid"/>
          </a:ln>
        </p:spPr>
        <p:txBody>
          <a:bodyPr lIns="0" tIns="0" rIns="0" bIns="0" anchor="t">
            <a:normAutofit fontScale="98304"/>
          </a:bodyPr>
          <a:lstStyle/>
          <a:p>
            <a:pPr algn="l">
              <a:defRPr sz="1875" b="1">
                <a:solidFill>
                  <a:srgbClr val="FAFAFA"/>
                </a:solidFill>
              </a:defRPr>
            </a:pPr>
            <a:r>
              <a:rPr sz="1875" b="1">
                <a:solidFill>
                  <a:srgbClr val="FAFAFA"/>
                </a:solidFill>
              </a:rPr>
              <a:t>Explain</a:t>
            </a:r>
          </a:p>
        </p:txBody>
      </p:sp>
      <p:sp>
        <p:nvSpPr>
          <p:cNvPr id="23" name="Rectangle 22">
            <a:extLst>
              <a:ext uri="{FF2B5EF4-FFF2-40B4-BE49-F238E27FC236}">
                <a16:creationId xmlns:a16="http://schemas.microsoft.com/office/drawing/2014/main" id="{CD3610B6-65FB-434A-BC60-35D4C3289C40}"/>
              </a:ext>
            </a:extLst>
          </p:cNvPr>
          <p:cNvSpPr>
            <a:spLocks noGrp="1"/>
          </p:cNvSpPr>
          <p:nvPr/>
        </p:nvSpPr>
        <p:spPr>
          <a:xfrm>
            <a:off x="9582150" y="4000500"/>
            <a:ext cx="1809750" cy="647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275" b="0">
                <a:solidFill>
                  <a:srgbClr val="D1D5DB"/>
                </a:solidFill>
              </a:defRPr>
            </a:pPr>
            <a:r>
              <a:rPr sz="1275" b="0">
                <a:solidFill>
                  <a:srgbClr val="D1D5DB"/>
                </a:solidFill>
              </a:rPr>
              <a:t>Return a price range and show what changed the estimate.</a:t>
            </a:r>
          </a:p>
        </p:txBody>
      </p:sp>
      <p:sp>
        <p:nvSpPr>
          <p:cNvPr id="24" name="Rectangle 23">
            <a:extLst>
              <a:ext uri="{FF2B5EF4-FFF2-40B4-BE49-F238E27FC236}">
                <a16:creationId xmlns:a16="http://schemas.microsoft.com/office/drawing/2014/main" id="{CBDB4855-EBEF-4100-882C-2A4F17BBAFE2}"/>
              </a:ext>
            </a:extLst>
          </p:cNvPr>
          <p:cNvSpPr>
            <a:spLocks noGrp="1"/>
          </p:cNvSpPr>
          <p:nvPr/>
        </p:nvSpPr>
        <p:spPr>
          <a:xfrm>
            <a:off x="2476500" y="5524500"/>
            <a:ext cx="7239000" cy="4191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2250" b="1">
                <a:solidFill>
                  <a:srgbClr val="FAFAFA"/>
                </a:solidFill>
              </a:defRPr>
            </a:pPr>
            <a:r>
              <a:rPr sz="2250" b="1">
                <a:solidFill>
                  <a:srgbClr val="FAFAFA"/>
                </a:solidFill>
              </a:rPr>
              <a:t>Output: a range, not a single magic number.</a:t>
            </a:r>
          </a:p>
        </p:txBody>
      </p:sp>
      <p:sp>
        <p:nvSpPr>
          <p:cNvPr id="25" name="Rectangle 24">
            <a:extLst>
              <a:ext uri="{FF2B5EF4-FFF2-40B4-BE49-F238E27FC236}">
                <a16:creationId xmlns:a16="http://schemas.microsoft.com/office/drawing/2014/main" id="{B47260DE-12FF-40A0-AC3A-6BFE958E4946}"/>
              </a:ext>
            </a:extLst>
          </p:cNvPr>
          <p:cNvSpPr>
            <a:spLocks noGrp="1"/>
          </p:cNvSpPr>
          <p:nvPr/>
        </p:nvSpPr>
        <p:spPr>
          <a:xfrm>
            <a:off x="609600" y="6419850"/>
            <a:ext cx="1524000" cy="19050"/>
          </a:xfrm>
          <a:prstGeom prst="rect">
            <a:avLst/>
          </a:prstGeom>
          <a:solidFill>
            <a:srgbClr val="DC2626"/>
          </a:solidFill>
          <a:ln w="0">
            <a:solidFill>
              <a:srgbClr val="DC2626"/>
            </a:solidFill>
            <a:prstDash val="solid"/>
          </a:ln>
        </p:spPr>
        <p:txBody>
          <a:bodyPr/>
          <a:lstStyle/>
          <a:p>
            <a:endParaRPr lang="en-US"/>
          </a:p>
        </p:txBody>
      </p:sp>
      <p:sp>
        <p:nvSpPr>
          <p:cNvPr id="26" name="Rectangle 25">
            <a:extLst>
              <a:ext uri="{FF2B5EF4-FFF2-40B4-BE49-F238E27FC236}">
                <a16:creationId xmlns:a16="http://schemas.microsoft.com/office/drawing/2014/main" id="{A5D851C3-3780-4F72-8AE2-0A70A055DAD5}"/>
              </a:ext>
            </a:extLst>
          </p:cNvPr>
          <p:cNvSpPr>
            <a:spLocks noGrp="1"/>
          </p:cNvSpPr>
          <p:nvPr/>
        </p:nvSpPr>
        <p:spPr>
          <a:xfrm>
            <a:off x="2266950" y="6315075"/>
            <a:ext cx="1714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050" b="0">
                <a:solidFill>
                  <a:srgbClr val="6B7280"/>
                </a:solidFill>
              </a:defRPr>
            </a:pPr>
            <a:r>
              <a:rPr sz="1050" b="0">
                <a:solidFill>
                  <a:srgbClr val="6B7280"/>
                </a:solidFill>
              </a:rPr>
              <a:t>CarSight AI</a:t>
            </a:r>
          </a:p>
        </p:txBody>
      </p:sp>
      <p:sp>
        <p:nvSpPr>
          <p:cNvPr id="27" name="Rectangle 26">
            <a:extLst>
              <a:ext uri="{FF2B5EF4-FFF2-40B4-BE49-F238E27FC236}">
                <a16:creationId xmlns:a16="http://schemas.microsoft.com/office/drawing/2014/main" id="{5354A133-DC64-4C5E-9B27-09BFC1AC5B82}"/>
              </a:ext>
            </a:extLst>
          </p:cNvPr>
          <p:cNvSpPr>
            <a:spLocks noGrp="1"/>
          </p:cNvSpPr>
          <p:nvPr/>
        </p:nvSpPr>
        <p:spPr>
          <a:xfrm>
            <a:off x="11315700" y="6286500"/>
            <a:ext cx="3619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r">
              <a:defRPr sz="1200" b="0">
                <a:solidFill>
                  <a:srgbClr val="6B7280"/>
                </a:solidFill>
              </a:defRPr>
            </a:pPr>
            <a:r>
              <a:rPr sz="1200" b="0">
                <a:solidFill>
                  <a:srgbClr val="6B7280"/>
                </a:solidFill>
              </a:rPr>
              <a:t>5</a:t>
            </a:r>
          </a:p>
        </p:txBody>
      </p:sp>
      <p:cxnSp>
        <p:nvCxnSpPr>
          <p:cNvPr id="29" name="Straight Arrow Connector 28">
            <a:extLst>
              <a:ext uri="{FF2B5EF4-FFF2-40B4-BE49-F238E27FC236}">
                <a16:creationId xmlns:a16="http://schemas.microsoft.com/office/drawing/2014/main" id="{2D553EB0-1460-7F9D-0A2D-85575E2D567F}"/>
              </a:ext>
            </a:extLst>
          </p:cNvPr>
          <p:cNvCxnSpPr>
            <a:cxnSpLocks/>
          </p:cNvCxnSpPr>
          <p:nvPr/>
        </p:nvCxnSpPr>
        <p:spPr>
          <a:xfrm>
            <a:off x="3152084" y="3911324"/>
            <a:ext cx="403916"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1" name="Straight Arrow Connector 30">
            <a:extLst>
              <a:ext uri="{FF2B5EF4-FFF2-40B4-BE49-F238E27FC236}">
                <a16:creationId xmlns:a16="http://schemas.microsoft.com/office/drawing/2014/main" id="{96014235-2400-5CF9-A237-544E0D238AA0}"/>
              </a:ext>
            </a:extLst>
          </p:cNvPr>
          <p:cNvCxnSpPr>
            <a:cxnSpLocks/>
          </p:cNvCxnSpPr>
          <p:nvPr/>
        </p:nvCxnSpPr>
        <p:spPr>
          <a:xfrm>
            <a:off x="6028634" y="3898348"/>
            <a:ext cx="403916"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32" name="Straight Arrow Connector 31">
            <a:extLst>
              <a:ext uri="{FF2B5EF4-FFF2-40B4-BE49-F238E27FC236}">
                <a16:creationId xmlns:a16="http://schemas.microsoft.com/office/drawing/2014/main" id="{2CBBF4F0-B4C2-BCF8-7FBC-9DFAAF998395}"/>
              </a:ext>
            </a:extLst>
          </p:cNvPr>
          <p:cNvCxnSpPr>
            <a:cxnSpLocks/>
          </p:cNvCxnSpPr>
          <p:nvPr/>
        </p:nvCxnSpPr>
        <p:spPr>
          <a:xfrm>
            <a:off x="8860734" y="3955774"/>
            <a:ext cx="403916"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094720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t="4630" b="4630"/>
          <a:stretch>
            <a:fillRect/>
          </a:stretch>
        </p:blipFill>
        <p:spPr>
          <a:xfrm>
            <a:off x="7239000" y="2724150"/>
            <a:ext cx="3429000" cy="2333625"/>
          </a:xfrm>
          <a:prstGeom prst="rect">
            <a:avLst/>
          </a:prstGeom>
        </p:spPr>
      </p:pic>
      <p:sp>
        <p:nvSpPr>
          <p:cNvPr id="3" name="Rectangle 2">
            <a:extLst>
              <a:ext uri="{FF2B5EF4-FFF2-40B4-BE49-F238E27FC236}">
                <a16:creationId xmlns:a16="http://schemas.microsoft.com/office/drawing/2014/main" id="{DCA84987-1D4C-40B3-B26B-0E5C6BF4093E}"/>
              </a:ext>
            </a:extLst>
          </p:cNvPr>
          <p:cNvSpPr>
            <a:spLocks noGrp="1"/>
          </p:cNvSpPr>
          <p:nvPr/>
        </p:nvSpPr>
        <p:spPr>
          <a:xfrm>
            <a:off x="7239000" y="2724150"/>
            <a:ext cx="3429000" cy="2333625"/>
          </a:xfrm>
          <a:prstGeom prst="rect">
            <a:avLst/>
          </a:prstGeom>
          <a:solidFill>
            <a:srgbClr val="111827">
              <a:alpha val="3922"/>
            </a:srgbClr>
          </a:solidFill>
          <a:ln w="9525">
            <a:solidFill>
              <a:srgbClr val="CBD5E1"/>
            </a:solidFill>
            <a:prstDash val="solid"/>
          </a:ln>
        </p:spPr>
        <p:txBody>
          <a:bodyPr/>
          <a:lstStyle/>
          <a:p>
            <a:endParaRPr lang="en-US"/>
          </a:p>
        </p:txBody>
      </p:sp>
      <p:sp>
        <p:nvSpPr>
          <p:cNvPr id="4" name="Rectangle: Rounded Corners 3">
            <a:extLst>
              <a:ext uri="{FF2B5EF4-FFF2-40B4-BE49-F238E27FC236}">
                <a16:creationId xmlns:a16="http://schemas.microsoft.com/office/drawing/2014/main" id="{35F13940-86CB-4A61-8343-CA0EC5DA25D5}"/>
              </a:ext>
            </a:extLst>
          </p:cNvPr>
          <p:cNvSpPr>
            <a:spLocks noGrp="1"/>
          </p:cNvSpPr>
          <p:nvPr/>
        </p:nvSpPr>
        <p:spPr>
          <a:xfrm>
            <a:off x="609600" y="457200"/>
            <a:ext cx="1809750" cy="323850"/>
          </a:xfrm>
          <a:prstGeom prst="roundRect">
            <a:avLst>
              <a:gd name="adj" fmla="val 16667"/>
            </a:avLst>
          </a:prstGeom>
          <a:solidFill>
            <a:srgbClr val="DC2626"/>
          </a:solidFill>
          <a:ln w="0">
            <a:solidFill>
              <a:srgbClr val="DC2626"/>
            </a:solidFill>
            <a:prstDash val="solid"/>
          </a:ln>
        </p:spPr>
        <p:txBody>
          <a:bodyPr lIns="95250" tIns="28575" rIns="95250" bIns="28575" anchor="ctr"/>
          <a:lstStyle/>
          <a:p>
            <a:pPr algn="ctr">
              <a:defRPr sz="1050" b="1">
                <a:solidFill>
                  <a:srgbClr val="FAFAFA"/>
                </a:solidFill>
              </a:defRPr>
            </a:pPr>
            <a:r>
              <a:rPr sz="1050" b="1">
                <a:solidFill>
                  <a:srgbClr val="FAFAFA"/>
                </a:solidFill>
              </a:rPr>
              <a:t>NLP LAYER</a:t>
            </a:r>
          </a:p>
        </p:txBody>
      </p:sp>
      <p:sp>
        <p:nvSpPr>
          <p:cNvPr id="5" name="Rectangle 4">
            <a:extLst>
              <a:ext uri="{FF2B5EF4-FFF2-40B4-BE49-F238E27FC236}">
                <a16:creationId xmlns:a16="http://schemas.microsoft.com/office/drawing/2014/main" id="{699256C7-7039-411A-A04C-40830A248B02}"/>
              </a:ext>
            </a:extLst>
          </p:cNvPr>
          <p:cNvSpPr>
            <a:spLocks noGrp="1"/>
          </p:cNvSpPr>
          <p:nvPr/>
        </p:nvSpPr>
        <p:spPr>
          <a:xfrm>
            <a:off x="609600" y="914400"/>
            <a:ext cx="7429500" cy="8191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3450" b="1">
                <a:solidFill>
                  <a:srgbClr val="FAFAFA"/>
                </a:solidFill>
              </a:defRPr>
            </a:pPr>
            <a:r>
              <a:rPr sz="3450" b="1">
                <a:solidFill>
                  <a:srgbClr val="FAFAFA"/>
                </a:solidFill>
              </a:rPr>
              <a:t>Reading damage descriptions</a:t>
            </a:r>
          </a:p>
        </p:txBody>
      </p:sp>
      <p:sp>
        <p:nvSpPr>
          <p:cNvPr id="6" name="Rectangle 5">
            <a:extLst>
              <a:ext uri="{FF2B5EF4-FFF2-40B4-BE49-F238E27FC236}">
                <a16:creationId xmlns:a16="http://schemas.microsoft.com/office/drawing/2014/main" id="{1907AE1A-12E6-44DA-9BEB-5F8CF3D6002F}"/>
              </a:ext>
            </a:extLst>
          </p:cNvPr>
          <p:cNvSpPr>
            <a:spLocks noGrp="1"/>
          </p:cNvSpPr>
          <p:nvPr/>
        </p:nvSpPr>
        <p:spPr>
          <a:xfrm>
            <a:off x="628650" y="1752600"/>
            <a:ext cx="6858000" cy="4762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650" b="0">
                <a:solidFill>
                  <a:srgbClr val="D1D5DB"/>
                </a:solidFill>
              </a:defRPr>
            </a:pPr>
            <a:r>
              <a:rPr sz="1650" b="0">
                <a:solidFill>
                  <a:srgbClr val="D1D5DB"/>
                </a:solidFill>
              </a:rPr>
              <a:t>The pipeline looks for the parts of the listing that usually get ignored.</a:t>
            </a:r>
          </a:p>
        </p:txBody>
      </p:sp>
      <p:sp>
        <p:nvSpPr>
          <p:cNvPr id="7" name="Rectangle: Rounded Corners 6">
            <a:extLst>
              <a:ext uri="{FF2B5EF4-FFF2-40B4-BE49-F238E27FC236}">
                <a16:creationId xmlns:a16="http://schemas.microsoft.com/office/drawing/2014/main" id="{D9FACA4C-6717-418A-8E85-C8CFE62E5642}"/>
              </a:ext>
            </a:extLst>
          </p:cNvPr>
          <p:cNvSpPr>
            <a:spLocks noGrp="1"/>
          </p:cNvSpPr>
          <p:nvPr/>
        </p:nvSpPr>
        <p:spPr>
          <a:xfrm>
            <a:off x="819150" y="2781300"/>
            <a:ext cx="4953000" cy="838200"/>
          </a:xfrm>
          <a:prstGeom prst="roundRect">
            <a:avLst>
              <a:gd name="adj" fmla="val 10000"/>
            </a:avLst>
          </a:prstGeom>
          <a:solidFill>
            <a:srgbClr val="F8FAFC"/>
          </a:solidFill>
          <a:ln w="9525">
            <a:solidFill>
              <a:srgbClr val="CBD5E1"/>
            </a:solidFill>
            <a:prstDash val="solid"/>
          </a:ln>
        </p:spPr>
        <p:txBody>
          <a:bodyPr/>
          <a:lstStyle/>
          <a:p>
            <a:endParaRPr lang="en-US"/>
          </a:p>
        </p:txBody>
      </p:sp>
      <p:sp>
        <p:nvSpPr>
          <p:cNvPr id="8" name="Rectangle 7">
            <a:extLst>
              <a:ext uri="{FF2B5EF4-FFF2-40B4-BE49-F238E27FC236}">
                <a16:creationId xmlns:a16="http://schemas.microsoft.com/office/drawing/2014/main" id="{D750DA33-95AC-4EF7-9B53-D23F86697B56}"/>
              </a:ext>
            </a:extLst>
          </p:cNvPr>
          <p:cNvSpPr>
            <a:spLocks noGrp="1"/>
          </p:cNvSpPr>
          <p:nvPr/>
        </p:nvSpPr>
        <p:spPr>
          <a:xfrm>
            <a:off x="1066800" y="3028950"/>
            <a:ext cx="4457700" cy="323850"/>
          </a:xfrm>
          <a:prstGeom prst="rect">
            <a:avLst/>
          </a:prstGeom>
          <a:solidFill>
            <a:srgbClr val="000000">
              <a:alpha val="0"/>
            </a:srgbClr>
          </a:solidFill>
          <a:ln w="0">
            <a:solidFill>
              <a:srgbClr val="000000">
                <a:alpha val="0"/>
              </a:srgbClr>
            </a:solidFill>
            <a:prstDash val="solid"/>
          </a:ln>
        </p:spPr>
        <p:txBody>
          <a:bodyPr lIns="0" tIns="0" rIns="0" bIns="0" anchor="t">
            <a:normAutofit fontScale="83615" lnSpcReduction="10000"/>
          </a:bodyPr>
          <a:lstStyle/>
          <a:p>
            <a:pPr algn="l">
              <a:defRPr sz="1725" b="1">
                <a:solidFill>
                  <a:srgbClr val="111827"/>
                </a:solidFill>
              </a:defRPr>
            </a:pPr>
            <a:r>
              <a:rPr sz="1725" b="1">
                <a:solidFill>
                  <a:srgbClr val="111827"/>
                </a:solidFill>
              </a:rPr>
              <a:t>"Rear bumper cracked and engine knocks when cold."</a:t>
            </a:r>
          </a:p>
        </p:txBody>
      </p:sp>
      <p:sp>
        <p:nvSpPr>
          <p:cNvPr id="9" name="Rectangle: Rounded Corners 8">
            <a:extLst>
              <a:ext uri="{FF2B5EF4-FFF2-40B4-BE49-F238E27FC236}">
                <a16:creationId xmlns:a16="http://schemas.microsoft.com/office/drawing/2014/main" id="{4FA60CAF-496F-4CF4-9D07-4468250DFF6E}"/>
              </a:ext>
            </a:extLst>
          </p:cNvPr>
          <p:cNvSpPr>
            <a:spLocks noGrp="1"/>
          </p:cNvSpPr>
          <p:nvPr/>
        </p:nvSpPr>
        <p:spPr>
          <a:xfrm>
            <a:off x="819150" y="3962400"/>
            <a:ext cx="4953000" cy="4953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0" name="Rectangle 9">
            <a:extLst>
              <a:ext uri="{FF2B5EF4-FFF2-40B4-BE49-F238E27FC236}">
                <a16:creationId xmlns:a16="http://schemas.microsoft.com/office/drawing/2014/main" id="{CC0941B0-1D80-4B0E-B926-7B64E33BD654}"/>
              </a:ext>
            </a:extLst>
          </p:cNvPr>
          <p:cNvSpPr>
            <a:spLocks noGrp="1"/>
          </p:cNvSpPr>
          <p:nvPr/>
        </p:nvSpPr>
        <p:spPr>
          <a:xfrm>
            <a:off x="819150" y="3962400"/>
            <a:ext cx="57150" cy="495300"/>
          </a:xfrm>
          <a:prstGeom prst="rect">
            <a:avLst/>
          </a:prstGeom>
          <a:solidFill>
            <a:srgbClr val="374151"/>
          </a:solidFill>
          <a:ln w="0">
            <a:solidFill>
              <a:srgbClr val="374151"/>
            </a:solidFill>
            <a:prstDash val="solid"/>
          </a:ln>
        </p:spPr>
        <p:txBody>
          <a:bodyPr/>
          <a:lstStyle/>
          <a:p>
            <a:endParaRPr lang="en-US"/>
          </a:p>
        </p:txBody>
      </p:sp>
      <p:sp>
        <p:nvSpPr>
          <p:cNvPr id="11" name="Rectangle 10">
            <a:extLst>
              <a:ext uri="{FF2B5EF4-FFF2-40B4-BE49-F238E27FC236}">
                <a16:creationId xmlns:a16="http://schemas.microsoft.com/office/drawing/2014/main" id="{8428CB67-E0D8-41B6-B4E2-ABDA3F763868}"/>
              </a:ext>
            </a:extLst>
          </p:cNvPr>
          <p:cNvSpPr>
            <a:spLocks noGrp="1"/>
          </p:cNvSpPr>
          <p:nvPr/>
        </p:nvSpPr>
        <p:spPr>
          <a:xfrm>
            <a:off x="1047750" y="4171950"/>
            <a:ext cx="453390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Clean</a:t>
            </a:r>
          </a:p>
        </p:txBody>
      </p:sp>
      <p:sp>
        <p:nvSpPr>
          <p:cNvPr id="12" name="Rectangle 11">
            <a:extLst>
              <a:ext uri="{FF2B5EF4-FFF2-40B4-BE49-F238E27FC236}">
                <a16:creationId xmlns:a16="http://schemas.microsoft.com/office/drawing/2014/main" id="{42D973FC-E132-45FF-B4B6-D46C5858C3EA}"/>
              </a:ext>
            </a:extLst>
          </p:cNvPr>
          <p:cNvSpPr>
            <a:spLocks noGrp="1"/>
          </p:cNvSpPr>
          <p:nvPr/>
        </p:nvSpPr>
        <p:spPr>
          <a:xfrm>
            <a:off x="1873250" y="4216400"/>
            <a:ext cx="4533900" cy="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350" b="0">
                <a:solidFill>
                  <a:srgbClr val="D1D5DB"/>
                </a:solidFill>
              </a:defRPr>
            </a:pPr>
            <a:r>
              <a:rPr sz="900" b="0" dirty="0">
                <a:solidFill>
                  <a:srgbClr val="D1D5DB"/>
                </a:solidFill>
              </a:rPr>
              <a:t>Remove noise and focus on useful words.</a:t>
            </a:r>
          </a:p>
        </p:txBody>
      </p:sp>
      <p:sp>
        <p:nvSpPr>
          <p:cNvPr id="13" name="Rectangle: Rounded Corners 12">
            <a:extLst>
              <a:ext uri="{FF2B5EF4-FFF2-40B4-BE49-F238E27FC236}">
                <a16:creationId xmlns:a16="http://schemas.microsoft.com/office/drawing/2014/main" id="{34E6E63A-0819-48FD-B24E-BEF83D7D7D71}"/>
              </a:ext>
            </a:extLst>
          </p:cNvPr>
          <p:cNvSpPr>
            <a:spLocks noGrp="1"/>
          </p:cNvSpPr>
          <p:nvPr/>
        </p:nvSpPr>
        <p:spPr>
          <a:xfrm>
            <a:off x="819150" y="4629150"/>
            <a:ext cx="4953000" cy="4953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4" name="Rectangle 13">
            <a:extLst>
              <a:ext uri="{FF2B5EF4-FFF2-40B4-BE49-F238E27FC236}">
                <a16:creationId xmlns:a16="http://schemas.microsoft.com/office/drawing/2014/main" id="{60DA72C8-A17E-4541-9122-F1DC4EC9E651}"/>
              </a:ext>
            </a:extLst>
          </p:cNvPr>
          <p:cNvSpPr>
            <a:spLocks noGrp="1"/>
          </p:cNvSpPr>
          <p:nvPr/>
        </p:nvSpPr>
        <p:spPr>
          <a:xfrm>
            <a:off x="819150" y="4629150"/>
            <a:ext cx="57150" cy="495300"/>
          </a:xfrm>
          <a:prstGeom prst="rect">
            <a:avLst/>
          </a:prstGeom>
          <a:solidFill>
            <a:srgbClr val="DC2626"/>
          </a:solidFill>
          <a:ln w="0">
            <a:solidFill>
              <a:srgbClr val="DC2626"/>
            </a:solidFill>
            <a:prstDash val="solid"/>
          </a:ln>
        </p:spPr>
        <p:txBody>
          <a:bodyPr/>
          <a:lstStyle/>
          <a:p>
            <a:endParaRPr lang="en-US"/>
          </a:p>
        </p:txBody>
      </p:sp>
      <p:sp>
        <p:nvSpPr>
          <p:cNvPr id="15" name="Rectangle 14">
            <a:extLst>
              <a:ext uri="{FF2B5EF4-FFF2-40B4-BE49-F238E27FC236}">
                <a16:creationId xmlns:a16="http://schemas.microsoft.com/office/drawing/2014/main" id="{F9D1C473-E7FF-450F-906A-9B913F0FAA13}"/>
              </a:ext>
            </a:extLst>
          </p:cNvPr>
          <p:cNvSpPr>
            <a:spLocks noGrp="1"/>
          </p:cNvSpPr>
          <p:nvPr/>
        </p:nvSpPr>
        <p:spPr>
          <a:xfrm>
            <a:off x="1047750" y="4838700"/>
            <a:ext cx="453390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Detect</a:t>
            </a:r>
          </a:p>
        </p:txBody>
      </p:sp>
      <p:sp>
        <p:nvSpPr>
          <p:cNvPr id="16" name="Rectangle 15">
            <a:extLst>
              <a:ext uri="{FF2B5EF4-FFF2-40B4-BE49-F238E27FC236}">
                <a16:creationId xmlns:a16="http://schemas.microsoft.com/office/drawing/2014/main" id="{67A00B25-A42B-49EF-AB35-B9353CA441DD}"/>
              </a:ext>
            </a:extLst>
          </p:cNvPr>
          <p:cNvSpPr>
            <a:spLocks noGrp="1"/>
          </p:cNvSpPr>
          <p:nvPr/>
        </p:nvSpPr>
        <p:spPr>
          <a:xfrm>
            <a:off x="1873250" y="4870450"/>
            <a:ext cx="4533900" cy="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350" b="0">
                <a:solidFill>
                  <a:srgbClr val="D1D5DB"/>
                </a:solidFill>
              </a:defRPr>
            </a:pPr>
            <a:r>
              <a:rPr sz="900" b="0" dirty="0">
                <a:solidFill>
                  <a:srgbClr val="D1D5DB"/>
                </a:solidFill>
              </a:rPr>
              <a:t>Find terms linked to body, engine, interior, and other issues.</a:t>
            </a:r>
          </a:p>
        </p:txBody>
      </p:sp>
      <p:sp>
        <p:nvSpPr>
          <p:cNvPr id="17" name="Rectangle: Rounded Corners 16">
            <a:extLst>
              <a:ext uri="{FF2B5EF4-FFF2-40B4-BE49-F238E27FC236}">
                <a16:creationId xmlns:a16="http://schemas.microsoft.com/office/drawing/2014/main" id="{98633C5E-FD31-4AF1-B49B-F55A59512301}"/>
              </a:ext>
            </a:extLst>
          </p:cNvPr>
          <p:cNvSpPr>
            <a:spLocks noGrp="1"/>
          </p:cNvSpPr>
          <p:nvPr/>
        </p:nvSpPr>
        <p:spPr>
          <a:xfrm>
            <a:off x="819150" y="5295900"/>
            <a:ext cx="4953000" cy="4953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8" name="Rectangle 17">
            <a:extLst>
              <a:ext uri="{FF2B5EF4-FFF2-40B4-BE49-F238E27FC236}">
                <a16:creationId xmlns:a16="http://schemas.microsoft.com/office/drawing/2014/main" id="{46A0639B-352D-41BC-8B63-D518A591E3CA}"/>
              </a:ext>
            </a:extLst>
          </p:cNvPr>
          <p:cNvSpPr>
            <a:spLocks noGrp="1"/>
          </p:cNvSpPr>
          <p:nvPr/>
        </p:nvSpPr>
        <p:spPr>
          <a:xfrm>
            <a:off x="819150" y="5295900"/>
            <a:ext cx="57150" cy="495300"/>
          </a:xfrm>
          <a:prstGeom prst="rect">
            <a:avLst/>
          </a:prstGeom>
          <a:solidFill>
            <a:srgbClr val="374151"/>
          </a:solidFill>
          <a:ln w="0">
            <a:solidFill>
              <a:srgbClr val="374151"/>
            </a:solidFill>
            <a:prstDash val="solid"/>
          </a:ln>
        </p:spPr>
        <p:txBody>
          <a:bodyPr/>
          <a:lstStyle/>
          <a:p>
            <a:endParaRPr lang="en-US"/>
          </a:p>
        </p:txBody>
      </p:sp>
      <p:sp>
        <p:nvSpPr>
          <p:cNvPr id="19" name="Rectangle 18">
            <a:extLst>
              <a:ext uri="{FF2B5EF4-FFF2-40B4-BE49-F238E27FC236}">
                <a16:creationId xmlns:a16="http://schemas.microsoft.com/office/drawing/2014/main" id="{58EF1C5E-400D-48CE-8BE6-54635E640970}"/>
              </a:ext>
            </a:extLst>
          </p:cNvPr>
          <p:cNvSpPr>
            <a:spLocks noGrp="1"/>
          </p:cNvSpPr>
          <p:nvPr/>
        </p:nvSpPr>
        <p:spPr>
          <a:xfrm>
            <a:off x="1047750" y="5505450"/>
            <a:ext cx="453390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Score</a:t>
            </a:r>
          </a:p>
        </p:txBody>
      </p:sp>
      <p:sp>
        <p:nvSpPr>
          <p:cNvPr id="20" name="Rectangle 19">
            <a:extLst>
              <a:ext uri="{FF2B5EF4-FFF2-40B4-BE49-F238E27FC236}">
                <a16:creationId xmlns:a16="http://schemas.microsoft.com/office/drawing/2014/main" id="{87F4E2F6-E41E-4D07-AFD1-C6783661DB9C}"/>
              </a:ext>
            </a:extLst>
          </p:cNvPr>
          <p:cNvSpPr>
            <a:spLocks noGrp="1"/>
          </p:cNvSpPr>
          <p:nvPr/>
        </p:nvSpPr>
        <p:spPr>
          <a:xfrm>
            <a:off x="1873250" y="5562600"/>
            <a:ext cx="4533900" cy="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350" b="0">
                <a:solidFill>
                  <a:srgbClr val="D1D5DB"/>
                </a:solidFill>
              </a:defRPr>
            </a:pPr>
            <a:r>
              <a:rPr sz="900" b="0" dirty="0">
                <a:solidFill>
                  <a:srgbClr val="D1D5DB"/>
                </a:solidFill>
              </a:rPr>
              <a:t>Convert language into severity and impact signals.</a:t>
            </a:r>
          </a:p>
        </p:txBody>
      </p:sp>
      <p:sp>
        <p:nvSpPr>
          <p:cNvPr id="21" name="Rectangle 20">
            <a:extLst>
              <a:ext uri="{FF2B5EF4-FFF2-40B4-BE49-F238E27FC236}">
                <a16:creationId xmlns:a16="http://schemas.microsoft.com/office/drawing/2014/main" id="{C867C5C5-F26A-4180-AF99-BD05BD4A4318}"/>
              </a:ext>
            </a:extLst>
          </p:cNvPr>
          <p:cNvSpPr>
            <a:spLocks noGrp="1"/>
          </p:cNvSpPr>
          <p:nvPr/>
        </p:nvSpPr>
        <p:spPr>
          <a:xfrm>
            <a:off x="609600" y="6419850"/>
            <a:ext cx="1524000" cy="19050"/>
          </a:xfrm>
          <a:prstGeom prst="rect">
            <a:avLst/>
          </a:prstGeom>
          <a:solidFill>
            <a:srgbClr val="DC2626"/>
          </a:solidFill>
          <a:ln w="0">
            <a:solidFill>
              <a:srgbClr val="DC2626"/>
            </a:solidFill>
            <a:prstDash val="solid"/>
          </a:ln>
        </p:spPr>
        <p:txBody>
          <a:bodyPr/>
          <a:lstStyle/>
          <a:p>
            <a:endParaRPr lang="en-US"/>
          </a:p>
        </p:txBody>
      </p:sp>
      <p:sp>
        <p:nvSpPr>
          <p:cNvPr id="22" name="Rectangle 21">
            <a:extLst>
              <a:ext uri="{FF2B5EF4-FFF2-40B4-BE49-F238E27FC236}">
                <a16:creationId xmlns:a16="http://schemas.microsoft.com/office/drawing/2014/main" id="{FD7C7CB4-6FD2-4365-BB61-3E8348569655}"/>
              </a:ext>
            </a:extLst>
          </p:cNvPr>
          <p:cNvSpPr>
            <a:spLocks noGrp="1"/>
          </p:cNvSpPr>
          <p:nvPr/>
        </p:nvSpPr>
        <p:spPr>
          <a:xfrm>
            <a:off x="2266950" y="6315075"/>
            <a:ext cx="1714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050" b="0">
                <a:solidFill>
                  <a:srgbClr val="6B7280"/>
                </a:solidFill>
              </a:defRPr>
            </a:pPr>
            <a:r>
              <a:rPr sz="1050" b="0">
                <a:solidFill>
                  <a:srgbClr val="6B7280"/>
                </a:solidFill>
              </a:rPr>
              <a:t>CarSight AI</a:t>
            </a:r>
          </a:p>
        </p:txBody>
      </p:sp>
      <p:sp>
        <p:nvSpPr>
          <p:cNvPr id="23" name="Rectangle 22">
            <a:extLst>
              <a:ext uri="{FF2B5EF4-FFF2-40B4-BE49-F238E27FC236}">
                <a16:creationId xmlns:a16="http://schemas.microsoft.com/office/drawing/2014/main" id="{A5132AE0-C7F7-489A-B928-9EE79F5A34BB}"/>
              </a:ext>
            </a:extLst>
          </p:cNvPr>
          <p:cNvSpPr>
            <a:spLocks noGrp="1"/>
          </p:cNvSpPr>
          <p:nvPr/>
        </p:nvSpPr>
        <p:spPr>
          <a:xfrm>
            <a:off x="11315700" y="6286500"/>
            <a:ext cx="3619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r">
              <a:defRPr sz="1200" b="0">
                <a:solidFill>
                  <a:srgbClr val="6B7280"/>
                </a:solidFill>
              </a:defRPr>
            </a:pPr>
            <a:r>
              <a:rPr sz="1200" b="0">
                <a:solidFill>
                  <a:srgbClr val="6B7280"/>
                </a:solidFill>
              </a:rPr>
              <a:t>6</a:t>
            </a:r>
          </a:p>
        </p:txBody>
      </p:sp>
    </p:spTree>
    <p:extLst>
      <p:ext uri="{BB962C8B-B14F-4D97-AF65-F5344CB8AC3E}">
        <p14:creationId xmlns:p14="http://schemas.microsoft.com/office/powerpoint/2010/main" val="1144172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E679FC3-A241-4C03-86AC-A53EA9F7A963}"/>
              </a:ext>
            </a:extLst>
          </p:cNvPr>
          <p:cNvSpPr>
            <a:spLocks noGrp="1"/>
          </p:cNvSpPr>
          <p:nvPr/>
        </p:nvSpPr>
        <p:spPr>
          <a:xfrm>
            <a:off x="609600" y="457200"/>
            <a:ext cx="1809750" cy="323850"/>
          </a:xfrm>
          <a:prstGeom prst="roundRect">
            <a:avLst>
              <a:gd name="adj" fmla="val 16667"/>
            </a:avLst>
          </a:prstGeom>
          <a:solidFill>
            <a:srgbClr val="DC2626"/>
          </a:solidFill>
          <a:ln w="0">
            <a:solidFill>
              <a:srgbClr val="DC2626"/>
            </a:solidFill>
            <a:prstDash val="solid"/>
          </a:ln>
        </p:spPr>
        <p:txBody>
          <a:bodyPr lIns="95250" tIns="28575" rIns="95250" bIns="28575" anchor="ctr"/>
          <a:lstStyle/>
          <a:p>
            <a:pPr algn="ctr">
              <a:defRPr sz="1050" b="1">
                <a:solidFill>
                  <a:srgbClr val="FAFAFA"/>
                </a:solidFill>
              </a:defRPr>
            </a:pPr>
            <a:r>
              <a:rPr sz="1050" b="1">
                <a:solidFill>
                  <a:srgbClr val="FAFAFA"/>
                </a:solidFill>
              </a:rPr>
              <a:t>VALUATION</a:t>
            </a:r>
          </a:p>
        </p:txBody>
      </p:sp>
      <p:sp>
        <p:nvSpPr>
          <p:cNvPr id="3" name="Rectangle 2">
            <a:extLst>
              <a:ext uri="{FF2B5EF4-FFF2-40B4-BE49-F238E27FC236}">
                <a16:creationId xmlns:a16="http://schemas.microsoft.com/office/drawing/2014/main" id="{D399A832-7EE1-49C2-B0A6-C2381F12686E}"/>
              </a:ext>
            </a:extLst>
          </p:cNvPr>
          <p:cNvSpPr>
            <a:spLocks noGrp="1"/>
          </p:cNvSpPr>
          <p:nvPr/>
        </p:nvSpPr>
        <p:spPr>
          <a:xfrm>
            <a:off x="609600" y="914400"/>
            <a:ext cx="7429500" cy="8191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3450" b="1">
                <a:solidFill>
                  <a:srgbClr val="FAFAFA"/>
                </a:solidFill>
              </a:defRPr>
            </a:pPr>
            <a:r>
              <a:rPr sz="3450" b="1">
                <a:solidFill>
                  <a:srgbClr val="FAFAFA"/>
                </a:solidFill>
              </a:rPr>
              <a:t>From words to a price range</a:t>
            </a:r>
          </a:p>
        </p:txBody>
      </p:sp>
      <p:sp>
        <p:nvSpPr>
          <p:cNvPr id="4" name="Rectangle 3">
            <a:extLst>
              <a:ext uri="{FF2B5EF4-FFF2-40B4-BE49-F238E27FC236}">
                <a16:creationId xmlns:a16="http://schemas.microsoft.com/office/drawing/2014/main" id="{9CBABC08-3F11-4BBC-8645-E1CB0EFDEF23}"/>
              </a:ext>
            </a:extLst>
          </p:cNvPr>
          <p:cNvSpPr>
            <a:spLocks noGrp="1"/>
          </p:cNvSpPr>
          <p:nvPr/>
        </p:nvSpPr>
        <p:spPr>
          <a:xfrm>
            <a:off x="628650" y="1752600"/>
            <a:ext cx="6858000" cy="476250"/>
          </a:xfrm>
          <a:prstGeom prst="rect">
            <a:avLst/>
          </a:prstGeom>
          <a:solidFill>
            <a:srgbClr val="000000">
              <a:alpha val="0"/>
            </a:srgbClr>
          </a:solidFill>
          <a:ln w="0">
            <a:solidFill>
              <a:srgbClr val="000000">
                <a:alpha val="0"/>
              </a:srgbClr>
            </a:solidFill>
            <a:prstDash val="solid"/>
          </a:ln>
        </p:spPr>
        <p:txBody>
          <a:bodyPr lIns="0" tIns="0" rIns="0" bIns="0" anchor="t">
            <a:normAutofit fontScale="93091"/>
          </a:bodyPr>
          <a:lstStyle/>
          <a:p>
            <a:pPr algn="l">
              <a:defRPr sz="1650" b="0">
                <a:solidFill>
                  <a:srgbClr val="D1D5DB"/>
                </a:solidFill>
              </a:defRPr>
            </a:pPr>
            <a:r>
              <a:rPr sz="1650" b="0">
                <a:solidFill>
                  <a:srgbClr val="D1D5DB"/>
                </a:solidFill>
              </a:rPr>
              <a:t>The model combines car facts with damage signals, then shows uncertainty instead of pretending to be exact.</a:t>
            </a:r>
          </a:p>
        </p:txBody>
      </p:sp>
      <p:sp>
        <p:nvSpPr>
          <p:cNvPr id="5" name="Rectangle: Rounded Corners 4">
            <a:extLst>
              <a:ext uri="{FF2B5EF4-FFF2-40B4-BE49-F238E27FC236}">
                <a16:creationId xmlns:a16="http://schemas.microsoft.com/office/drawing/2014/main" id="{18A0AB20-BA46-4B70-8E35-588874FA2AC7}"/>
              </a:ext>
            </a:extLst>
          </p:cNvPr>
          <p:cNvSpPr>
            <a:spLocks noGrp="1"/>
          </p:cNvSpPr>
          <p:nvPr/>
        </p:nvSpPr>
        <p:spPr>
          <a:xfrm>
            <a:off x="914400" y="2895600"/>
            <a:ext cx="2667000" cy="1295400"/>
          </a:xfrm>
          <a:prstGeom prst="roundRect">
            <a:avLst>
              <a:gd name="adj" fmla="val 10000"/>
            </a:avLst>
          </a:prstGeom>
          <a:solidFill>
            <a:srgbClr val="1F2937"/>
          </a:solidFill>
          <a:ln w="9525">
            <a:solidFill>
              <a:srgbClr val="334155"/>
            </a:solidFill>
            <a:prstDash val="solid"/>
          </a:ln>
        </p:spPr>
        <p:txBody>
          <a:bodyPr/>
          <a:lstStyle/>
          <a:p>
            <a:endParaRPr lang="en-US"/>
          </a:p>
        </p:txBody>
      </p:sp>
      <p:sp>
        <p:nvSpPr>
          <p:cNvPr id="6" name="Rectangle 5">
            <a:extLst>
              <a:ext uri="{FF2B5EF4-FFF2-40B4-BE49-F238E27FC236}">
                <a16:creationId xmlns:a16="http://schemas.microsoft.com/office/drawing/2014/main" id="{077E3B7A-305E-4E80-AB26-D980A23902F6}"/>
              </a:ext>
            </a:extLst>
          </p:cNvPr>
          <p:cNvSpPr>
            <a:spLocks noGrp="1"/>
          </p:cNvSpPr>
          <p:nvPr/>
        </p:nvSpPr>
        <p:spPr>
          <a:xfrm>
            <a:off x="1143000" y="3124200"/>
            <a:ext cx="209550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725" b="1">
                <a:solidFill>
                  <a:srgbClr val="FAFAFA"/>
                </a:solidFill>
              </a:defRPr>
            </a:pPr>
            <a:r>
              <a:rPr sz="1725" b="1">
                <a:solidFill>
                  <a:srgbClr val="FAFAFA"/>
                </a:solidFill>
              </a:rPr>
              <a:t>Base value</a:t>
            </a:r>
          </a:p>
        </p:txBody>
      </p:sp>
      <p:sp>
        <p:nvSpPr>
          <p:cNvPr id="7" name="Rectangle 6">
            <a:extLst>
              <a:ext uri="{FF2B5EF4-FFF2-40B4-BE49-F238E27FC236}">
                <a16:creationId xmlns:a16="http://schemas.microsoft.com/office/drawing/2014/main" id="{57A82E47-5034-45A1-AD9F-1C74EEA1C3B4}"/>
              </a:ext>
            </a:extLst>
          </p:cNvPr>
          <p:cNvSpPr>
            <a:spLocks noGrp="1"/>
          </p:cNvSpPr>
          <p:nvPr/>
        </p:nvSpPr>
        <p:spPr>
          <a:xfrm>
            <a:off x="1143000" y="3524250"/>
            <a:ext cx="2076450" cy="4381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D1D5DB"/>
                </a:solidFill>
              </a:defRPr>
            </a:pPr>
            <a:r>
              <a:rPr sz="1350" b="0">
                <a:solidFill>
                  <a:srgbClr val="D1D5DB"/>
                </a:solidFill>
              </a:rPr>
              <a:t>year, mileage, make, model</a:t>
            </a:r>
          </a:p>
        </p:txBody>
      </p:sp>
      <p:sp>
        <p:nvSpPr>
          <p:cNvPr id="8" name="Rectangle 7">
            <a:extLst>
              <a:ext uri="{FF2B5EF4-FFF2-40B4-BE49-F238E27FC236}">
                <a16:creationId xmlns:a16="http://schemas.microsoft.com/office/drawing/2014/main" id="{7561E2F4-DE99-467D-BC9E-1B5883A5FC4F}"/>
              </a:ext>
            </a:extLst>
          </p:cNvPr>
          <p:cNvSpPr>
            <a:spLocks noGrp="1"/>
          </p:cNvSpPr>
          <p:nvPr/>
        </p:nvSpPr>
        <p:spPr>
          <a:xfrm>
            <a:off x="3790950" y="3314700"/>
            <a:ext cx="400050" cy="400050"/>
          </a:xfrm>
          <a:prstGeom prst="rect">
            <a:avLst/>
          </a:prstGeom>
          <a:solidFill>
            <a:srgbClr val="000000">
              <a:alpha val="0"/>
            </a:srgbClr>
          </a:solidFill>
          <a:ln w="0">
            <a:solidFill>
              <a:srgbClr val="000000">
                <a:alpha val="0"/>
              </a:srgbClr>
            </a:solidFill>
            <a:prstDash val="solid"/>
          </a:ln>
        </p:spPr>
        <p:txBody>
          <a:bodyPr lIns="0" tIns="0" rIns="0" bIns="0" anchor="t">
            <a:normAutofit fontScale="95573"/>
          </a:bodyPr>
          <a:lstStyle/>
          <a:p>
            <a:pPr algn="ctr">
              <a:defRPr sz="2700" b="1">
                <a:solidFill>
                  <a:srgbClr val="DC2626"/>
                </a:solidFill>
              </a:defRPr>
            </a:pPr>
            <a:r>
              <a:rPr sz="2700" b="1">
                <a:solidFill>
                  <a:srgbClr val="DC2626"/>
                </a:solidFill>
              </a:rPr>
              <a:t>+</a:t>
            </a:r>
          </a:p>
        </p:txBody>
      </p:sp>
      <p:sp>
        <p:nvSpPr>
          <p:cNvPr id="9" name="Rectangle: Rounded Corners 8">
            <a:extLst>
              <a:ext uri="{FF2B5EF4-FFF2-40B4-BE49-F238E27FC236}">
                <a16:creationId xmlns:a16="http://schemas.microsoft.com/office/drawing/2014/main" id="{412D157A-48DC-49DB-ADB8-310A0F584909}"/>
              </a:ext>
            </a:extLst>
          </p:cNvPr>
          <p:cNvSpPr>
            <a:spLocks noGrp="1"/>
          </p:cNvSpPr>
          <p:nvPr/>
        </p:nvSpPr>
        <p:spPr>
          <a:xfrm>
            <a:off x="4295775" y="2895600"/>
            <a:ext cx="2667000" cy="1295400"/>
          </a:xfrm>
          <a:prstGeom prst="roundRect">
            <a:avLst>
              <a:gd name="adj" fmla="val 10000"/>
            </a:avLst>
          </a:prstGeom>
          <a:solidFill>
            <a:srgbClr val="1F2937"/>
          </a:solidFill>
          <a:ln w="9525">
            <a:solidFill>
              <a:srgbClr val="334155"/>
            </a:solidFill>
            <a:prstDash val="solid"/>
          </a:ln>
        </p:spPr>
        <p:txBody>
          <a:bodyPr/>
          <a:lstStyle/>
          <a:p>
            <a:endParaRPr lang="en-US"/>
          </a:p>
        </p:txBody>
      </p:sp>
      <p:sp>
        <p:nvSpPr>
          <p:cNvPr id="10" name="Rectangle 9">
            <a:extLst>
              <a:ext uri="{FF2B5EF4-FFF2-40B4-BE49-F238E27FC236}">
                <a16:creationId xmlns:a16="http://schemas.microsoft.com/office/drawing/2014/main" id="{B31912BE-00C1-4DD5-8F58-E65E2A3E7A90}"/>
              </a:ext>
            </a:extLst>
          </p:cNvPr>
          <p:cNvSpPr>
            <a:spLocks noGrp="1"/>
          </p:cNvSpPr>
          <p:nvPr/>
        </p:nvSpPr>
        <p:spPr>
          <a:xfrm>
            <a:off x="4524375" y="3124200"/>
            <a:ext cx="209550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725" b="1">
                <a:solidFill>
                  <a:srgbClr val="FAFAFA"/>
                </a:solidFill>
              </a:defRPr>
            </a:pPr>
            <a:r>
              <a:rPr sz="1725" b="1">
                <a:solidFill>
                  <a:srgbClr val="FAFAFA"/>
                </a:solidFill>
              </a:rPr>
              <a:t>Damage signal</a:t>
            </a:r>
          </a:p>
        </p:txBody>
      </p:sp>
      <p:sp>
        <p:nvSpPr>
          <p:cNvPr id="11" name="Rectangle 10">
            <a:extLst>
              <a:ext uri="{FF2B5EF4-FFF2-40B4-BE49-F238E27FC236}">
                <a16:creationId xmlns:a16="http://schemas.microsoft.com/office/drawing/2014/main" id="{DB0BF05C-FFED-461E-9018-43E40D525A7C}"/>
              </a:ext>
            </a:extLst>
          </p:cNvPr>
          <p:cNvSpPr>
            <a:spLocks noGrp="1"/>
          </p:cNvSpPr>
          <p:nvPr/>
        </p:nvSpPr>
        <p:spPr>
          <a:xfrm>
            <a:off x="4524375" y="3524250"/>
            <a:ext cx="2076450" cy="4381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D1D5DB"/>
                </a:solidFill>
              </a:defRPr>
            </a:pPr>
            <a:r>
              <a:rPr sz="1350" b="0">
                <a:solidFill>
                  <a:srgbClr val="D1D5DB"/>
                </a:solidFill>
              </a:rPr>
              <a:t>type + severity</a:t>
            </a:r>
          </a:p>
        </p:txBody>
      </p:sp>
      <p:sp>
        <p:nvSpPr>
          <p:cNvPr id="12" name="Rectangle 11">
            <a:extLst>
              <a:ext uri="{FF2B5EF4-FFF2-40B4-BE49-F238E27FC236}">
                <a16:creationId xmlns:a16="http://schemas.microsoft.com/office/drawing/2014/main" id="{2635A974-5407-4135-971A-3C8B99D1DCC3}"/>
              </a:ext>
            </a:extLst>
          </p:cNvPr>
          <p:cNvSpPr>
            <a:spLocks noGrp="1"/>
          </p:cNvSpPr>
          <p:nvPr/>
        </p:nvSpPr>
        <p:spPr>
          <a:xfrm>
            <a:off x="7172325" y="3314700"/>
            <a:ext cx="400050" cy="400050"/>
          </a:xfrm>
          <a:prstGeom prst="rect">
            <a:avLst/>
          </a:prstGeom>
          <a:solidFill>
            <a:srgbClr val="000000">
              <a:alpha val="0"/>
            </a:srgbClr>
          </a:solidFill>
          <a:ln w="0">
            <a:solidFill>
              <a:srgbClr val="000000">
                <a:alpha val="0"/>
              </a:srgbClr>
            </a:solidFill>
            <a:prstDash val="solid"/>
          </a:ln>
        </p:spPr>
        <p:txBody>
          <a:bodyPr lIns="0" tIns="0" rIns="0" bIns="0" anchor="t">
            <a:normAutofit fontScale="95573"/>
          </a:bodyPr>
          <a:lstStyle/>
          <a:p>
            <a:pPr algn="ctr">
              <a:defRPr sz="2700" b="1">
                <a:solidFill>
                  <a:srgbClr val="DC2626"/>
                </a:solidFill>
              </a:defRPr>
            </a:pPr>
            <a:r>
              <a:rPr sz="2700" b="1">
                <a:solidFill>
                  <a:srgbClr val="DC2626"/>
                </a:solidFill>
              </a:rPr>
              <a:t>+</a:t>
            </a:r>
          </a:p>
        </p:txBody>
      </p:sp>
      <p:sp>
        <p:nvSpPr>
          <p:cNvPr id="13" name="Rectangle: Rounded Corners 12">
            <a:extLst>
              <a:ext uri="{FF2B5EF4-FFF2-40B4-BE49-F238E27FC236}">
                <a16:creationId xmlns:a16="http://schemas.microsoft.com/office/drawing/2014/main" id="{41E515D0-AE3B-4859-8833-83208DEABC13}"/>
              </a:ext>
            </a:extLst>
          </p:cNvPr>
          <p:cNvSpPr>
            <a:spLocks noGrp="1"/>
          </p:cNvSpPr>
          <p:nvPr/>
        </p:nvSpPr>
        <p:spPr>
          <a:xfrm>
            <a:off x="7677150" y="2895600"/>
            <a:ext cx="2667000" cy="1295400"/>
          </a:xfrm>
          <a:prstGeom prst="roundRect">
            <a:avLst>
              <a:gd name="adj" fmla="val 10000"/>
            </a:avLst>
          </a:prstGeom>
          <a:solidFill>
            <a:srgbClr val="1F2937"/>
          </a:solidFill>
          <a:ln w="9525">
            <a:solidFill>
              <a:srgbClr val="334155"/>
            </a:solidFill>
            <a:prstDash val="solid"/>
          </a:ln>
        </p:spPr>
        <p:txBody>
          <a:bodyPr/>
          <a:lstStyle/>
          <a:p>
            <a:endParaRPr lang="en-US"/>
          </a:p>
        </p:txBody>
      </p:sp>
      <p:sp>
        <p:nvSpPr>
          <p:cNvPr id="14" name="Rectangle 13">
            <a:extLst>
              <a:ext uri="{FF2B5EF4-FFF2-40B4-BE49-F238E27FC236}">
                <a16:creationId xmlns:a16="http://schemas.microsoft.com/office/drawing/2014/main" id="{EA97F066-92B6-4CF6-8311-34A3E4F1C1ED}"/>
              </a:ext>
            </a:extLst>
          </p:cNvPr>
          <p:cNvSpPr>
            <a:spLocks noGrp="1"/>
          </p:cNvSpPr>
          <p:nvPr/>
        </p:nvSpPr>
        <p:spPr>
          <a:xfrm>
            <a:off x="7905750" y="3124200"/>
            <a:ext cx="209550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725" b="1">
                <a:solidFill>
                  <a:srgbClr val="FAFAFA"/>
                </a:solidFill>
              </a:defRPr>
            </a:pPr>
            <a:r>
              <a:rPr sz="1725" b="1">
                <a:solidFill>
                  <a:srgbClr val="FAFAFA"/>
                </a:solidFill>
              </a:rPr>
              <a:t>Uncertainty</a:t>
            </a:r>
          </a:p>
        </p:txBody>
      </p:sp>
      <p:sp>
        <p:nvSpPr>
          <p:cNvPr id="15" name="Rectangle 14">
            <a:extLst>
              <a:ext uri="{FF2B5EF4-FFF2-40B4-BE49-F238E27FC236}">
                <a16:creationId xmlns:a16="http://schemas.microsoft.com/office/drawing/2014/main" id="{45BC3294-E6F9-4F3E-ABBC-C31AC830D59F}"/>
              </a:ext>
            </a:extLst>
          </p:cNvPr>
          <p:cNvSpPr>
            <a:spLocks noGrp="1"/>
          </p:cNvSpPr>
          <p:nvPr/>
        </p:nvSpPr>
        <p:spPr>
          <a:xfrm>
            <a:off x="7905750" y="3524250"/>
            <a:ext cx="2076450" cy="4381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D1D5DB"/>
                </a:solidFill>
              </a:defRPr>
            </a:pPr>
            <a:r>
              <a:rPr sz="1350" b="0">
                <a:solidFill>
                  <a:srgbClr val="D1D5DB"/>
                </a:solidFill>
              </a:rPr>
              <a:t>range and confidence</a:t>
            </a:r>
          </a:p>
        </p:txBody>
      </p:sp>
      <p:sp>
        <p:nvSpPr>
          <p:cNvPr id="16" name="Rectangle 15">
            <a:extLst>
              <a:ext uri="{FF2B5EF4-FFF2-40B4-BE49-F238E27FC236}">
                <a16:creationId xmlns:a16="http://schemas.microsoft.com/office/drawing/2014/main" id="{93D9BEC5-D861-4EE2-AB23-E2AA1F8F90E3}"/>
              </a:ext>
            </a:extLst>
          </p:cNvPr>
          <p:cNvSpPr>
            <a:spLocks noGrp="1"/>
          </p:cNvSpPr>
          <p:nvPr/>
        </p:nvSpPr>
        <p:spPr>
          <a:xfrm>
            <a:off x="4057650" y="4762500"/>
            <a:ext cx="4000500" cy="3238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1650" b="0">
                <a:solidFill>
                  <a:srgbClr val="D1D5DB"/>
                </a:solidFill>
              </a:defRPr>
            </a:pPr>
            <a:r>
              <a:rPr sz="1650" b="0">
                <a:solidFill>
                  <a:srgbClr val="D1D5DB"/>
                </a:solidFill>
              </a:rPr>
              <a:t>Estimated range</a:t>
            </a:r>
          </a:p>
        </p:txBody>
      </p:sp>
      <p:sp>
        <p:nvSpPr>
          <p:cNvPr id="17" name="Rectangle: Rounded Corners 16">
            <a:extLst>
              <a:ext uri="{FF2B5EF4-FFF2-40B4-BE49-F238E27FC236}">
                <a16:creationId xmlns:a16="http://schemas.microsoft.com/office/drawing/2014/main" id="{26217B16-625E-488B-81FE-6CC791A0AC5B}"/>
              </a:ext>
            </a:extLst>
          </p:cNvPr>
          <p:cNvSpPr>
            <a:spLocks noGrp="1"/>
          </p:cNvSpPr>
          <p:nvPr/>
        </p:nvSpPr>
        <p:spPr>
          <a:xfrm>
            <a:off x="3409950" y="5143500"/>
            <a:ext cx="5334000" cy="781050"/>
          </a:xfrm>
          <a:prstGeom prst="roundRect">
            <a:avLst>
              <a:gd name="adj" fmla="val 10000"/>
            </a:avLst>
          </a:prstGeom>
          <a:solidFill>
            <a:srgbClr val="2D1111"/>
          </a:solidFill>
          <a:ln w="14288">
            <a:solidFill>
              <a:srgbClr val="DC2626"/>
            </a:solidFill>
            <a:prstDash val="solid"/>
          </a:ln>
        </p:spPr>
        <p:txBody>
          <a:bodyPr/>
          <a:lstStyle/>
          <a:p>
            <a:endParaRPr lang="en-US"/>
          </a:p>
        </p:txBody>
      </p:sp>
      <p:sp>
        <p:nvSpPr>
          <p:cNvPr id="18" name="Rectangle 17">
            <a:extLst>
              <a:ext uri="{FF2B5EF4-FFF2-40B4-BE49-F238E27FC236}">
                <a16:creationId xmlns:a16="http://schemas.microsoft.com/office/drawing/2014/main" id="{3DF7799C-47DA-40D1-B72E-054E3E53FF22}"/>
              </a:ext>
            </a:extLst>
          </p:cNvPr>
          <p:cNvSpPr>
            <a:spLocks noGrp="1"/>
          </p:cNvSpPr>
          <p:nvPr/>
        </p:nvSpPr>
        <p:spPr>
          <a:xfrm>
            <a:off x="3752850" y="5314950"/>
            <a:ext cx="4629150" cy="419100"/>
          </a:xfrm>
          <a:prstGeom prst="rect">
            <a:avLst/>
          </a:prstGeom>
          <a:solidFill>
            <a:srgbClr val="000000">
              <a:alpha val="0"/>
            </a:srgbClr>
          </a:solidFill>
          <a:ln w="0">
            <a:solidFill>
              <a:srgbClr val="000000">
                <a:alpha val="0"/>
              </a:srgbClr>
            </a:solidFill>
            <a:prstDash val="solid"/>
          </a:ln>
        </p:spPr>
        <p:txBody>
          <a:bodyPr lIns="0" tIns="0" rIns="0" bIns="0" anchor="t">
            <a:normAutofit fontScale="94855"/>
          </a:bodyPr>
          <a:lstStyle/>
          <a:p>
            <a:pPr algn="ctr">
              <a:defRPr sz="2850" b="1">
                <a:solidFill>
                  <a:srgbClr val="FAFAFA"/>
                </a:solidFill>
              </a:defRPr>
            </a:pPr>
            <a:r>
              <a:rPr sz="2850" b="1">
                <a:solidFill>
                  <a:srgbClr val="FAFAFA"/>
                </a:solidFill>
              </a:rPr>
              <a:t>$12,200 - $12,800</a:t>
            </a:r>
          </a:p>
        </p:txBody>
      </p:sp>
      <p:sp>
        <p:nvSpPr>
          <p:cNvPr id="19" name="Rectangle 18">
            <a:extLst>
              <a:ext uri="{FF2B5EF4-FFF2-40B4-BE49-F238E27FC236}">
                <a16:creationId xmlns:a16="http://schemas.microsoft.com/office/drawing/2014/main" id="{0E5DC18F-1333-4875-B848-4EF52A7765F5}"/>
              </a:ext>
            </a:extLst>
          </p:cNvPr>
          <p:cNvSpPr>
            <a:spLocks noGrp="1"/>
          </p:cNvSpPr>
          <p:nvPr/>
        </p:nvSpPr>
        <p:spPr>
          <a:xfrm>
            <a:off x="609600" y="6419850"/>
            <a:ext cx="1524000" cy="19050"/>
          </a:xfrm>
          <a:prstGeom prst="rect">
            <a:avLst/>
          </a:prstGeom>
          <a:solidFill>
            <a:srgbClr val="DC2626"/>
          </a:solidFill>
          <a:ln w="0">
            <a:solidFill>
              <a:srgbClr val="DC2626"/>
            </a:solidFill>
            <a:prstDash val="solid"/>
          </a:ln>
        </p:spPr>
        <p:txBody>
          <a:bodyPr/>
          <a:lstStyle/>
          <a:p>
            <a:endParaRPr lang="en-US"/>
          </a:p>
        </p:txBody>
      </p:sp>
      <p:sp>
        <p:nvSpPr>
          <p:cNvPr id="20" name="Rectangle 19">
            <a:extLst>
              <a:ext uri="{FF2B5EF4-FFF2-40B4-BE49-F238E27FC236}">
                <a16:creationId xmlns:a16="http://schemas.microsoft.com/office/drawing/2014/main" id="{A04701EB-4F4C-4E40-81E2-34A0AE9A2D99}"/>
              </a:ext>
            </a:extLst>
          </p:cNvPr>
          <p:cNvSpPr>
            <a:spLocks noGrp="1"/>
          </p:cNvSpPr>
          <p:nvPr/>
        </p:nvSpPr>
        <p:spPr>
          <a:xfrm>
            <a:off x="2266950" y="6315075"/>
            <a:ext cx="1714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050" b="0">
                <a:solidFill>
                  <a:srgbClr val="6B7280"/>
                </a:solidFill>
              </a:defRPr>
            </a:pPr>
            <a:r>
              <a:rPr sz="1050" b="0">
                <a:solidFill>
                  <a:srgbClr val="6B7280"/>
                </a:solidFill>
              </a:rPr>
              <a:t>CarSight AI</a:t>
            </a:r>
          </a:p>
        </p:txBody>
      </p:sp>
      <p:sp>
        <p:nvSpPr>
          <p:cNvPr id="21" name="Rectangle 20">
            <a:extLst>
              <a:ext uri="{FF2B5EF4-FFF2-40B4-BE49-F238E27FC236}">
                <a16:creationId xmlns:a16="http://schemas.microsoft.com/office/drawing/2014/main" id="{66865477-8929-47E8-9915-470D8E7E6230}"/>
              </a:ext>
            </a:extLst>
          </p:cNvPr>
          <p:cNvSpPr>
            <a:spLocks noGrp="1"/>
          </p:cNvSpPr>
          <p:nvPr/>
        </p:nvSpPr>
        <p:spPr>
          <a:xfrm>
            <a:off x="11315700" y="6286500"/>
            <a:ext cx="3619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r">
              <a:defRPr sz="1200" b="0">
                <a:solidFill>
                  <a:srgbClr val="6B7280"/>
                </a:solidFill>
              </a:defRPr>
            </a:pPr>
            <a:r>
              <a:rPr sz="1200" b="0">
                <a:solidFill>
                  <a:srgbClr val="6B7280"/>
                </a:solidFill>
              </a:rPr>
              <a:t>7</a:t>
            </a:r>
          </a:p>
        </p:txBody>
      </p:sp>
    </p:spTree>
    <p:extLst>
      <p:ext uri="{BB962C8B-B14F-4D97-AF65-F5344CB8AC3E}">
        <p14:creationId xmlns:p14="http://schemas.microsoft.com/office/powerpoint/2010/main" val="1957074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E58CBFB-7083-413D-8016-CF07322D7675}"/>
              </a:ext>
            </a:extLst>
          </p:cNvPr>
          <p:cNvSpPr>
            <a:spLocks noGrp="1" noRot="1" noMove="1" noResize="1" noEditPoints="1" noAdjustHandles="1" noChangeArrowheads="1" noChangeShapeType="1"/>
          </p:cNvSpPr>
          <p:nvPr/>
        </p:nvSpPr>
        <p:spPr>
          <a:xfrm>
            <a:off x="609600" y="457200"/>
            <a:ext cx="1809750" cy="323850"/>
          </a:xfrm>
          <a:prstGeom prst="roundRect">
            <a:avLst>
              <a:gd name="adj" fmla="val 16667"/>
            </a:avLst>
          </a:prstGeom>
          <a:solidFill>
            <a:srgbClr val="DC2626"/>
          </a:solidFill>
          <a:ln w="0">
            <a:solidFill>
              <a:srgbClr val="DC2626"/>
            </a:solidFill>
            <a:prstDash val="solid"/>
          </a:ln>
        </p:spPr>
        <p:txBody>
          <a:bodyPr lIns="95250" tIns="28575" rIns="95250" bIns="28575" anchor="ctr"/>
          <a:lstStyle/>
          <a:p>
            <a:pPr algn="ctr">
              <a:defRPr sz="1050" b="1">
                <a:solidFill>
                  <a:srgbClr val="FAFAFA"/>
                </a:solidFill>
              </a:defRPr>
            </a:pPr>
            <a:r>
              <a:rPr sz="1050" b="1">
                <a:solidFill>
                  <a:srgbClr val="FAFAFA"/>
                </a:solidFill>
              </a:rPr>
              <a:t>PROTOTYPE</a:t>
            </a:r>
          </a:p>
        </p:txBody>
      </p:sp>
      <p:sp>
        <p:nvSpPr>
          <p:cNvPr id="3" name="Rectangle 2">
            <a:extLst>
              <a:ext uri="{FF2B5EF4-FFF2-40B4-BE49-F238E27FC236}">
                <a16:creationId xmlns:a16="http://schemas.microsoft.com/office/drawing/2014/main" id="{C464CFC3-2D42-411A-BD1C-5F024258F6F4}"/>
              </a:ext>
            </a:extLst>
          </p:cNvPr>
          <p:cNvSpPr>
            <a:spLocks noGrp="1" noRot="1" noMove="1" noResize="1" noEditPoints="1" noAdjustHandles="1" noChangeArrowheads="1" noChangeShapeType="1"/>
          </p:cNvSpPr>
          <p:nvPr/>
        </p:nvSpPr>
        <p:spPr>
          <a:xfrm>
            <a:off x="609600" y="914400"/>
            <a:ext cx="7429500" cy="8191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3450" b="1">
                <a:solidFill>
                  <a:srgbClr val="FAFAFA"/>
                </a:solidFill>
              </a:defRPr>
            </a:pPr>
            <a:r>
              <a:rPr sz="3450" b="1">
                <a:solidFill>
                  <a:srgbClr val="FAFAFA"/>
                </a:solidFill>
              </a:rPr>
              <a:t>What the dashboard is meant to do</a:t>
            </a:r>
          </a:p>
        </p:txBody>
      </p:sp>
      <p:sp>
        <p:nvSpPr>
          <p:cNvPr id="4" name="Rectangle 3">
            <a:extLst>
              <a:ext uri="{FF2B5EF4-FFF2-40B4-BE49-F238E27FC236}">
                <a16:creationId xmlns:a16="http://schemas.microsoft.com/office/drawing/2014/main" id="{2294B938-587F-4D70-B82F-C5A3A565E547}"/>
              </a:ext>
            </a:extLst>
          </p:cNvPr>
          <p:cNvSpPr>
            <a:spLocks noGrp="1" noRot="1" noMove="1" noResize="1" noEditPoints="1" noAdjustHandles="1" noChangeArrowheads="1" noChangeShapeType="1"/>
          </p:cNvSpPr>
          <p:nvPr/>
        </p:nvSpPr>
        <p:spPr>
          <a:xfrm>
            <a:off x="628650" y="1752600"/>
            <a:ext cx="6858000" cy="476250"/>
          </a:xfrm>
          <a:prstGeom prst="rect">
            <a:avLst/>
          </a:prstGeom>
          <a:solidFill>
            <a:srgbClr val="000000">
              <a:alpha val="0"/>
            </a:srgbClr>
          </a:solidFill>
          <a:ln w="0">
            <a:solidFill>
              <a:srgbClr val="000000">
                <a:alpha val="0"/>
              </a:srgbClr>
            </a:solidFill>
            <a:prstDash val="solid"/>
          </a:ln>
        </p:spPr>
        <p:txBody>
          <a:bodyPr lIns="0" tIns="0" rIns="0" bIns="0" anchor="t">
            <a:normAutofit fontScale="93091"/>
          </a:bodyPr>
          <a:lstStyle/>
          <a:p>
            <a:pPr algn="l">
              <a:defRPr sz="1650" b="0">
                <a:solidFill>
                  <a:srgbClr val="D1D5DB"/>
                </a:solidFill>
              </a:defRPr>
            </a:pPr>
            <a:r>
              <a:rPr sz="1650" b="0">
                <a:solidFill>
                  <a:srgbClr val="D1D5DB"/>
                </a:solidFill>
              </a:rPr>
              <a:t>The interface keeps the workflow simple: enter the car, paste the description, review the reasoning.</a:t>
            </a:r>
          </a:p>
        </p:txBody>
      </p:sp>
      <p:sp>
        <p:nvSpPr>
          <p:cNvPr id="5" name="Rectangle: Rounded Corners 4">
            <a:extLst>
              <a:ext uri="{FF2B5EF4-FFF2-40B4-BE49-F238E27FC236}">
                <a16:creationId xmlns:a16="http://schemas.microsoft.com/office/drawing/2014/main" id="{25281B01-FBBF-414F-89C2-3E4808D66619}"/>
              </a:ext>
            </a:extLst>
          </p:cNvPr>
          <p:cNvSpPr>
            <a:spLocks noGrp="1" noRot="1" noMove="1" noResize="1" noEditPoints="1" noAdjustHandles="1" noChangeArrowheads="1" noChangeShapeType="1"/>
          </p:cNvSpPr>
          <p:nvPr/>
        </p:nvSpPr>
        <p:spPr>
          <a:xfrm>
            <a:off x="819150" y="2571750"/>
            <a:ext cx="10553700" cy="3257550"/>
          </a:xfrm>
          <a:prstGeom prst="roundRect">
            <a:avLst>
              <a:gd name="adj" fmla="val 9000"/>
            </a:avLst>
          </a:prstGeom>
          <a:solidFill>
            <a:srgbClr val="F8FAFC"/>
          </a:solidFill>
          <a:ln w="9525">
            <a:solidFill>
              <a:srgbClr val="CBD5E1"/>
            </a:solidFill>
            <a:prstDash val="solid"/>
          </a:ln>
        </p:spPr>
        <p:txBody>
          <a:bodyPr/>
          <a:lstStyle/>
          <a:p>
            <a:endParaRPr lang="en-US" dirty="0"/>
          </a:p>
        </p:txBody>
      </p:sp>
      <p:sp>
        <p:nvSpPr>
          <p:cNvPr id="6" name="Rectangle 5">
            <a:extLst>
              <a:ext uri="{FF2B5EF4-FFF2-40B4-BE49-F238E27FC236}">
                <a16:creationId xmlns:a16="http://schemas.microsoft.com/office/drawing/2014/main" id="{16D54CF6-3C20-460F-86D2-535A704C7769}"/>
              </a:ext>
            </a:extLst>
          </p:cNvPr>
          <p:cNvSpPr>
            <a:spLocks noGrp="1" noRot="1" noMove="1" noResize="1" noEditPoints="1" noAdjustHandles="1" noChangeArrowheads="1" noChangeShapeType="1"/>
          </p:cNvSpPr>
          <p:nvPr/>
        </p:nvSpPr>
        <p:spPr>
          <a:xfrm>
            <a:off x="1162050" y="2876550"/>
            <a:ext cx="247650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725" b="1">
                <a:solidFill>
                  <a:srgbClr val="111827"/>
                </a:solidFill>
              </a:defRPr>
            </a:pPr>
            <a:r>
              <a:rPr sz="1725" b="1">
                <a:solidFill>
                  <a:srgbClr val="111827"/>
                </a:solidFill>
              </a:rPr>
              <a:t>Vehicle Details</a:t>
            </a:r>
          </a:p>
        </p:txBody>
      </p:sp>
      <p:sp>
        <p:nvSpPr>
          <p:cNvPr id="7" name="Rectangle: Rounded Corners 6">
            <a:extLst>
              <a:ext uri="{FF2B5EF4-FFF2-40B4-BE49-F238E27FC236}">
                <a16:creationId xmlns:a16="http://schemas.microsoft.com/office/drawing/2014/main" id="{458F45FC-26DA-4D78-AC87-FED81905B343}"/>
              </a:ext>
            </a:extLst>
          </p:cNvPr>
          <p:cNvSpPr>
            <a:spLocks noGrp="1" noRot="1" noMove="1" noResize="1" noEditPoints="1" noAdjustHandles="1" noChangeArrowheads="1" noChangeShapeType="1"/>
          </p:cNvSpPr>
          <p:nvPr/>
        </p:nvSpPr>
        <p:spPr>
          <a:xfrm>
            <a:off x="1162050" y="3371850"/>
            <a:ext cx="1524000" cy="419100"/>
          </a:xfrm>
          <a:prstGeom prst="roundRect">
            <a:avLst>
              <a:gd name="adj" fmla="val 9000"/>
            </a:avLst>
          </a:prstGeom>
          <a:solidFill>
            <a:srgbClr val="FFFFFF"/>
          </a:solidFill>
          <a:ln w="9525">
            <a:solidFill>
              <a:srgbClr val="E5E7EB"/>
            </a:solidFill>
            <a:prstDash val="solid"/>
          </a:ln>
        </p:spPr>
        <p:txBody>
          <a:bodyPr/>
          <a:lstStyle/>
          <a:p>
            <a:endParaRPr lang="en-US"/>
          </a:p>
        </p:txBody>
      </p:sp>
      <p:sp>
        <p:nvSpPr>
          <p:cNvPr id="8" name="Rectangle 7">
            <a:extLst>
              <a:ext uri="{FF2B5EF4-FFF2-40B4-BE49-F238E27FC236}">
                <a16:creationId xmlns:a16="http://schemas.microsoft.com/office/drawing/2014/main" id="{3143E4FF-F367-40DA-A5C5-696DF03BDBA4}"/>
              </a:ext>
            </a:extLst>
          </p:cNvPr>
          <p:cNvSpPr>
            <a:spLocks noGrp="1" noRot="1" noMove="1" noResize="1" noEditPoints="1" noAdjustHandles="1" noChangeArrowheads="1" noChangeShapeType="1"/>
          </p:cNvSpPr>
          <p:nvPr/>
        </p:nvSpPr>
        <p:spPr>
          <a:xfrm>
            <a:off x="1295400" y="3448050"/>
            <a:ext cx="628650" cy="1905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975" b="1">
                <a:solidFill>
                  <a:srgbClr val="6B7280"/>
                </a:solidFill>
              </a:defRPr>
            </a:pPr>
            <a:r>
              <a:rPr sz="975" b="1">
                <a:solidFill>
                  <a:srgbClr val="6B7280"/>
                </a:solidFill>
              </a:rPr>
              <a:t>Year</a:t>
            </a:r>
          </a:p>
        </p:txBody>
      </p:sp>
      <p:sp>
        <p:nvSpPr>
          <p:cNvPr id="9" name="Rectangle 8">
            <a:extLst>
              <a:ext uri="{FF2B5EF4-FFF2-40B4-BE49-F238E27FC236}">
                <a16:creationId xmlns:a16="http://schemas.microsoft.com/office/drawing/2014/main" id="{51E12720-277B-4B7C-9306-E248E50B04C3}"/>
              </a:ext>
            </a:extLst>
          </p:cNvPr>
          <p:cNvSpPr>
            <a:spLocks noGrp="1" noRot="1" noMove="1" noResize="1" noEditPoints="1" noAdjustHandles="1" noChangeArrowheads="1" noChangeShapeType="1"/>
          </p:cNvSpPr>
          <p:nvPr/>
        </p:nvSpPr>
        <p:spPr>
          <a:xfrm>
            <a:off x="1924050" y="3448050"/>
            <a:ext cx="666750" cy="1905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200" b="1">
                <a:solidFill>
                  <a:srgbClr val="111827"/>
                </a:solidFill>
              </a:defRPr>
            </a:pPr>
            <a:r>
              <a:rPr sz="1200" b="1" dirty="0">
                <a:solidFill>
                  <a:srgbClr val="111827"/>
                </a:solidFill>
              </a:rPr>
              <a:t>2018</a:t>
            </a:r>
          </a:p>
        </p:txBody>
      </p:sp>
      <p:sp>
        <p:nvSpPr>
          <p:cNvPr id="10" name="Rectangle: Rounded Corners 9">
            <a:extLst>
              <a:ext uri="{FF2B5EF4-FFF2-40B4-BE49-F238E27FC236}">
                <a16:creationId xmlns:a16="http://schemas.microsoft.com/office/drawing/2014/main" id="{9A66F95C-CBA8-40B2-98F0-E6E9DAE88C12}"/>
              </a:ext>
            </a:extLst>
          </p:cNvPr>
          <p:cNvSpPr>
            <a:spLocks noGrp="1" noRot="1" noMove="1" noResize="1" noEditPoints="1" noAdjustHandles="1" noChangeArrowheads="1" noChangeShapeType="1"/>
          </p:cNvSpPr>
          <p:nvPr/>
        </p:nvSpPr>
        <p:spPr>
          <a:xfrm>
            <a:off x="2952750" y="3371850"/>
            <a:ext cx="1524000" cy="419100"/>
          </a:xfrm>
          <a:prstGeom prst="roundRect">
            <a:avLst>
              <a:gd name="adj" fmla="val 9000"/>
            </a:avLst>
          </a:prstGeom>
          <a:solidFill>
            <a:srgbClr val="FFFFFF"/>
          </a:solidFill>
          <a:ln w="9525">
            <a:solidFill>
              <a:srgbClr val="E5E7EB"/>
            </a:solidFill>
            <a:prstDash val="solid"/>
          </a:ln>
        </p:spPr>
        <p:txBody>
          <a:bodyPr/>
          <a:lstStyle/>
          <a:p>
            <a:endParaRPr lang="en-US"/>
          </a:p>
        </p:txBody>
      </p:sp>
      <p:sp>
        <p:nvSpPr>
          <p:cNvPr id="11" name="Rectangle 10">
            <a:extLst>
              <a:ext uri="{FF2B5EF4-FFF2-40B4-BE49-F238E27FC236}">
                <a16:creationId xmlns:a16="http://schemas.microsoft.com/office/drawing/2014/main" id="{280D6383-072F-4ABE-A0D4-E51A71996B36}"/>
              </a:ext>
            </a:extLst>
          </p:cNvPr>
          <p:cNvSpPr>
            <a:spLocks noGrp="1" noRot="1" noMove="1" noResize="1" noEditPoints="1" noAdjustHandles="1" noChangeArrowheads="1" noChangeShapeType="1"/>
          </p:cNvSpPr>
          <p:nvPr/>
        </p:nvSpPr>
        <p:spPr>
          <a:xfrm>
            <a:off x="3086100" y="3448050"/>
            <a:ext cx="628650" cy="1905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975" b="1">
                <a:solidFill>
                  <a:srgbClr val="6B7280"/>
                </a:solidFill>
              </a:defRPr>
            </a:pPr>
            <a:r>
              <a:rPr sz="975" b="1">
                <a:solidFill>
                  <a:srgbClr val="6B7280"/>
                </a:solidFill>
              </a:rPr>
              <a:t>Mileage</a:t>
            </a:r>
          </a:p>
        </p:txBody>
      </p:sp>
      <p:sp>
        <p:nvSpPr>
          <p:cNvPr id="12" name="Rectangle 11">
            <a:extLst>
              <a:ext uri="{FF2B5EF4-FFF2-40B4-BE49-F238E27FC236}">
                <a16:creationId xmlns:a16="http://schemas.microsoft.com/office/drawing/2014/main" id="{162591EF-9DE6-41D3-90EE-77ABD51F1CCE}"/>
              </a:ext>
            </a:extLst>
          </p:cNvPr>
          <p:cNvSpPr>
            <a:spLocks noGrp="1" noRot="1" noMove="1" noResize="1" noEditPoints="1" noAdjustHandles="1" noChangeArrowheads="1" noChangeShapeType="1"/>
          </p:cNvSpPr>
          <p:nvPr/>
        </p:nvSpPr>
        <p:spPr>
          <a:xfrm>
            <a:off x="3714750" y="3448050"/>
            <a:ext cx="666750" cy="1905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200" b="1">
                <a:solidFill>
                  <a:srgbClr val="111827"/>
                </a:solidFill>
              </a:defRPr>
            </a:pPr>
            <a:r>
              <a:rPr sz="1200" b="1">
                <a:solidFill>
                  <a:srgbClr val="111827"/>
                </a:solidFill>
              </a:rPr>
              <a:t>82,000</a:t>
            </a:r>
          </a:p>
        </p:txBody>
      </p:sp>
      <p:sp>
        <p:nvSpPr>
          <p:cNvPr id="13" name="Rectangle: Rounded Corners 12">
            <a:extLst>
              <a:ext uri="{FF2B5EF4-FFF2-40B4-BE49-F238E27FC236}">
                <a16:creationId xmlns:a16="http://schemas.microsoft.com/office/drawing/2014/main" id="{5C00EA8B-7FBA-431F-99FE-8946150AFA36}"/>
              </a:ext>
            </a:extLst>
          </p:cNvPr>
          <p:cNvSpPr>
            <a:spLocks noGrp="1" noRot="1" noMove="1" noResize="1" noEditPoints="1" noAdjustHandles="1" noChangeArrowheads="1" noChangeShapeType="1"/>
          </p:cNvSpPr>
          <p:nvPr/>
        </p:nvSpPr>
        <p:spPr>
          <a:xfrm>
            <a:off x="1162050" y="4057650"/>
            <a:ext cx="1524000" cy="419100"/>
          </a:xfrm>
          <a:prstGeom prst="roundRect">
            <a:avLst>
              <a:gd name="adj" fmla="val 9000"/>
            </a:avLst>
          </a:prstGeom>
          <a:solidFill>
            <a:srgbClr val="FFFFFF"/>
          </a:solidFill>
          <a:ln w="9525">
            <a:solidFill>
              <a:srgbClr val="E5E7EB"/>
            </a:solidFill>
            <a:prstDash val="solid"/>
          </a:ln>
        </p:spPr>
        <p:txBody>
          <a:bodyPr/>
          <a:lstStyle/>
          <a:p>
            <a:endParaRPr lang="en-US"/>
          </a:p>
        </p:txBody>
      </p:sp>
      <p:sp>
        <p:nvSpPr>
          <p:cNvPr id="14" name="Rectangle 13">
            <a:extLst>
              <a:ext uri="{FF2B5EF4-FFF2-40B4-BE49-F238E27FC236}">
                <a16:creationId xmlns:a16="http://schemas.microsoft.com/office/drawing/2014/main" id="{58B31EF8-6A73-4E95-BDEA-AEC21EFDC04F}"/>
              </a:ext>
            </a:extLst>
          </p:cNvPr>
          <p:cNvSpPr>
            <a:spLocks noGrp="1" noRot="1" noMove="1" noResize="1" noEditPoints="1" noAdjustHandles="1" noChangeArrowheads="1" noChangeShapeType="1"/>
          </p:cNvSpPr>
          <p:nvPr/>
        </p:nvSpPr>
        <p:spPr>
          <a:xfrm>
            <a:off x="1295400" y="4133850"/>
            <a:ext cx="628650" cy="1905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975" b="1">
                <a:solidFill>
                  <a:srgbClr val="6B7280"/>
                </a:solidFill>
              </a:defRPr>
            </a:pPr>
            <a:r>
              <a:rPr sz="975" b="1">
                <a:solidFill>
                  <a:srgbClr val="6B7280"/>
                </a:solidFill>
              </a:rPr>
              <a:t>Engine</a:t>
            </a:r>
          </a:p>
        </p:txBody>
      </p:sp>
      <p:sp>
        <p:nvSpPr>
          <p:cNvPr id="15" name="Rectangle 14">
            <a:extLst>
              <a:ext uri="{FF2B5EF4-FFF2-40B4-BE49-F238E27FC236}">
                <a16:creationId xmlns:a16="http://schemas.microsoft.com/office/drawing/2014/main" id="{79A7C39D-AACB-46E1-A0EC-0266B035B64B}"/>
              </a:ext>
            </a:extLst>
          </p:cNvPr>
          <p:cNvSpPr>
            <a:spLocks noGrp="1" noRot="1" noMove="1" noResize="1" noEditPoints="1" noAdjustHandles="1" noChangeArrowheads="1" noChangeShapeType="1"/>
          </p:cNvSpPr>
          <p:nvPr/>
        </p:nvSpPr>
        <p:spPr>
          <a:xfrm>
            <a:off x="1924050" y="4133850"/>
            <a:ext cx="666750" cy="1905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200" b="1">
                <a:solidFill>
                  <a:srgbClr val="111827"/>
                </a:solidFill>
              </a:defRPr>
            </a:pPr>
            <a:r>
              <a:rPr sz="1200" b="1" dirty="0">
                <a:solidFill>
                  <a:srgbClr val="111827"/>
                </a:solidFill>
              </a:rPr>
              <a:t>2.0L</a:t>
            </a:r>
          </a:p>
        </p:txBody>
      </p:sp>
      <p:sp>
        <p:nvSpPr>
          <p:cNvPr id="16" name="Rectangle: Rounded Corners 15">
            <a:extLst>
              <a:ext uri="{FF2B5EF4-FFF2-40B4-BE49-F238E27FC236}">
                <a16:creationId xmlns:a16="http://schemas.microsoft.com/office/drawing/2014/main" id="{EC2E0510-FB2C-4671-BD8E-6E2755E99DE5}"/>
              </a:ext>
            </a:extLst>
          </p:cNvPr>
          <p:cNvSpPr>
            <a:spLocks noGrp="1" noRot="1" noMove="1" noResize="1" noEditPoints="1" noAdjustHandles="1" noChangeArrowheads="1" noChangeShapeType="1"/>
          </p:cNvSpPr>
          <p:nvPr/>
        </p:nvSpPr>
        <p:spPr>
          <a:xfrm>
            <a:off x="2952750" y="4057650"/>
            <a:ext cx="1524000" cy="419100"/>
          </a:xfrm>
          <a:prstGeom prst="roundRect">
            <a:avLst>
              <a:gd name="adj" fmla="val 9000"/>
            </a:avLst>
          </a:prstGeom>
          <a:solidFill>
            <a:srgbClr val="FFFFFF"/>
          </a:solidFill>
          <a:ln w="9525">
            <a:solidFill>
              <a:srgbClr val="E5E7EB"/>
            </a:solidFill>
            <a:prstDash val="solid"/>
          </a:ln>
        </p:spPr>
        <p:txBody>
          <a:bodyPr/>
          <a:lstStyle/>
          <a:p>
            <a:endParaRPr lang="en-US"/>
          </a:p>
        </p:txBody>
      </p:sp>
      <p:sp>
        <p:nvSpPr>
          <p:cNvPr id="17" name="Rectangle 16">
            <a:extLst>
              <a:ext uri="{FF2B5EF4-FFF2-40B4-BE49-F238E27FC236}">
                <a16:creationId xmlns:a16="http://schemas.microsoft.com/office/drawing/2014/main" id="{CEF1EA19-99A9-436F-AF5A-3FA1D6BFAECA}"/>
              </a:ext>
            </a:extLst>
          </p:cNvPr>
          <p:cNvSpPr>
            <a:spLocks noGrp="1" noRot="1" noMove="1" noResize="1" noEditPoints="1" noAdjustHandles="1" noChangeArrowheads="1" noChangeShapeType="1"/>
          </p:cNvSpPr>
          <p:nvPr/>
        </p:nvSpPr>
        <p:spPr>
          <a:xfrm>
            <a:off x="3086100" y="4133850"/>
            <a:ext cx="628650" cy="1905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975" b="1">
                <a:solidFill>
                  <a:srgbClr val="6B7280"/>
                </a:solidFill>
              </a:defRPr>
            </a:pPr>
            <a:r>
              <a:rPr sz="975" b="1">
                <a:solidFill>
                  <a:srgbClr val="6B7280"/>
                </a:solidFill>
              </a:rPr>
              <a:t>Model</a:t>
            </a:r>
          </a:p>
        </p:txBody>
      </p:sp>
      <p:sp>
        <p:nvSpPr>
          <p:cNvPr id="18" name="Rectangle 17">
            <a:extLst>
              <a:ext uri="{FF2B5EF4-FFF2-40B4-BE49-F238E27FC236}">
                <a16:creationId xmlns:a16="http://schemas.microsoft.com/office/drawing/2014/main" id="{A614B9B5-B0DC-4926-AA84-C74F61450443}"/>
              </a:ext>
            </a:extLst>
          </p:cNvPr>
          <p:cNvSpPr>
            <a:spLocks noGrp="1" noRot="1" noMove="1" noResize="1" noEditPoints="1" noAdjustHandles="1" noChangeArrowheads="1" noChangeShapeType="1"/>
          </p:cNvSpPr>
          <p:nvPr/>
        </p:nvSpPr>
        <p:spPr>
          <a:xfrm>
            <a:off x="3714750" y="4133850"/>
            <a:ext cx="666750" cy="190500"/>
          </a:xfrm>
          <a:prstGeom prst="rect">
            <a:avLst/>
          </a:prstGeom>
          <a:solidFill>
            <a:srgbClr val="000000">
              <a:alpha val="0"/>
            </a:srgbClr>
          </a:solidFill>
          <a:ln w="0">
            <a:solidFill>
              <a:srgbClr val="000000">
                <a:alpha val="0"/>
              </a:srgbClr>
            </a:solidFill>
            <a:prstDash val="solid"/>
          </a:ln>
        </p:spPr>
        <p:txBody>
          <a:bodyPr lIns="0" tIns="0" rIns="0" bIns="0" anchor="t">
            <a:normAutofit fontScale="67741" lnSpcReduction="20000"/>
          </a:bodyPr>
          <a:lstStyle/>
          <a:p>
            <a:pPr algn="l">
              <a:defRPr sz="1200" b="1">
                <a:solidFill>
                  <a:srgbClr val="111827"/>
                </a:solidFill>
              </a:defRPr>
            </a:pPr>
            <a:r>
              <a:rPr sz="1200" b="1">
                <a:solidFill>
                  <a:srgbClr val="111827"/>
                </a:solidFill>
              </a:rPr>
              <a:t>Honda Accord</a:t>
            </a:r>
          </a:p>
        </p:txBody>
      </p:sp>
      <p:sp>
        <p:nvSpPr>
          <p:cNvPr id="19" name="Rectangle 18">
            <a:extLst>
              <a:ext uri="{FF2B5EF4-FFF2-40B4-BE49-F238E27FC236}">
                <a16:creationId xmlns:a16="http://schemas.microsoft.com/office/drawing/2014/main" id="{59EFA317-268C-4258-B6E2-34C9952A3564}"/>
              </a:ext>
            </a:extLst>
          </p:cNvPr>
          <p:cNvSpPr>
            <a:spLocks noGrp="1" noRot="1" noMove="1" noResize="1" noEditPoints="1" noAdjustHandles="1" noChangeArrowheads="1" noChangeShapeType="1"/>
          </p:cNvSpPr>
          <p:nvPr/>
        </p:nvSpPr>
        <p:spPr>
          <a:xfrm>
            <a:off x="1162050" y="4800600"/>
            <a:ext cx="2476500" cy="2476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1">
                <a:solidFill>
                  <a:srgbClr val="111827"/>
                </a:solidFill>
              </a:defRPr>
            </a:pPr>
            <a:r>
              <a:rPr sz="1350" b="1">
                <a:solidFill>
                  <a:srgbClr val="111827"/>
                </a:solidFill>
              </a:rPr>
              <a:t>Damage Description</a:t>
            </a:r>
          </a:p>
        </p:txBody>
      </p:sp>
      <p:sp>
        <p:nvSpPr>
          <p:cNvPr id="20" name="Rectangle: Rounded Corners 19">
            <a:extLst>
              <a:ext uri="{FF2B5EF4-FFF2-40B4-BE49-F238E27FC236}">
                <a16:creationId xmlns:a16="http://schemas.microsoft.com/office/drawing/2014/main" id="{0879D291-A912-4532-853B-6378896A5BA9}"/>
              </a:ext>
            </a:extLst>
          </p:cNvPr>
          <p:cNvSpPr>
            <a:spLocks noGrp="1" noRot="1" noMove="1" noResize="1" noEditPoints="1" noAdjustHandles="1" noChangeArrowheads="1" noChangeShapeType="1"/>
          </p:cNvSpPr>
          <p:nvPr/>
        </p:nvSpPr>
        <p:spPr>
          <a:xfrm>
            <a:off x="1162050" y="5105400"/>
            <a:ext cx="3314700" cy="457200"/>
          </a:xfrm>
          <a:prstGeom prst="roundRect">
            <a:avLst>
              <a:gd name="adj" fmla="val 9000"/>
            </a:avLst>
          </a:prstGeom>
          <a:solidFill>
            <a:srgbClr val="FFFFFF"/>
          </a:solidFill>
          <a:ln w="9525">
            <a:solidFill>
              <a:srgbClr val="E5E7EB"/>
            </a:solidFill>
            <a:prstDash val="solid"/>
          </a:ln>
        </p:spPr>
        <p:txBody>
          <a:bodyPr/>
          <a:lstStyle/>
          <a:p>
            <a:endParaRPr lang="en-US"/>
          </a:p>
        </p:txBody>
      </p:sp>
      <p:sp>
        <p:nvSpPr>
          <p:cNvPr id="21" name="Rectangle 20">
            <a:extLst>
              <a:ext uri="{FF2B5EF4-FFF2-40B4-BE49-F238E27FC236}">
                <a16:creationId xmlns:a16="http://schemas.microsoft.com/office/drawing/2014/main" id="{9453875D-9A8E-4A37-892E-8A36871B7281}"/>
              </a:ext>
            </a:extLst>
          </p:cNvPr>
          <p:cNvSpPr>
            <a:spLocks noGrp="1" noRot="1" noMove="1" noResize="1" noEditPoints="1" noAdjustHandles="1" noChangeArrowheads="1" noChangeShapeType="1"/>
          </p:cNvSpPr>
          <p:nvPr/>
        </p:nvSpPr>
        <p:spPr>
          <a:xfrm>
            <a:off x="1333500" y="5219700"/>
            <a:ext cx="2857500" cy="2286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275" b="0">
                <a:solidFill>
                  <a:srgbClr val="374151"/>
                </a:solidFill>
              </a:defRPr>
            </a:pPr>
            <a:r>
              <a:rPr sz="1275" b="0">
                <a:solidFill>
                  <a:srgbClr val="374151"/>
                </a:solidFill>
              </a:rPr>
              <a:t>bumper cracked, engine knock</a:t>
            </a:r>
          </a:p>
        </p:txBody>
      </p:sp>
      <p:sp>
        <p:nvSpPr>
          <p:cNvPr id="22" name="Rectangle: Rounded Corners 21">
            <a:extLst>
              <a:ext uri="{FF2B5EF4-FFF2-40B4-BE49-F238E27FC236}">
                <a16:creationId xmlns:a16="http://schemas.microsoft.com/office/drawing/2014/main" id="{F5814725-76C2-4D9C-8732-8C309D496B99}"/>
              </a:ext>
            </a:extLst>
          </p:cNvPr>
          <p:cNvSpPr>
            <a:spLocks noGrp="1" noRot="1" noMove="1" noResize="1" noEditPoints="1" noAdjustHandles="1" noChangeArrowheads="1" noChangeShapeType="1"/>
          </p:cNvSpPr>
          <p:nvPr/>
        </p:nvSpPr>
        <p:spPr>
          <a:xfrm>
            <a:off x="5162550" y="2914650"/>
            <a:ext cx="2667000" cy="1885950"/>
          </a:xfrm>
          <a:prstGeom prst="roundRect">
            <a:avLst>
              <a:gd name="adj" fmla="val 9000"/>
            </a:avLst>
          </a:prstGeom>
          <a:solidFill>
            <a:srgbClr val="111827"/>
          </a:solidFill>
          <a:ln w="0">
            <a:solidFill>
              <a:srgbClr val="111827"/>
            </a:solidFill>
            <a:prstDash val="solid"/>
          </a:ln>
        </p:spPr>
        <p:txBody>
          <a:bodyPr/>
          <a:lstStyle/>
          <a:p>
            <a:endParaRPr lang="en-US"/>
          </a:p>
        </p:txBody>
      </p:sp>
      <p:sp>
        <p:nvSpPr>
          <p:cNvPr id="23" name="Rectangle 22">
            <a:extLst>
              <a:ext uri="{FF2B5EF4-FFF2-40B4-BE49-F238E27FC236}">
                <a16:creationId xmlns:a16="http://schemas.microsoft.com/office/drawing/2014/main" id="{A1D6B43C-BD3B-4E00-9407-3E8B4959A613}"/>
              </a:ext>
            </a:extLst>
          </p:cNvPr>
          <p:cNvSpPr>
            <a:spLocks noGrp="1" noRot="1" noMove="1" noResize="1" noEditPoints="1" noAdjustHandles="1" noChangeArrowheads="1" noChangeShapeType="1"/>
          </p:cNvSpPr>
          <p:nvPr/>
        </p:nvSpPr>
        <p:spPr>
          <a:xfrm>
            <a:off x="5448300" y="3181350"/>
            <a:ext cx="2095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00" b="1">
                <a:solidFill>
                  <a:srgbClr val="FAFAFA"/>
                </a:solidFill>
              </a:defRPr>
            </a:pPr>
            <a:r>
              <a:rPr sz="1500" b="1">
                <a:solidFill>
                  <a:srgbClr val="FAFAFA"/>
                </a:solidFill>
              </a:rPr>
              <a:t>Price Range</a:t>
            </a:r>
          </a:p>
        </p:txBody>
      </p:sp>
      <p:sp>
        <p:nvSpPr>
          <p:cNvPr id="24" name="Rectangle 23">
            <a:extLst>
              <a:ext uri="{FF2B5EF4-FFF2-40B4-BE49-F238E27FC236}">
                <a16:creationId xmlns:a16="http://schemas.microsoft.com/office/drawing/2014/main" id="{8131BAB9-2FB6-4229-BC26-1C783B068722}"/>
              </a:ext>
            </a:extLst>
          </p:cNvPr>
          <p:cNvSpPr>
            <a:spLocks noGrp="1" noRot="1" noMove="1" noResize="1" noEditPoints="1" noAdjustHandles="1" noChangeArrowheads="1" noChangeShapeType="1"/>
          </p:cNvSpPr>
          <p:nvPr/>
        </p:nvSpPr>
        <p:spPr>
          <a:xfrm>
            <a:off x="5448300" y="3600450"/>
            <a:ext cx="2095500" cy="361950"/>
          </a:xfrm>
          <a:prstGeom prst="rect">
            <a:avLst/>
          </a:prstGeom>
          <a:solidFill>
            <a:srgbClr val="000000">
              <a:alpha val="0"/>
            </a:srgbClr>
          </a:solidFill>
          <a:ln w="0">
            <a:solidFill>
              <a:srgbClr val="000000">
                <a:alpha val="0"/>
              </a:srgbClr>
            </a:solidFill>
            <a:prstDash val="solid"/>
          </a:ln>
        </p:spPr>
        <p:txBody>
          <a:bodyPr lIns="0" tIns="0" rIns="0" bIns="0" anchor="t">
            <a:normAutofit fontScale="92500"/>
          </a:bodyPr>
          <a:lstStyle/>
          <a:p>
            <a:pPr algn="l">
              <a:defRPr sz="2175" b="1">
                <a:solidFill>
                  <a:srgbClr val="DC2626"/>
                </a:solidFill>
              </a:defRPr>
            </a:pPr>
            <a:r>
              <a:rPr sz="2175" b="1" dirty="0">
                <a:solidFill>
                  <a:srgbClr val="DC2626"/>
                </a:solidFill>
              </a:rPr>
              <a:t>$12,200 - $12,800</a:t>
            </a:r>
          </a:p>
        </p:txBody>
      </p:sp>
      <p:sp>
        <p:nvSpPr>
          <p:cNvPr id="25" name="Rectangle 24">
            <a:extLst>
              <a:ext uri="{FF2B5EF4-FFF2-40B4-BE49-F238E27FC236}">
                <a16:creationId xmlns:a16="http://schemas.microsoft.com/office/drawing/2014/main" id="{D3BDABD9-8D40-4228-B134-F8F1B1E2BB89}"/>
              </a:ext>
            </a:extLst>
          </p:cNvPr>
          <p:cNvSpPr>
            <a:spLocks noGrp="1" noRot="1" noMove="1" noResize="1" noEditPoints="1" noAdjustHandles="1" noChangeArrowheads="1" noChangeShapeType="1"/>
          </p:cNvSpPr>
          <p:nvPr/>
        </p:nvSpPr>
        <p:spPr>
          <a:xfrm>
            <a:off x="5299074" y="4064000"/>
            <a:ext cx="2530476" cy="48260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125" b="0">
                <a:solidFill>
                  <a:srgbClr val="D1D5DB"/>
                </a:solidFill>
              </a:defRPr>
            </a:pPr>
            <a:r>
              <a:rPr sz="1200" b="1" dirty="0">
                <a:solidFill>
                  <a:srgbClr val="D1D5DB"/>
                </a:solidFill>
              </a:rPr>
              <a:t>Confidence:</a:t>
            </a:r>
            <a:r>
              <a:rPr sz="1200" b="0" dirty="0">
                <a:solidFill>
                  <a:srgbClr val="D1D5DB"/>
                </a:solidFill>
              </a:rPr>
              <a:t> Medium</a:t>
            </a:r>
          </a:p>
          <a:p>
            <a:pPr algn="l">
              <a:defRPr sz="1125" b="0">
                <a:solidFill>
                  <a:srgbClr val="D1D5DB"/>
                </a:solidFill>
              </a:defRPr>
            </a:pPr>
            <a:r>
              <a:rPr sz="1200" b="1" dirty="0">
                <a:solidFill>
                  <a:srgbClr val="D1D5DB"/>
                </a:solidFill>
              </a:rPr>
              <a:t>Main impact:</a:t>
            </a:r>
            <a:r>
              <a:rPr sz="1200" b="0" dirty="0">
                <a:solidFill>
                  <a:srgbClr val="D1D5DB"/>
                </a:solidFill>
              </a:rPr>
              <a:t> engine + body damage</a:t>
            </a:r>
          </a:p>
        </p:txBody>
      </p:sp>
      <p:sp>
        <p:nvSpPr>
          <p:cNvPr id="26" name="Rectangle: Rounded Corners 25">
            <a:extLst>
              <a:ext uri="{FF2B5EF4-FFF2-40B4-BE49-F238E27FC236}">
                <a16:creationId xmlns:a16="http://schemas.microsoft.com/office/drawing/2014/main" id="{2A50A14D-738D-45DF-8B7B-B5DF09FCE9DA}"/>
              </a:ext>
            </a:extLst>
          </p:cNvPr>
          <p:cNvSpPr>
            <a:spLocks noGrp="1" noRot="1" noMove="1" noResize="1" noEditPoints="1" noAdjustHandles="1" noChangeArrowheads="1" noChangeShapeType="1"/>
          </p:cNvSpPr>
          <p:nvPr/>
        </p:nvSpPr>
        <p:spPr>
          <a:xfrm>
            <a:off x="8286750" y="2914650"/>
            <a:ext cx="2571750" cy="1885950"/>
          </a:xfrm>
          <a:prstGeom prst="roundRect">
            <a:avLst>
              <a:gd name="adj" fmla="val 9000"/>
            </a:avLst>
          </a:prstGeom>
          <a:solidFill>
            <a:srgbClr val="F9FAFB"/>
          </a:solidFill>
          <a:ln w="9525">
            <a:solidFill>
              <a:srgbClr val="E5E7EB"/>
            </a:solidFill>
            <a:prstDash val="solid"/>
          </a:ln>
        </p:spPr>
        <p:txBody>
          <a:bodyPr/>
          <a:lstStyle/>
          <a:p>
            <a:endParaRPr lang="en-US"/>
          </a:p>
        </p:txBody>
      </p:sp>
      <p:sp>
        <p:nvSpPr>
          <p:cNvPr id="27" name="Rectangle 26">
            <a:extLst>
              <a:ext uri="{FF2B5EF4-FFF2-40B4-BE49-F238E27FC236}">
                <a16:creationId xmlns:a16="http://schemas.microsoft.com/office/drawing/2014/main" id="{76486439-EE3D-4EB2-9A05-22700412DFC1}"/>
              </a:ext>
            </a:extLst>
          </p:cNvPr>
          <p:cNvSpPr>
            <a:spLocks noGrp="1" noRot="1" noMove="1" noResize="1" noEditPoints="1" noAdjustHandles="1" noChangeArrowheads="1" noChangeShapeType="1"/>
          </p:cNvSpPr>
          <p:nvPr/>
        </p:nvSpPr>
        <p:spPr>
          <a:xfrm>
            <a:off x="8534400" y="3181350"/>
            <a:ext cx="2095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00" b="1">
                <a:solidFill>
                  <a:srgbClr val="111827"/>
                </a:solidFill>
              </a:defRPr>
            </a:pPr>
            <a:r>
              <a:rPr sz="1500" b="1">
                <a:solidFill>
                  <a:srgbClr val="111827"/>
                </a:solidFill>
              </a:rPr>
              <a:t>Chat Assistant</a:t>
            </a:r>
          </a:p>
        </p:txBody>
      </p:sp>
      <p:sp>
        <p:nvSpPr>
          <p:cNvPr id="28" name="Rectangle: Rounded Corners 27">
            <a:extLst>
              <a:ext uri="{FF2B5EF4-FFF2-40B4-BE49-F238E27FC236}">
                <a16:creationId xmlns:a16="http://schemas.microsoft.com/office/drawing/2014/main" id="{9D924B5A-7EBC-4973-B2D7-028D84C794D7}"/>
              </a:ext>
            </a:extLst>
          </p:cNvPr>
          <p:cNvSpPr>
            <a:spLocks noGrp="1" noRot="1" noMove="1" noResize="1" noEditPoints="1" noAdjustHandles="1" noChangeArrowheads="1" noChangeShapeType="1"/>
          </p:cNvSpPr>
          <p:nvPr/>
        </p:nvSpPr>
        <p:spPr>
          <a:xfrm>
            <a:off x="8534400" y="3600450"/>
            <a:ext cx="1905000" cy="419100"/>
          </a:xfrm>
          <a:prstGeom prst="roundRect">
            <a:avLst>
              <a:gd name="adj" fmla="val 12000"/>
            </a:avLst>
          </a:prstGeom>
          <a:solidFill>
            <a:srgbClr val="E5E7EB"/>
          </a:solidFill>
          <a:ln w="0">
            <a:solidFill>
              <a:srgbClr val="E5E7EB"/>
            </a:solidFill>
            <a:prstDash val="solid"/>
          </a:ln>
        </p:spPr>
        <p:txBody>
          <a:bodyPr/>
          <a:lstStyle/>
          <a:p>
            <a:endParaRPr lang="en-US"/>
          </a:p>
        </p:txBody>
      </p:sp>
      <p:sp>
        <p:nvSpPr>
          <p:cNvPr id="29" name="Rectangle 28">
            <a:extLst>
              <a:ext uri="{FF2B5EF4-FFF2-40B4-BE49-F238E27FC236}">
                <a16:creationId xmlns:a16="http://schemas.microsoft.com/office/drawing/2014/main" id="{67E2E6BB-576A-4A68-A7D9-0C9585FC1EA6}"/>
              </a:ext>
            </a:extLst>
          </p:cNvPr>
          <p:cNvSpPr>
            <a:spLocks noGrp="1" noRot="1" noMove="1" noResize="1" noEditPoints="1" noAdjustHandles="1" noChangeArrowheads="1" noChangeShapeType="1"/>
          </p:cNvSpPr>
          <p:nvPr/>
        </p:nvSpPr>
        <p:spPr>
          <a:xfrm>
            <a:off x="8686800" y="3724275"/>
            <a:ext cx="1619250" cy="171450"/>
          </a:xfrm>
          <a:prstGeom prst="rect">
            <a:avLst/>
          </a:prstGeom>
          <a:solidFill>
            <a:srgbClr val="000000">
              <a:alpha val="0"/>
            </a:srgbClr>
          </a:solidFill>
          <a:ln w="0">
            <a:solidFill>
              <a:srgbClr val="000000">
                <a:alpha val="0"/>
              </a:srgbClr>
            </a:solidFill>
            <a:prstDash val="solid"/>
          </a:ln>
        </p:spPr>
        <p:txBody>
          <a:bodyPr lIns="0" tIns="0" rIns="0" bIns="0" anchor="t">
            <a:normAutofit fontScale="98304"/>
          </a:bodyPr>
          <a:lstStyle/>
          <a:p>
            <a:pPr algn="l">
              <a:defRPr sz="1125" b="0">
                <a:solidFill>
                  <a:srgbClr val="111827"/>
                </a:solidFill>
              </a:defRPr>
            </a:pPr>
            <a:r>
              <a:rPr sz="1125" b="0">
                <a:solidFill>
                  <a:srgbClr val="111827"/>
                </a:solidFill>
              </a:rPr>
              <a:t>Is this overpriced?</a:t>
            </a:r>
          </a:p>
        </p:txBody>
      </p:sp>
      <p:sp>
        <p:nvSpPr>
          <p:cNvPr id="30" name="Rectangle: Rounded Corners 29">
            <a:extLst>
              <a:ext uri="{FF2B5EF4-FFF2-40B4-BE49-F238E27FC236}">
                <a16:creationId xmlns:a16="http://schemas.microsoft.com/office/drawing/2014/main" id="{A93F8FD3-0616-4B91-BD26-692764F3B8D3}"/>
              </a:ext>
            </a:extLst>
          </p:cNvPr>
          <p:cNvSpPr>
            <a:spLocks noGrp="1" noRot="1" noMove="1" noResize="1" noEditPoints="1" noAdjustHandles="1" noChangeArrowheads="1" noChangeShapeType="1"/>
          </p:cNvSpPr>
          <p:nvPr/>
        </p:nvSpPr>
        <p:spPr>
          <a:xfrm>
            <a:off x="8724900" y="4171950"/>
            <a:ext cx="1809750" cy="476250"/>
          </a:xfrm>
          <a:prstGeom prst="roundRect">
            <a:avLst>
              <a:gd name="adj" fmla="val 12000"/>
            </a:avLst>
          </a:prstGeom>
          <a:solidFill>
            <a:srgbClr val="FEE2E2"/>
          </a:solidFill>
          <a:ln w="9525">
            <a:solidFill>
              <a:srgbClr val="FCA5A5"/>
            </a:solidFill>
            <a:prstDash val="solid"/>
          </a:ln>
        </p:spPr>
        <p:txBody>
          <a:bodyPr/>
          <a:lstStyle/>
          <a:p>
            <a:endParaRPr lang="en-US"/>
          </a:p>
        </p:txBody>
      </p:sp>
      <p:sp>
        <p:nvSpPr>
          <p:cNvPr id="31" name="Rectangle 30">
            <a:extLst>
              <a:ext uri="{FF2B5EF4-FFF2-40B4-BE49-F238E27FC236}">
                <a16:creationId xmlns:a16="http://schemas.microsoft.com/office/drawing/2014/main" id="{1F9C2D05-C025-4535-BB7D-B06D7A0EB077}"/>
              </a:ext>
            </a:extLst>
          </p:cNvPr>
          <p:cNvSpPr>
            <a:spLocks noGrp="1" noRot="1" noMove="1" noResize="1" noEditPoints="1" noAdjustHandles="1" noChangeArrowheads="1" noChangeShapeType="1"/>
          </p:cNvSpPr>
          <p:nvPr/>
        </p:nvSpPr>
        <p:spPr>
          <a:xfrm>
            <a:off x="8877300" y="4286250"/>
            <a:ext cx="1485900" cy="247650"/>
          </a:xfrm>
          <a:prstGeom prst="rect">
            <a:avLst/>
          </a:prstGeom>
          <a:solidFill>
            <a:srgbClr val="000000">
              <a:alpha val="0"/>
            </a:srgbClr>
          </a:solidFill>
          <a:ln w="0">
            <a:solidFill>
              <a:srgbClr val="000000">
                <a:alpha val="0"/>
              </a:srgbClr>
            </a:solidFill>
            <a:prstDash val="solid"/>
          </a:ln>
        </p:spPr>
        <p:txBody>
          <a:bodyPr lIns="0" tIns="0" rIns="0" bIns="0" anchor="t">
            <a:normAutofit fontScale="88032" lnSpcReduction="10000"/>
          </a:bodyPr>
          <a:lstStyle/>
          <a:p>
            <a:pPr algn="l">
              <a:defRPr sz="1050" b="0">
                <a:solidFill>
                  <a:srgbClr val="111827"/>
                </a:solidFill>
              </a:defRPr>
            </a:pPr>
            <a:r>
              <a:rPr sz="1050" b="0">
                <a:solidFill>
                  <a:srgbClr val="111827"/>
                </a:solidFill>
              </a:rPr>
              <a:t>Yes, the engine note raises risk.</a:t>
            </a:r>
          </a:p>
        </p:txBody>
      </p:sp>
      <p:sp>
        <p:nvSpPr>
          <p:cNvPr id="32" name="Rectangle 31">
            <a:extLst>
              <a:ext uri="{FF2B5EF4-FFF2-40B4-BE49-F238E27FC236}">
                <a16:creationId xmlns:a16="http://schemas.microsoft.com/office/drawing/2014/main" id="{2930E21A-B437-42C6-9759-25067D71D4D7}"/>
              </a:ext>
            </a:extLst>
          </p:cNvPr>
          <p:cNvSpPr>
            <a:spLocks noGrp="1" noRot="1" noMove="1" noResize="1" noEditPoints="1" noAdjustHandles="1" noChangeArrowheads="1" noChangeShapeType="1"/>
          </p:cNvSpPr>
          <p:nvPr/>
        </p:nvSpPr>
        <p:spPr>
          <a:xfrm>
            <a:off x="609600" y="6419850"/>
            <a:ext cx="1524000" cy="19050"/>
          </a:xfrm>
          <a:prstGeom prst="rect">
            <a:avLst/>
          </a:prstGeom>
          <a:solidFill>
            <a:srgbClr val="DC2626"/>
          </a:solidFill>
          <a:ln w="0">
            <a:solidFill>
              <a:srgbClr val="DC2626"/>
            </a:solidFill>
            <a:prstDash val="solid"/>
          </a:ln>
        </p:spPr>
        <p:txBody>
          <a:bodyPr/>
          <a:lstStyle/>
          <a:p>
            <a:endParaRPr lang="en-US"/>
          </a:p>
        </p:txBody>
      </p:sp>
      <p:sp>
        <p:nvSpPr>
          <p:cNvPr id="33" name="Rectangle 32">
            <a:extLst>
              <a:ext uri="{FF2B5EF4-FFF2-40B4-BE49-F238E27FC236}">
                <a16:creationId xmlns:a16="http://schemas.microsoft.com/office/drawing/2014/main" id="{1062CEA4-C591-4F08-BD76-F9184B5E0D52}"/>
              </a:ext>
            </a:extLst>
          </p:cNvPr>
          <p:cNvSpPr>
            <a:spLocks noGrp="1" noRot="1" noMove="1" noResize="1" noEditPoints="1" noAdjustHandles="1" noChangeArrowheads="1" noChangeShapeType="1"/>
          </p:cNvSpPr>
          <p:nvPr/>
        </p:nvSpPr>
        <p:spPr>
          <a:xfrm>
            <a:off x="2266950" y="6315075"/>
            <a:ext cx="1714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050" b="0">
                <a:solidFill>
                  <a:srgbClr val="6B7280"/>
                </a:solidFill>
              </a:defRPr>
            </a:pPr>
            <a:r>
              <a:rPr sz="1050" b="0">
                <a:solidFill>
                  <a:srgbClr val="6B7280"/>
                </a:solidFill>
              </a:rPr>
              <a:t>CarSight AI</a:t>
            </a:r>
          </a:p>
        </p:txBody>
      </p:sp>
      <p:sp>
        <p:nvSpPr>
          <p:cNvPr id="34" name="Rectangle 33">
            <a:extLst>
              <a:ext uri="{FF2B5EF4-FFF2-40B4-BE49-F238E27FC236}">
                <a16:creationId xmlns:a16="http://schemas.microsoft.com/office/drawing/2014/main" id="{2E12D9AA-2753-4489-BF9D-FC39D48CA654}"/>
              </a:ext>
            </a:extLst>
          </p:cNvPr>
          <p:cNvSpPr>
            <a:spLocks noGrp="1" noRot="1" noMove="1" noResize="1" noEditPoints="1" noAdjustHandles="1" noChangeArrowheads="1" noChangeShapeType="1"/>
          </p:cNvSpPr>
          <p:nvPr/>
        </p:nvSpPr>
        <p:spPr>
          <a:xfrm>
            <a:off x="11315700" y="6286500"/>
            <a:ext cx="3619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r">
              <a:defRPr sz="1200" b="0">
                <a:solidFill>
                  <a:srgbClr val="6B7280"/>
                </a:solidFill>
              </a:defRPr>
            </a:pPr>
            <a:r>
              <a:rPr sz="1200" b="0">
                <a:solidFill>
                  <a:srgbClr val="6B7280"/>
                </a:solidFill>
              </a:rPr>
              <a:t>8</a:t>
            </a:r>
          </a:p>
        </p:txBody>
      </p:sp>
    </p:spTree>
    <p:extLst>
      <p:ext uri="{BB962C8B-B14F-4D97-AF65-F5344CB8AC3E}">
        <p14:creationId xmlns:p14="http://schemas.microsoft.com/office/powerpoint/2010/main" val="1919334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484B5C1-18A3-456D-90FB-9D6C76E093D8}"/>
              </a:ext>
            </a:extLst>
          </p:cNvPr>
          <p:cNvSpPr>
            <a:spLocks noGrp="1"/>
          </p:cNvSpPr>
          <p:nvPr/>
        </p:nvSpPr>
        <p:spPr>
          <a:xfrm>
            <a:off x="609600" y="457200"/>
            <a:ext cx="1809750" cy="323850"/>
          </a:xfrm>
          <a:prstGeom prst="roundRect">
            <a:avLst>
              <a:gd name="adj" fmla="val 16667"/>
            </a:avLst>
          </a:prstGeom>
          <a:solidFill>
            <a:srgbClr val="DC2626"/>
          </a:solidFill>
          <a:ln w="0">
            <a:solidFill>
              <a:srgbClr val="DC2626"/>
            </a:solidFill>
            <a:prstDash val="solid"/>
          </a:ln>
        </p:spPr>
        <p:txBody>
          <a:bodyPr lIns="95250" tIns="28575" rIns="95250" bIns="28575" anchor="ctr"/>
          <a:lstStyle/>
          <a:p>
            <a:pPr algn="ctr">
              <a:defRPr sz="1050" b="1">
                <a:solidFill>
                  <a:srgbClr val="FAFAFA"/>
                </a:solidFill>
              </a:defRPr>
            </a:pPr>
            <a:r>
              <a:rPr sz="1050" b="1">
                <a:solidFill>
                  <a:srgbClr val="FAFAFA"/>
                </a:solidFill>
              </a:rPr>
              <a:t>EXPLAINABILITY</a:t>
            </a:r>
          </a:p>
        </p:txBody>
      </p:sp>
      <p:sp>
        <p:nvSpPr>
          <p:cNvPr id="3" name="Rectangle 2">
            <a:extLst>
              <a:ext uri="{FF2B5EF4-FFF2-40B4-BE49-F238E27FC236}">
                <a16:creationId xmlns:a16="http://schemas.microsoft.com/office/drawing/2014/main" id="{998FF612-94BD-4237-B974-564EED82C457}"/>
              </a:ext>
            </a:extLst>
          </p:cNvPr>
          <p:cNvSpPr>
            <a:spLocks noGrp="1"/>
          </p:cNvSpPr>
          <p:nvPr/>
        </p:nvSpPr>
        <p:spPr>
          <a:xfrm>
            <a:off x="609600" y="914400"/>
            <a:ext cx="7429500" cy="819150"/>
          </a:xfrm>
          <a:prstGeom prst="rect">
            <a:avLst/>
          </a:prstGeom>
          <a:solidFill>
            <a:srgbClr val="000000">
              <a:alpha val="0"/>
            </a:srgbClr>
          </a:solidFill>
          <a:ln w="0">
            <a:solidFill>
              <a:srgbClr val="000000">
                <a:alpha val="0"/>
              </a:srgbClr>
            </a:solidFill>
            <a:prstDash val="solid"/>
          </a:ln>
        </p:spPr>
        <p:txBody>
          <a:bodyPr lIns="0" tIns="0" rIns="0" bIns="0" anchor="t">
            <a:normAutofit fontScale="86286" lnSpcReduction="20000"/>
          </a:bodyPr>
          <a:lstStyle/>
          <a:p>
            <a:pPr algn="l">
              <a:defRPr sz="3450" b="1">
                <a:solidFill>
                  <a:srgbClr val="FAFAFA"/>
                </a:solidFill>
              </a:defRPr>
            </a:pPr>
            <a:r>
              <a:rPr sz="3450" b="1">
                <a:solidFill>
                  <a:srgbClr val="FAFAFA"/>
                </a:solidFill>
              </a:rPr>
              <a:t>The chatbot is there for the follow-up question.</a:t>
            </a:r>
          </a:p>
        </p:txBody>
      </p:sp>
      <p:sp>
        <p:nvSpPr>
          <p:cNvPr id="4" name="Rectangle 3">
            <a:extLst>
              <a:ext uri="{FF2B5EF4-FFF2-40B4-BE49-F238E27FC236}">
                <a16:creationId xmlns:a16="http://schemas.microsoft.com/office/drawing/2014/main" id="{0FA2D099-E8ED-4626-857D-1D7E6D3C1282}"/>
              </a:ext>
            </a:extLst>
          </p:cNvPr>
          <p:cNvSpPr>
            <a:spLocks noGrp="1"/>
          </p:cNvSpPr>
          <p:nvPr/>
        </p:nvSpPr>
        <p:spPr>
          <a:xfrm>
            <a:off x="628650" y="1752600"/>
            <a:ext cx="6858000" cy="476250"/>
          </a:xfrm>
          <a:prstGeom prst="rect">
            <a:avLst/>
          </a:prstGeom>
          <a:solidFill>
            <a:srgbClr val="000000">
              <a:alpha val="0"/>
            </a:srgbClr>
          </a:solidFill>
          <a:ln w="0">
            <a:solidFill>
              <a:srgbClr val="000000">
                <a:alpha val="0"/>
              </a:srgbClr>
            </a:solidFill>
            <a:prstDash val="solid"/>
          </a:ln>
        </p:spPr>
        <p:txBody>
          <a:bodyPr lIns="0" tIns="0" rIns="0" bIns="0" anchor="t">
            <a:normAutofit fontScale="98202" lnSpcReduction="10000"/>
          </a:bodyPr>
          <a:lstStyle/>
          <a:p>
            <a:pPr algn="l">
              <a:defRPr sz="1650" b="0">
                <a:solidFill>
                  <a:srgbClr val="D1D5DB"/>
                </a:solidFill>
              </a:defRPr>
            </a:pPr>
            <a:r>
              <a:rPr sz="1650" b="0">
                <a:solidFill>
                  <a:srgbClr val="D1D5DB"/>
                </a:solidFill>
              </a:rPr>
              <a:t>The user should be able to ask why the range changed, not just accept the answer.</a:t>
            </a:r>
          </a:p>
        </p:txBody>
      </p:sp>
      <p:sp>
        <p:nvSpPr>
          <p:cNvPr id="5" name="Rectangle: Rounded Corners 4">
            <a:extLst>
              <a:ext uri="{FF2B5EF4-FFF2-40B4-BE49-F238E27FC236}">
                <a16:creationId xmlns:a16="http://schemas.microsoft.com/office/drawing/2014/main" id="{74813570-90F5-4C96-A901-D8913ED51B79}"/>
              </a:ext>
            </a:extLst>
          </p:cNvPr>
          <p:cNvSpPr>
            <a:spLocks noGrp="1"/>
          </p:cNvSpPr>
          <p:nvPr/>
        </p:nvSpPr>
        <p:spPr>
          <a:xfrm>
            <a:off x="1143000" y="2800350"/>
            <a:ext cx="4286250" cy="704850"/>
          </a:xfrm>
          <a:prstGeom prst="roundRect">
            <a:avLst>
              <a:gd name="adj" fmla="val 12000"/>
            </a:avLst>
          </a:prstGeom>
          <a:solidFill>
            <a:srgbClr val="1F2937"/>
          </a:solidFill>
          <a:ln w="9525">
            <a:solidFill>
              <a:srgbClr val="334155"/>
            </a:solidFill>
            <a:prstDash val="solid"/>
          </a:ln>
        </p:spPr>
        <p:txBody>
          <a:bodyPr/>
          <a:lstStyle/>
          <a:p>
            <a:endParaRPr lang="en-US"/>
          </a:p>
        </p:txBody>
      </p:sp>
      <p:sp>
        <p:nvSpPr>
          <p:cNvPr id="6" name="Rectangle 5">
            <a:extLst>
              <a:ext uri="{FF2B5EF4-FFF2-40B4-BE49-F238E27FC236}">
                <a16:creationId xmlns:a16="http://schemas.microsoft.com/office/drawing/2014/main" id="{08F9E992-4F11-4346-BE66-E4D2E0EBD3FA}"/>
              </a:ext>
            </a:extLst>
          </p:cNvPr>
          <p:cNvSpPr>
            <a:spLocks noGrp="1"/>
          </p:cNvSpPr>
          <p:nvPr/>
        </p:nvSpPr>
        <p:spPr>
          <a:xfrm>
            <a:off x="1390650" y="3028950"/>
            <a:ext cx="3771900" cy="266700"/>
          </a:xfrm>
          <a:prstGeom prst="rect">
            <a:avLst/>
          </a:prstGeom>
          <a:solidFill>
            <a:srgbClr val="000000">
              <a:alpha val="0"/>
            </a:srgbClr>
          </a:solidFill>
          <a:ln w="0">
            <a:solidFill>
              <a:srgbClr val="000000">
                <a:alpha val="0"/>
              </a:srgbClr>
            </a:solidFill>
            <a:prstDash val="solid"/>
          </a:ln>
        </p:spPr>
        <p:txBody>
          <a:bodyPr lIns="0" tIns="0" rIns="0" bIns="0" anchor="t">
            <a:normAutofit fontScale="99729"/>
          </a:bodyPr>
          <a:lstStyle/>
          <a:p>
            <a:pPr algn="l">
              <a:defRPr sz="1725" b="1">
                <a:solidFill>
                  <a:srgbClr val="FAFAFA"/>
                </a:solidFill>
              </a:defRPr>
            </a:pPr>
            <a:r>
              <a:rPr sz="1725" b="1">
                <a:solidFill>
                  <a:srgbClr val="FAFAFA"/>
                </a:solidFill>
              </a:rPr>
              <a:t>User: Should I still make an offer?</a:t>
            </a:r>
          </a:p>
        </p:txBody>
      </p:sp>
      <p:sp>
        <p:nvSpPr>
          <p:cNvPr id="7" name="Rectangle: Rounded Corners 6">
            <a:extLst>
              <a:ext uri="{FF2B5EF4-FFF2-40B4-BE49-F238E27FC236}">
                <a16:creationId xmlns:a16="http://schemas.microsoft.com/office/drawing/2014/main" id="{780BFC1D-5F40-4061-B256-ACBDA5E00462}"/>
              </a:ext>
            </a:extLst>
          </p:cNvPr>
          <p:cNvSpPr>
            <a:spLocks noGrp="1"/>
          </p:cNvSpPr>
          <p:nvPr/>
        </p:nvSpPr>
        <p:spPr>
          <a:xfrm>
            <a:off x="5876925" y="3533775"/>
            <a:ext cx="4819650" cy="1209675"/>
          </a:xfrm>
          <a:prstGeom prst="roundRect">
            <a:avLst>
              <a:gd name="adj" fmla="val 10000"/>
            </a:avLst>
          </a:prstGeom>
          <a:solidFill>
            <a:srgbClr val="2D1111"/>
          </a:solidFill>
          <a:ln w="11430">
            <a:solidFill>
              <a:srgbClr val="DC2626"/>
            </a:solidFill>
            <a:prstDash val="solid"/>
          </a:ln>
        </p:spPr>
        <p:txBody>
          <a:bodyPr/>
          <a:lstStyle/>
          <a:p>
            <a:endParaRPr lang="en-US"/>
          </a:p>
        </p:txBody>
      </p:sp>
      <p:sp>
        <p:nvSpPr>
          <p:cNvPr id="8" name="Rectangle 7">
            <a:extLst>
              <a:ext uri="{FF2B5EF4-FFF2-40B4-BE49-F238E27FC236}">
                <a16:creationId xmlns:a16="http://schemas.microsoft.com/office/drawing/2014/main" id="{1AAC204A-163F-4D84-A798-C6571837643B}"/>
              </a:ext>
            </a:extLst>
          </p:cNvPr>
          <p:cNvSpPr>
            <a:spLocks noGrp="1"/>
          </p:cNvSpPr>
          <p:nvPr/>
        </p:nvSpPr>
        <p:spPr>
          <a:xfrm>
            <a:off x="6096000" y="3743325"/>
            <a:ext cx="4381500" cy="819150"/>
          </a:xfrm>
          <a:prstGeom prst="rect">
            <a:avLst/>
          </a:prstGeom>
          <a:solidFill>
            <a:srgbClr val="000000">
              <a:alpha val="0"/>
            </a:srgbClr>
          </a:solidFill>
          <a:ln w="0">
            <a:solidFill>
              <a:srgbClr val="000000">
                <a:alpha val="0"/>
              </a:srgbClr>
            </a:solidFill>
            <a:prstDash val="solid"/>
          </a:ln>
        </p:spPr>
        <p:txBody>
          <a:bodyPr lIns="0" tIns="0" rIns="0" bIns="0" anchor="t">
            <a:normAutofit fontScale="91370" lnSpcReduction="10000"/>
          </a:bodyPr>
          <a:lstStyle/>
          <a:p>
            <a:pPr algn="l">
              <a:defRPr sz="1575" b="0">
                <a:solidFill>
                  <a:srgbClr val="FAFAFA"/>
                </a:solidFill>
              </a:defRPr>
            </a:pPr>
            <a:r>
              <a:rPr sz="1575" b="0" dirty="0" err="1">
                <a:solidFill>
                  <a:srgbClr val="FAFAFA"/>
                </a:solidFill>
              </a:rPr>
              <a:t>CarSight</a:t>
            </a:r>
            <a:r>
              <a:rPr sz="1575" b="0" dirty="0">
                <a:solidFill>
                  <a:srgbClr val="FAFAFA"/>
                </a:solidFill>
              </a:rPr>
              <a:t>:</a:t>
            </a:r>
            <a:r>
              <a:rPr lang="en-US" sz="1575" b="0" dirty="0">
                <a:solidFill>
                  <a:srgbClr val="FAFAFA"/>
                </a:solidFill>
              </a:rPr>
              <a:t> </a:t>
            </a:r>
            <a:r>
              <a:rPr sz="1575" b="0" dirty="0">
                <a:solidFill>
                  <a:srgbClr val="FAFAFA"/>
                </a:solidFill>
              </a:rPr>
              <a:t>Yes</a:t>
            </a:r>
            <a:r>
              <a:rPr lang="en-US" sz="1575" b="0" dirty="0">
                <a:solidFill>
                  <a:srgbClr val="FAFAFA"/>
                </a:solidFill>
              </a:rPr>
              <a:t>, </a:t>
            </a:r>
            <a:r>
              <a:rPr sz="1575" b="0" dirty="0">
                <a:solidFill>
                  <a:srgbClr val="FAFAFA"/>
                </a:solidFill>
              </a:rPr>
              <a:t>but negotiate from the lower end. The engine knock has more pricing impact than the bumper damage, so I would ask for inspection records before paying near the top of the range.</a:t>
            </a:r>
          </a:p>
        </p:txBody>
      </p:sp>
      <p:sp>
        <p:nvSpPr>
          <p:cNvPr id="9" name="Rectangle: Rounded Corners 8">
            <a:extLst>
              <a:ext uri="{FF2B5EF4-FFF2-40B4-BE49-F238E27FC236}">
                <a16:creationId xmlns:a16="http://schemas.microsoft.com/office/drawing/2014/main" id="{6664CF4D-4C0E-4B46-9480-7C2D7F695859}"/>
              </a:ext>
            </a:extLst>
          </p:cNvPr>
          <p:cNvSpPr>
            <a:spLocks noGrp="1"/>
          </p:cNvSpPr>
          <p:nvPr/>
        </p:nvSpPr>
        <p:spPr>
          <a:xfrm>
            <a:off x="1143000" y="4953000"/>
            <a:ext cx="2705100" cy="81915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0" name="Rectangle 9">
            <a:extLst>
              <a:ext uri="{FF2B5EF4-FFF2-40B4-BE49-F238E27FC236}">
                <a16:creationId xmlns:a16="http://schemas.microsoft.com/office/drawing/2014/main" id="{6E3F8297-3786-4C41-BB9D-080B74E66E8A}"/>
              </a:ext>
            </a:extLst>
          </p:cNvPr>
          <p:cNvSpPr>
            <a:spLocks noGrp="1"/>
          </p:cNvSpPr>
          <p:nvPr/>
        </p:nvSpPr>
        <p:spPr>
          <a:xfrm>
            <a:off x="1143000" y="4953000"/>
            <a:ext cx="57150" cy="819150"/>
          </a:xfrm>
          <a:prstGeom prst="rect">
            <a:avLst/>
          </a:prstGeom>
          <a:solidFill>
            <a:srgbClr val="DC2626"/>
          </a:solidFill>
          <a:ln w="0">
            <a:solidFill>
              <a:srgbClr val="DC2626"/>
            </a:solidFill>
            <a:prstDash val="solid"/>
          </a:ln>
        </p:spPr>
        <p:txBody>
          <a:bodyPr/>
          <a:lstStyle/>
          <a:p>
            <a:endParaRPr lang="en-US"/>
          </a:p>
        </p:txBody>
      </p:sp>
      <p:sp>
        <p:nvSpPr>
          <p:cNvPr id="11" name="Rectangle 10">
            <a:extLst>
              <a:ext uri="{FF2B5EF4-FFF2-40B4-BE49-F238E27FC236}">
                <a16:creationId xmlns:a16="http://schemas.microsoft.com/office/drawing/2014/main" id="{C3BBC33C-B3F3-4ADE-8D23-EA7DD8437C7A}"/>
              </a:ext>
            </a:extLst>
          </p:cNvPr>
          <p:cNvSpPr>
            <a:spLocks noGrp="1"/>
          </p:cNvSpPr>
          <p:nvPr/>
        </p:nvSpPr>
        <p:spPr>
          <a:xfrm>
            <a:off x="1371600" y="5162550"/>
            <a:ext cx="228600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Explain</a:t>
            </a:r>
          </a:p>
        </p:txBody>
      </p:sp>
      <p:sp>
        <p:nvSpPr>
          <p:cNvPr id="12" name="Rectangle 11">
            <a:extLst>
              <a:ext uri="{FF2B5EF4-FFF2-40B4-BE49-F238E27FC236}">
                <a16:creationId xmlns:a16="http://schemas.microsoft.com/office/drawing/2014/main" id="{F7270A05-F95C-410B-88BB-8104E33AB351}"/>
              </a:ext>
            </a:extLst>
          </p:cNvPr>
          <p:cNvSpPr>
            <a:spLocks noGrp="1"/>
          </p:cNvSpPr>
          <p:nvPr/>
        </p:nvSpPr>
        <p:spPr>
          <a:xfrm>
            <a:off x="1371600" y="5448300"/>
            <a:ext cx="2286000" cy="171450"/>
          </a:xfrm>
          <a:prstGeom prst="rect">
            <a:avLst/>
          </a:prstGeom>
          <a:solidFill>
            <a:srgbClr val="000000">
              <a:alpha val="0"/>
            </a:srgbClr>
          </a:solidFill>
          <a:ln w="0">
            <a:solidFill>
              <a:srgbClr val="000000">
                <a:alpha val="0"/>
              </a:srgbClr>
            </a:solidFill>
            <a:prstDash val="solid"/>
          </a:ln>
        </p:spPr>
        <p:txBody>
          <a:bodyPr lIns="0" tIns="0" rIns="0" bIns="0" anchor="t">
            <a:normAutofit fontScale="96409"/>
          </a:bodyPr>
          <a:lstStyle/>
          <a:p>
            <a:pPr algn="l">
              <a:defRPr sz="1350" b="0">
                <a:solidFill>
                  <a:srgbClr val="D1D5DB"/>
                </a:solidFill>
              </a:defRPr>
            </a:pPr>
            <a:r>
              <a:rPr sz="1000" b="0" dirty="0">
                <a:solidFill>
                  <a:srgbClr val="D1D5DB"/>
                </a:solidFill>
              </a:rPr>
              <a:t>Turns model output into plain language.</a:t>
            </a:r>
          </a:p>
        </p:txBody>
      </p:sp>
      <p:sp>
        <p:nvSpPr>
          <p:cNvPr id="13" name="Rectangle: Rounded Corners 12">
            <a:extLst>
              <a:ext uri="{FF2B5EF4-FFF2-40B4-BE49-F238E27FC236}">
                <a16:creationId xmlns:a16="http://schemas.microsoft.com/office/drawing/2014/main" id="{1E485C5D-27FA-4679-9D51-BBBFEAA837DE}"/>
              </a:ext>
            </a:extLst>
          </p:cNvPr>
          <p:cNvSpPr>
            <a:spLocks noGrp="1"/>
          </p:cNvSpPr>
          <p:nvPr/>
        </p:nvSpPr>
        <p:spPr>
          <a:xfrm>
            <a:off x="4114800" y="4953000"/>
            <a:ext cx="2705100" cy="81915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4" name="Rectangle 13">
            <a:extLst>
              <a:ext uri="{FF2B5EF4-FFF2-40B4-BE49-F238E27FC236}">
                <a16:creationId xmlns:a16="http://schemas.microsoft.com/office/drawing/2014/main" id="{BEF95442-75C4-4222-88D4-FED5BCCDF0A1}"/>
              </a:ext>
            </a:extLst>
          </p:cNvPr>
          <p:cNvSpPr>
            <a:spLocks noGrp="1"/>
          </p:cNvSpPr>
          <p:nvPr/>
        </p:nvSpPr>
        <p:spPr>
          <a:xfrm>
            <a:off x="4114800" y="4953000"/>
            <a:ext cx="57150" cy="819150"/>
          </a:xfrm>
          <a:prstGeom prst="rect">
            <a:avLst/>
          </a:prstGeom>
          <a:solidFill>
            <a:srgbClr val="DC2626"/>
          </a:solidFill>
          <a:ln w="0">
            <a:solidFill>
              <a:srgbClr val="DC2626"/>
            </a:solidFill>
            <a:prstDash val="solid"/>
          </a:ln>
        </p:spPr>
        <p:txBody>
          <a:bodyPr/>
          <a:lstStyle/>
          <a:p>
            <a:endParaRPr lang="en-US"/>
          </a:p>
        </p:txBody>
      </p:sp>
      <p:sp>
        <p:nvSpPr>
          <p:cNvPr id="15" name="Rectangle 14">
            <a:extLst>
              <a:ext uri="{FF2B5EF4-FFF2-40B4-BE49-F238E27FC236}">
                <a16:creationId xmlns:a16="http://schemas.microsoft.com/office/drawing/2014/main" id="{D0D294C5-4BF5-4A8A-9C57-B10EE766ABEE}"/>
              </a:ext>
            </a:extLst>
          </p:cNvPr>
          <p:cNvSpPr>
            <a:spLocks noGrp="1"/>
          </p:cNvSpPr>
          <p:nvPr/>
        </p:nvSpPr>
        <p:spPr>
          <a:xfrm>
            <a:off x="4343400" y="5162550"/>
            <a:ext cx="228600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Negotiate</a:t>
            </a:r>
          </a:p>
        </p:txBody>
      </p:sp>
      <p:sp>
        <p:nvSpPr>
          <p:cNvPr id="16" name="Rectangle 15">
            <a:extLst>
              <a:ext uri="{FF2B5EF4-FFF2-40B4-BE49-F238E27FC236}">
                <a16:creationId xmlns:a16="http://schemas.microsoft.com/office/drawing/2014/main" id="{317A76D7-6486-4455-A339-F1AB117B8ACA}"/>
              </a:ext>
            </a:extLst>
          </p:cNvPr>
          <p:cNvSpPr>
            <a:spLocks noGrp="1"/>
          </p:cNvSpPr>
          <p:nvPr/>
        </p:nvSpPr>
        <p:spPr>
          <a:xfrm>
            <a:off x="4343400" y="5448300"/>
            <a:ext cx="2286000" cy="1714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350" b="0">
                <a:solidFill>
                  <a:srgbClr val="D1D5DB"/>
                </a:solidFill>
              </a:defRPr>
            </a:pPr>
            <a:r>
              <a:rPr sz="1000" b="0" dirty="0">
                <a:solidFill>
                  <a:srgbClr val="D1D5DB"/>
                </a:solidFill>
              </a:rPr>
              <a:t>Suggests where the buyer has leverage.</a:t>
            </a:r>
          </a:p>
        </p:txBody>
      </p:sp>
      <p:sp>
        <p:nvSpPr>
          <p:cNvPr id="17" name="Rectangle: Rounded Corners 16">
            <a:extLst>
              <a:ext uri="{FF2B5EF4-FFF2-40B4-BE49-F238E27FC236}">
                <a16:creationId xmlns:a16="http://schemas.microsoft.com/office/drawing/2014/main" id="{DE3BCE1D-475C-4A2F-88E4-A86E5C2E8292}"/>
              </a:ext>
            </a:extLst>
          </p:cNvPr>
          <p:cNvSpPr>
            <a:spLocks noGrp="1"/>
          </p:cNvSpPr>
          <p:nvPr/>
        </p:nvSpPr>
        <p:spPr>
          <a:xfrm>
            <a:off x="7086600" y="4953000"/>
            <a:ext cx="2762250" cy="8890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8" name="Rectangle 17">
            <a:extLst>
              <a:ext uri="{FF2B5EF4-FFF2-40B4-BE49-F238E27FC236}">
                <a16:creationId xmlns:a16="http://schemas.microsoft.com/office/drawing/2014/main" id="{3D8167A9-F31B-4E49-82CA-2796C93FEA39}"/>
              </a:ext>
            </a:extLst>
          </p:cNvPr>
          <p:cNvSpPr>
            <a:spLocks noGrp="1"/>
          </p:cNvSpPr>
          <p:nvPr/>
        </p:nvSpPr>
        <p:spPr>
          <a:xfrm>
            <a:off x="7086600" y="4953000"/>
            <a:ext cx="57150" cy="819150"/>
          </a:xfrm>
          <a:prstGeom prst="rect">
            <a:avLst/>
          </a:prstGeom>
          <a:solidFill>
            <a:srgbClr val="DC2626"/>
          </a:solidFill>
          <a:ln w="0">
            <a:solidFill>
              <a:srgbClr val="DC2626"/>
            </a:solidFill>
            <a:prstDash val="solid"/>
          </a:ln>
        </p:spPr>
        <p:txBody>
          <a:bodyPr/>
          <a:lstStyle/>
          <a:p>
            <a:endParaRPr lang="en-US"/>
          </a:p>
        </p:txBody>
      </p:sp>
      <p:sp>
        <p:nvSpPr>
          <p:cNvPr id="19" name="Rectangle 18">
            <a:extLst>
              <a:ext uri="{FF2B5EF4-FFF2-40B4-BE49-F238E27FC236}">
                <a16:creationId xmlns:a16="http://schemas.microsoft.com/office/drawing/2014/main" id="{81FD6901-0978-41F2-A08F-EB186290578B}"/>
              </a:ext>
            </a:extLst>
          </p:cNvPr>
          <p:cNvSpPr>
            <a:spLocks noGrp="1"/>
          </p:cNvSpPr>
          <p:nvPr/>
        </p:nvSpPr>
        <p:spPr>
          <a:xfrm>
            <a:off x="7296150" y="5162550"/>
            <a:ext cx="228600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dirty="0">
                <a:solidFill>
                  <a:srgbClr val="FAFAFA"/>
                </a:solidFill>
              </a:rPr>
              <a:t>Risk check</a:t>
            </a:r>
          </a:p>
        </p:txBody>
      </p:sp>
      <p:sp>
        <p:nvSpPr>
          <p:cNvPr id="20" name="Rectangle 19">
            <a:extLst>
              <a:ext uri="{FF2B5EF4-FFF2-40B4-BE49-F238E27FC236}">
                <a16:creationId xmlns:a16="http://schemas.microsoft.com/office/drawing/2014/main" id="{3968A774-57FA-4C9B-A6F3-491111C80FA4}"/>
              </a:ext>
            </a:extLst>
          </p:cNvPr>
          <p:cNvSpPr>
            <a:spLocks noGrp="1"/>
          </p:cNvSpPr>
          <p:nvPr/>
        </p:nvSpPr>
        <p:spPr>
          <a:xfrm>
            <a:off x="7315200" y="5448300"/>
            <a:ext cx="2374900" cy="209550"/>
          </a:xfrm>
          <a:prstGeom prst="rect">
            <a:avLst/>
          </a:prstGeom>
          <a:solidFill>
            <a:srgbClr val="000000">
              <a:alpha val="0"/>
            </a:srgbClr>
          </a:solidFill>
          <a:ln w="0">
            <a:solidFill>
              <a:srgbClr val="000000">
                <a:alpha val="0"/>
              </a:srgbClr>
            </a:solidFill>
            <a:prstDash val="solid"/>
          </a:ln>
        </p:spPr>
        <p:txBody>
          <a:bodyPr lIns="0" tIns="0" rIns="0" bIns="0" anchor="t">
            <a:noAutofit/>
          </a:bodyPr>
          <a:lstStyle/>
          <a:p>
            <a:pPr algn="l">
              <a:defRPr sz="1350" b="0">
                <a:solidFill>
                  <a:srgbClr val="D1D5DB"/>
                </a:solidFill>
              </a:defRPr>
            </a:pPr>
            <a:r>
              <a:rPr sz="1000" b="0" dirty="0">
                <a:solidFill>
                  <a:srgbClr val="D1D5DB"/>
                </a:solidFill>
              </a:rPr>
              <a:t>Calls out descriptions that deserve caution.</a:t>
            </a:r>
          </a:p>
        </p:txBody>
      </p:sp>
      <p:sp>
        <p:nvSpPr>
          <p:cNvPr id="21" name="Rectangle 20">
            <a:extLst>
              <a:ext uri="{FF2B5EF4-FFF2-40B4-BE49-F238E27FC236}">
                <a16:creationId xmlns:a16="http://schemas.microsoft.com/office/drawing/2014/main" id="{FEB791B6-0359-4FC6-BB52-CAC4E8298512}"/>
              </a:ext>
            </a:extLst>
          </p:cNvPr>
          <p:cNvSpPr>
            <a:spLocks noGrp="1"/>
          </p:cNvSpPr>
          <p:nvPr/>
        </p:nvSpPr>
        <p:spPr>
          <a:xfrm>
            <a:off x="609600" y="6419850"/>
            <a:ext cx="1524000" cy="19050"/>
          </a:xfrm>
          <a:prstGeom prst="rect">
            <a:avLst/>
          </a:prstGeom>
          <a:solidFill>
            <a:srgbClr val="DC2626"/>
          </a:solidFill>
          <a:ln w="0">
            <a:solidFill>
              <a:srgbClr val="DC2626"/>
            </a:solidFill>
            <a:prstDash val="solid"/>
          </a:ln>
        </p:spPr>
        <p:txBody>
          <a:bodyPr/>
          <a:lstStyle/>
          <a:p>
            <a:endParaRPr lang="en-US"/>
          </a:p>
        </p:txBody>
      </p:sp>
      <p:sp>
        <p:nvSpPr>
          <p:cNvPr id="22" name="Rectangle 21">
            <a:extLst>
              <a:ext uri="{FF2B5EF4-FFF2-40B4-BE49-F238E27FC236}">
                <a16:creationId xmlns:a16="http://schemas.microsoft.com/office/drawing/2014/main" id="{C647AF39-C2EA-4792-8CC5-32C6A8300E7C}"/>
              </a:ext>
            </a:extLst>
          </p:cNvPr>
          <p:cNvSpPr>
            <a:spLocks noGrp="1"/>
          </p:cNvSpPr>
          <p:nvPr/>
        </p:nvSpPr>
        <p:spPr>
          <a:xfrm>
            <a:off x="2266950" y="6315075"/>
            <a:ext cx="1714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050" b="0">
                <a:solidFill>
                  <a:srgbClr val="6B7280"/>
                </a:solidFill>
              </a:defRPr>
            </a:pPr>
            <a:r>
              <a:rPr sz="1050" b="0">
                <a:solidFill>
                  <a:srgbClr val="6B7280"/>
                </a:solidFill>
              </a:rPr>
              <a:t>CarSight AI</a:t>
            </a:r>
          </a:p>
        </p:txBody>
      </p:sp>
      <p:sp>
        <p:nvSpPr>
          <p:cNvPr id="23" name="Rectangle 22">
            <a:extLst>
              <a:ext uri="{FF2B5EF4-FFF2-40B4-BE49-F238E27FC236}">
                <a16:creationId xmlns:a16="http://schemas.microsoft.com/office/drawing/2014/main" id="{AC57850E-4B13-4D62-B42A-24732B51A4A3}"/>
              </a:ext>
            </a:extLst>
          </p:cNvPr>
          <p:cNvSpPr>
            <a:spLocks noGrp="1"/>
          </p:cNvSpPr>
          <p:nvPr/>
        </p:nvSpPr>
        <p:spPr>
          <a:xfrm>
            <a:off x="11315700" y="6286500"/>
            <a:ext cx="3619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r">
              <a:defRPr sz="1200" b="0">
                <a:solidFill>
                  <a:srgbClr val="6B7280"/>
                </a:solidFill>
              </a:defRPr>
            </a:pPr>
            <a:r>
              <a:rPr sz="1200" b="0">
                <a:solidFill>
                  <a:srgbClr val="6B7280"/>
                </a:solidFill>
              </a:rPr>
              <a:t>9</a:t>
            </a:r>
          </a:p>
        </p:txBody>
      </p:sp>
    </p:spTree>
    <p:extLst>
      <p:ext uri="{BB962C8B-B14F-4D97-AF65-F5344CB8AC3E}">
        <p14:creationId xmlns:p14="http://schemas.microsoft.com/office/powerpoint/2010/main" val="1781774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941232A-A6BE-48A4-A053-3F996D992EF7}"/>
              </a:ext>
            </a:extLst>
          </p:cNvPr>
          <p:cNvSpPr>
            <a:spLocks noGrp="1"/>
          </p:cNvSpPr>
          <p:nvPr/>
        </p:nvSpPr>
        <p:spPr>
          <a:xfrm>
            <a:off x="609600" y="457200"/>
            <a:ext cx="1809750" cy="323850"/>
          </a:xfrm>
          <a:prstGeom prst="roundRect">
            <a:avLst>
              <a:gd name="adj" fmla="val 16667"/>
            </a:avLst>
          </a:prstGeom>
          <a:solidFill>
            <a:srgbClr val="DC2626"/>
          </a:solidFill>
          <a:ln w="0">
            <a:solidFill>
              <a:srgbClr val="DC2626"/>
            </a:solidFill>
            <a:prstDash val="solid"/>
          </a:ln>
        </p:spPr>
        <p:txBody>
          <a:bodyPr lIns="95250" tIns="28575" rIns="95250" bIns="28575" anchor="ctr"/>
          <a:lstStyle/>
          <a:p>
            <a:pPr algn="ctr">
              <a:defRPr sz="1050" b="1">
                <a:solidFill>
                  <a:srgbClr val="FAFAFA"/>
                </a:solidFill>
              </a:defRPr>
            </a:pPr>
            <a:r>
              <a:rPr sz="1050" b="1">
                <a:solidFill>
                  <a:srgbClr val="FAFAFA"/>
                </a:solidFill>
              </a:rPr>
              <a:t>VERIFICATION</a:t>
            </a:r>
          </a:p>
        </p:txBody>
      </p:sp>
      <p:sp>
        <p:nvSpPr>
          <p:cNvPr id="3" name="Rectangle 2">
            <a:extLst>
              <a:ext uri="{FF2B5EF4-FFF2-40B4-BE49-F238E27FC236}">
                <a16:creationId xmlns:a16="http://schemas.microsoft.com/office/drawing/2014/main" id="{54CBE2AA-672D-4753-B2C6-19EE88E5540B}"/>
              </a:ext>
            </a:extLst>
          </p:cNvPr>
          <p:cNvSpPr>
            <a:spLocks noGrp="1"/>
          </p:cNvSpPr>
          <p:nvPr/>
        </p:nvSpPr>
        <p:spPr>
          <a:xfrm>
            <a:off x="609600" y="914400"/>
            <a:ext cx="7429500" cy="8191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3450" b="1">
                <a:solidFill>
                  <a:srgbClr val="FAFAFA"/>
                </a:solidFill>
              </a:defRPr>
            </a:pPr>
            <a:r>
              <a:rPr sz="3450" b="1">
                <a:solidFill>
                  <a:srgbClr val="FAFAFA"/>
                </a:solidFill>
              </a:rPr>
              <a:t>How I checked the system</a:t>
            </a:r>
          </a:p>
        </p:txBody>
      </p:sp>
      <p:sp>
        <p:nvSpPr>
          <p:cNvPr id="4" name="Rectangle 3">
            <a:extLst>
              <a:ext uri="{FF2B5EF4-FFF2-40B4-BE49-F238E27FC236}">
                <a16:creationId xmlns:a16="http://schemas.microsoft.com/office/drawing/2014/main" id="{8DA942E0-B24D-4DF3-8F50-3D1CE779F392}"/>
              </a:ext>
            </a:extLst>
          </p:cNvPr>
          <p:cNvSpPr>
            <a:spLocks noGrp="1"/>
          </p:cNvSpPr>
          <p:nvPr/>
        </p:nvSpPr>
        <p:spPr>
          <a:xfrm>
            <a:off x="628650" y="1752600"/>
            <a:ext cx="6858000" cy="476250"/>
          </a:xfrm>
          <a:prstGeom prst="rect">
            <a:avLst/>
          </a:prstGeom>
          <a:solidFill>
            <a:srgbClr val="000000">
              <a:alpha val="0"/>
            </a:srgbClr>
          </a:solidFill>
          <a:ln w="0">
            <a:solidFill>
              <a:srgbClr val="000000">
                <a:alpha val="0"/>
              </a:srgbClr>
            </a:solidFill>
            <a:prstDash val="solid"/>
          </a:ln>
        </p:spPr>
        <p:txBody>
          <a:bodyPr lIns="0" tIns="0" rIns="0" bIns="0" anchor="t">
            <a:normAutofit fontScale="93091"/>
          </a:bodyPr>
          <a:lstStyle/>
          <a:p>
            <a:pPr algn="l">
              <a:defRPr sz="1650" b="0">
                <a:solidFill>
                  <a:srgbClr val="D1D5DB"/>
                </a:solidFill>
              </a:defRPr>
            </a:pPr>
            <a:r>
              <a:rPr sz="1650" b="0">
                <a:solidFill>
                  <a:srgbClr val="D1D5DB"/>
                </a:solidFill>
              </a:rPr>
              <a:t>The testing focused on whether the prototype works end to end and whether the output stays understandable.</a:t>
            </a:r>
          </a:p>
        </p:txBody>
      </p:sp>
      <p:sp>
        <p:nvSpPr>
          <p:cNvPr id="5" name="Rectangle: Rounded Corners 4">
            <a:extLst>
              <a:ext uri="{FF2B5EF4-FFF2-40B4-BE49-F238E27FC236}">
                <a16:creationId xmlns:a16="http://schemas.microsoft.com/office/drawing/2014/main" id="{02BCA4FF-43C8-4C53-ACCC-99D931657B2E}"/>
              </a:ext>
            </a:extLst>
          </p:cNvPr>
          <p:cNvSpPr>
            <a:spLocks noGrp="1"/>
          </p:cNvSpPr>
          <p:nvPr/>
        </p:nvSpPr>
        <p:spPr>
          <a:xfrm>
            <a:off x="838200" y="2686050"/>
            <a:ext cx="4362450" cy="8382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6" name="Rectangle 5">
            <a:extLst>
              <a:ext uri="{FF2B5EF4-FFF2-40B4-BE49-F238E27FC236}">
                <a16:creationId xmlns:a16="http://schemas.microsoft.com/office/drawing/2014/main" id="{66C64BBB-7487-475D-AC1E-98F79954579E}"/>
              </a:ext>
            </a:extLst>
          </p:cNvPr>
          <p:cNvSpPr>
            <a:spLocks noGrp="1"/>
          </p:cNvSpPr>
          <p:nvPr/>
        </p:nvSpPr>
        <p:spPr>
          <a:xfrm>
            <a:off x="838200" y="2686050"/>
            <a:ext cx="57150" cy="838200"/>
          </a:xfrm>
          <a:prstGeom prst="rect">
            <a:avLst/>
          </a:prstGeom>
          <a:solidFill>
            <a:srgbClr val="374151"/>
          </a:solidFill>
          <a:ln w="0">
            <a:solidFill>
              <a:srgbClr val="374151"/>
            </a:solidFill>
            <a:prstDash val="solid"/>
          </a:ln>
        </p:spPr>
        <p:txBody>
          <a:bodyPr/>
          <a:lstStyle/>
          <a:p>
            <a:endParaRPr lang="en-US"/>
          </a:p>
        </p:txBody>
      </p:sp>
      <p:sp>
        <p:nvSpPr>
          <p:cNvPr id="7" name="Rectangle 6">
            <a:extLst>
              <a:ext uri="{FF2B5EF4-FFF2-40B4-BE49-F238E27FC236}">
                <a16:creationId xmlns:a16="http://schemas.microsoft.com/office/drawing/2014/main" id="{D7DDF8F3-7EB2-488D-A66A-7AB42FF8B36B}"/>
              </a:ext>
            </a:extLst>
          </p:cNvPr>
          <p:cNvSpPr>
            <a:spLocks noGrp="1"/>
          </p:cNvSpPr>
          <p:nvPr/>
        </p:nvSpPr>
        <p:spPr>
          <a:xfrm>
            <a:off x="1066800" y="2895600"/>
            <a:ext cx="39433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NLP checks</a:t>
            </a:r>
          </a:p>
        </p:txBody>
      </p:sp>
      <p:sp>
        <p:nvSpPr>
          <p:cNvPr id="8" name="Rectangle 7">
            <a:extLst>
              <a:ext uri="{FF2B5EF4-FFF2-40B4-BE49-F238E27FC236}">
                <a16:creationId xmlns:a16="http://schemas.microsoft.com/office/drawing/2014/main" id="{0F4EF35F-871F-4689-9EEA-189E5F47B3DB}"/>
              </a:ext>
            </a:extLst>
          </p:cNvPr>
          <p:cNvSpPr>
            <a:spLocks noGrp="1"/>
          </p:cNvSpPr>
          <p:nvPr/>
        </p:nvSpPr>
        <p:spPr>
          <a:xfrm>
            <a:off x="1066800" y="3225800"/>
            <a:ext cx="3886200" cy="146050"/>
          </a:xfrm>
          <a:prstGeom prst="rect">
            <a:avLst/>
          </a:prstGeom>
          <a:solidFill>
            <a:srgbClr val="000000">
              <a:alpha val="0"/>
            </a:srgbClr>
          </a:solidFill>
          <a:ln w="0">
            <a:solidFill>
              <a:srgbClr val="000000">
                <a:alpha val="0"/>
              </a:srgbClr>
            </a:solidFill>
            <a:prstDash val="solid"/>
          </a:ln>
        </p:spPr>
        <p:txBody>
          <a:bodyPr lIns="0" tIns="0" rIns="0" bIns="0" anchor="t">
            <a:normAutofit fontScale="83011" lnSpcReduction="20000"/>
          </a:bodyPr>
          <a:lstStyle/>
          <a:p>
            <a:pPr algn="l">
              <a:defRPr sz="1350" b="0">
                <a:solidFill>
                  <a:srgbClr val="D1D5DB"/>
                </a:solidFill>
              </a:defRPr>
            </a:pPr>
            <a:r>
              <a:rPr sz="1350" b="0" dirty="0">
                <a:solidFill>
                  <a:srgbClr val="D1D5DB"/>
                </a:solidFill>
              </a:rPr>
              <a:t>Damage terms map to the right categories and severity levels.</a:t>
            </a:r>
          </a:p>
        </p:txBody>
      </p:sp>
      <p:sp>
        <p:nvSpPr>
          <p:cNvPr id="9" name="Rectangle: Rounded Corners 8">
            <a:extLst>
              <a:ext uri="{FF2B5EF4-FFF2-40B4-BE49-F238E27FC236}">
                <a16:creationId xmlns:a16="http://schemas.microsoft.com/office/drawing/2014/main" id="{78340E7A-BA95-450D-8DA9-159A5CFF3D51}"/>
              </a:ext>
            </a:extLst>
          </p:cNvPr>
          <p:cNvSpPr>
            <a:spLocks noGrp="1"/>
          </p:cNvSpPr>
          <p:nvPr/>
        </p:nvSpPr>
        <p:spPr>
          <a:xfrm>
            <a:off x="6057900" y="2686050"/>
            <a:ext cx="4362450" cy="8382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0" name="Rectangle 9">
            <a:extLst>
              <a:ext uri="{FF2B5EF4-FFF2-40B4-BE49-F238E27FC236}">
                <a16:creationId xmlns:a16="http://schemas.microsoft.com/office/drawing/2014/main" id="{2C2C1213-F12C-4958-88D8-B4B348533463}"/>
              </a:ext>
            </a:extLst>
          </p:cNvPr>
          <p:cNvSpPr>
            <a:spLocks noGrp="1"/>
          </p:cNvSpPr>
          <p:nvPr/>
        </p:nvSpPr>
        <p:spPr>
          <a:xfrm>
            <a:off x="6057900" y="2686050"/>
            <a:ext cx="57150" cy="838200"/>
          </a:xfrm>
          <a:prstGeom prst="rect">
            <a:avLst/>
          </a:prstGeom>
          <a:solidFill>
            <a:srgbClr val="DC2626"/>
          </a:solidFill>
          <a:ln w="0">
            <a:solidFill>
              <a:srgbClr val="DC2626"/>
            </a:solidFill>
            <a:prstDash val="solid"/>
          </a:ln>
        </p:spPr>
        <p:txBody>
          <a:bodyPr/>
          <a:lstStyle/>
          <a:p>
            <a:endParaRPr lang="en-US"/>
          </a:p>
        </p:txBody>
      </p:sp>
      <p:sp>
        <p:nvSpPr>
          <p:cNvPr id="11" name="Rectangle 10">
            <a:extLst>
              <a:ext uri="{FF2B5EF4-FFF2-40B4-BE49-F238E27FC236}">
                <a16:creationId xmlns:a16="http://schemas.microsoft.com/office/drawing/2014/main" id="{A5E7BBE7-7778-4E73-A3C2-80D25B268FF1}"/>
              </a:ext>
            </a:extLst>
          </p:cNvPr>
          <p:cNvSpPr>
            <a:spLocks noGrp="1"/>
          </p:cNvSpPr>
          <p:nvPr/>
        </p:nvSpPr>
        <p:spPr>
          <a:xfrm>
            <a:off x="6286500" y="2895600"/>
            <a:ext cx="39433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Model checks</a:t>
            </a:r>
          </a:p>
        </p:txBody>
      </p:sp>
      <p:sp>
        <p:nvSpPr>
          <p:cNvPr id="12" name="Rectangle 11">
            <a:extLst>
              <a:ext uri="{FF2B5EF4-FFF2-40B4-BE49-F238E27FC236}">
                <a16:creationId xmlns:a16="http://schemas.microsoft.com/office/drawing/2014/main" id="{A4B3605C-2DDB-4AD1-89BB-9C2B267CDAC1}"/>
              </a:ext>
            </a:extLst>
          </p:cNvPr>
          <p:cNvSpPr>
            <a:spLocks noGrp="1"/>
          </p:cNvSpPr>
          <p:nvPr/>
        </p:nvSpPr>
        <p:spPr>
          <a:xfrm>
            <a:off x="6197600" y="3181350"/>
            <a:ext cx="3943350" cy="190500"/>
          </a:xfrm>
          <a:prstGeom prst="rect">
            <a:avLst/>
          </a:prstGeom>
          <a:solidFill>
            <a:srgbClr val="000000">
              <a:alpha val="0"/>
            </a:srgbClr>
          </a:solidFill>
          <a:ln w="0">
            <a:solidFill>
              <a:srgbClr val="000000">
                <a:alpha val="0"/>
              </a:srgbClr>
            </a:solidFill>
            <a:prstDash val="solid"/>
          </a:ln>
        </p:spPr>
        <p:txBody>
          <a:bodyPr lIns="0" tIns="0" rIns="0" bIns="0" anchor="t">
            <a:normAutofit fontScale="98011"/>
          </a:bodyPr>
          <a:lstStyle/>
          <a:p>
            <a:pPr algn="l">
              <a:defRPr sz="1350" b="0">
                <a:solidFill>
                  <a:srgbClr val="D1D5DB"/>
                </a:solidFill>
              </a:defRPr>
            </a:pPr>
            <a:r>
              <a:rPr sz="1100" b="0" dirty="0">
                <a:solidFill>
                  <a:srgbClr val="D1D5DB"/>
                </a:solidFill>
              </a:rPr>
              <a:t>Regression performance is reviewed with MAE and RMSE.</a:t>
            </a:r>
          </a:p>
        </p:txBody>
      </p:sp>
      <p:sp>
        <p:nvSpPr>
          <p:cNvPr id="13" name="Rectangle: Rounded Corners 12">
            <a:extLst>
              <a:ext uri="{FF2B5EF4-FFF2-40B4-BE49-F238E27FC236}">
                <a16:creationId xmlns:a16="http://schemas.microsoft.com/office/drawing/2014/main" id="{C1FABCB3-57E0-41C3-9B43-39A0744B3B7E}"/>
              </a:ext>
            </a:extLst>
          </p:cNvPr>
          <p:cNvSpPr>
            <a:spLocks noGrp="1"/>
          </p:cNvSpPr>
          <p:nvPr/>
        </p:nvSpPr>
        <p:spPr>
          <a:xfrm>
            <a:off x="838200" y="3810000"/>
            <a:ext cx="4362450" cy="8382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4" name="Rectangle 13">
            <a:extLst>
              <a:ext uri="{FF2B5EF4-FFF2-40B4-BE49-F238E27FC236}">
                <a16:creationId xmlns:a16="http://schemas.microsoft.com/office/drawing/2014/main" id="{D1379D2A-4DAF-4EB4-9492-792AD3AB5BB0}"/>
              </a:ext>
            </a:extLst>
          </p:cNvPr>
          <p:cNvSpPr>
            <a:spLocks noGrp="1"/>
          </p:cNvSpPr>
          <p:nvPr/>
        </p:nvSpPr>
        <p:spPr>
          <a:xfrm>
            <a:off x="838200" y="3810000"/>
            <a:ext cx="57150" cy="838200"/>
          </a:xfrm>
          <a:prstGeom prst="rect">
            <a:avLst/>
          </a:prstGeom>
          <a:solidFill>
            <a:srgbClr val="374151"/>
          </a:solidFill>
          <a:ln w="0">
            <a:solidFill>
              <a:srgbClr val="374151"/>
            </a:solidFill>
            <a:prstDash val="solid"/>
          </a:ln>
        </p:spPr>
        <p:txBody>
          <a:bodyPr/>
          <a:lstStyle/>
          <a:p>
            <a:endParaRPr lang="en-US"/>
          </a:p>
        </p:txBody>
      </p:sp>
      <p:sp>
        <p:nvSpPr>
          <p:cNvPr id="15" name="Rectangle 14">
            <a:extLst>
              <a:ext uri="{FF2B5EF4-FFF2-40B4-BE49-F238E27FC236}">
                <a16:creationId xmlns:a16="http://schemas.microsoft.com/office/drawing/2014/main" id="{8C991A2A-4F10-4D6D-9C31-84709A7789CC}"/>
              </a:ext>
            </a:extLst>
          </p:cNvPr>
          <p:cNvSpPr>
            <a:spLocks noGrp="1"/>
          </p:cNvSpPr>
          <p:nvPr/>
        </p:nvSpPr>
        <p:spPr>
          <a:xfrm>
            <a:off x="1066800" y="4019550"/>
            <a:ext cx="39433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API checks</a:t>
            </a:r>
          </a:p>
        </p:txBody>
      </p:sp>
      <p:sp>
        <p:nvSpPr>
          <p:cNvPr id="16" name="Rectangle 15">
            <a:extLst>
              <a:ext uri="{FF2B5EF4-FFF2-40B4-BE49-F238E27FC236}">
                <a16:creationId xmlns:a16="http://schemas.microsoft.com/office/drawing/2014/main" id="{B7A530EF-9E7C-4EA9-963E-A092A4482EE8}"/>
              </a:ext>
            </a:extLst>
          </p:cNvPr>
          <p:cNvSpPr>
            <a:spLocks noGrp="1"/>
          </p:cNvSpPr>
          <p:nvPr/>
        </p:nvSpPr>
        <p:spPr>
          <a:xfrm>
            <a:off x="1066800" y="4305300"/>
            <a:ext cx="3943350" cy="190500"/>
          </a:xfrm>
          <a:prstGeom prst="rect">
            <a:avLst/>
          </a:prstGeom>
          <a:solidFill>
            <a:srgbClr val="000000">
              <a:alpha val="0"/>
            </a:srgbClr>
          </a:solidFill>
          <a:ln w="0">
            <a:solidFill>
              <a:srgbClr val="000000">
                <a:alpha val="0"/>
              </a:srgbClr>
            </a:solidFill>
            <a:prstDash val="solid"/>
          </a:ln>
        </p:spPr>
        <p:txBody>
          <a:bodyPr lIns="0" tIns="0" rIns="0" bIns="0" anchor="t">
            <a:normAutofit fontScale="98011"/>
          </a:bodyPr>
          <a:lstStyle/>
          <a:p>
            <a:pPr algn="l">
              <a:defRPr sz="1350" b="0">
                <a:solidFill>
                  <a:srgbClr val="D1D5DB"/>
                </a:solidFill>
              </a:defRPr>
            </a:pPr>
            <a:r>
              <a:rPr sz="1100" b="0" dirty="0">
                <a:solidFill>
                  <a:srgbClr val="D1D5DB"/>
                </a:solidFill>
              </a:rPr>
              <a:t>Backend returns a valid price range and explanation.</a:t>
            </a:r>
          </a:p>
        </p:txBody>
      </p:sp>
      <p:sp>
        <p:nvSpPr>
          <p:cNvPr id="17" name="Rectangle: Rounded Corners 16">
            <a:extLst>
              <a:ext uri="{FF2B5EF4-FFF2-40B4-BE49-F238E27FC236}">
                <a16:creationId xmlns:a16="http://schemas.microsoft.com/office/drawing/2014/main" id="{9D599846-DA15-4063-ADAC-1DC2E03A01E1}"/>
              </a:ext>
            </a:extLst>
          </p:cNvPr>
          <p:cNvSpPr>
            <a:spLocks noGrp="1"/>
          </p:cNvSpPr>
          <p:nvPr/>
        </p:nvSpPr>
        <p:spPr>
          <a:xfrm>
            <a:off x="6057900" y="3810000"/>
            <a:ext cx="4362450" cy="8382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8" name="Rectangle 17">
            <a:extLst>
              <a:ext uri="{FF2B5EF4-FFF2-40B4-BE49-F238E27FC236}">
                <a16:creationId xmlns:a16="http://schemas.microsoft.com/office/drawing/2014/main" id="{DCBADAA8-949A-4E18-A47B-9DE8C7BC52C3}"/>
              </a:ext>
            </a:extLst>
          </p:cNvPr>
          <p:cNvSpPr>
            <a:spLocks noGrp="1"/>
          </p:cNvSpPr>
          <p:nvPr/>
        </p:nvSpPr>
        <p:spPr>
          <a:xfrm>
            <a:off x="6057900" y="3810000"/>
            <a:ext cx="57150" cy="838200"/>
          </a:xfrm>
          <a:prstGeom prst="rect">
            <a:avLst/>
          </a:prstGeom>
          <a:solidFill>
            <a:srgbClr val="374151"/>
          </a:solidFill>
          <a:ln w="0">
            <a:solidFill>
              <a:srgbClr val="374151"/>
            </a:solidFill>
            <a:prstDash val="solid"/>
          </a:ln>
        </p:spPr>
        <p:txBody>
          <a:bodyPr/>
          <a:lstStyle/>
          <a:p>
            <a:endParaRPr lang="en-US"/>
          </a:p>
        </p:txBody>
      </p:sp>
      <p:sp>
        <p:nvSpPr>
          <p:cNvPr id="19" name="Rectangle 18">
            <a:extLst>
              <a:ext uri="{FF2B5EF4-FFF2-40B4-BE49-F238E27FC236}">
                <a16:creationId xmlns:a16="http://schemas.microsoft.com/office/drawing/2014/main" id="{3FF2EEB8-C2D3-47E0-BF9E-ED6E8B210C16}"/>
              </a:ext>
            </a:extLst>
          </p:cNvPr>
          <p:cNvSpPr>
            <a:spLocks noGrp="1"/>
          </p:cNvSpPr>
          <p:nvPr/>
        </p:nvSpPr>
        <p:spPr>
          <a:xfrm>
            <a:off x="6286500" y="4019550"/>
            <a:ext cx="39433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UI checks</a:t>
            </a:r>
          </a:p>
        </p:txBody>
      </p:sp>
      <p:sp>
        <p:nvSpPr>
          <p:cNvPr id="20" name="Rectangle 19">
            <a:extLst>
              <a:ext uri="{FF2B5EF4-FFF2-40B4-BE49-F238E27FC236}">
                <a16:creationId xmlns:a16="http://schemas.microsoft.com/office/drawing/2014/main" id="{0C81E15D-0B34-472E-AC2E-3606DA5A73A3}"/>
              </a:ext>
            </a:extLst>
          </p:cNvPr>
          <p:cNvSpPr>
            <a:spLocks noGrp="1"/>
          </p:cNvSpPr>
          <p:nvPr/>
        </p:nvSpPr>
        <p:spPr>
          <a:xfrm>
            <a:off x="6286500" y="4305300"/>
            <a:ext cx="3943350" cy="190500"/>
          </a:xfrm>
          <a:prstGeom prst="rect">
            <a:avLst/>
          </a:prstGeom>
          <a:solidFill>
            <a:srgbClr val="000000">
              <a:alpha val="0"/>
            </a:srgbClr>
          </a:solidFill>
          <a:ln w="0">
            <a:solidFill>
              <a:srgbClr val="000000">
                <a:alpha val="0"/>
              </a:srgbClr>
            </a:solidFill>
            <a:prstDash val="solid"/>
          </a:ln>
        </p:spPr>
        <p:txBody>
          <a:bodyPr lIns="0" tIns="0" rIns="0" bIns="0" anchor="t">
            <a:normAutofit fontScale="98011"/>
          </a:bodyPr>
          <a:lstStyle/>
          <a:p>
            <a:pPr algn="l">
              <a:defRPr sz="1350" b="0">
                <a:solidFill>
                  <a:srgbClr val="D1D5DB"/>
                </a:solidFill>
              </a:defRPr>
            </a:pPr>
            <a:r>
              <a:rPr sz="1000" b="0" dirty="0">
                <a:solidFill>
                  <a:srgbClr val="D1D5DB"/>
                </a:solidFill>
              </a:rPr>
              <a:t>Dashboard displays results and chatbot responses correctly.</a:t>
            </a:r>
          </a:p>
        </p:txBody>
      </p:sp>
      <p:sp>
        <p:nvSpPr>
          <p:cNvPr id="21" name="Rectangle 20">
            <a:extLst>
              <a:ext uri="{FF2B5EF4-FFF2-40B4-BE49-F238E27FC236}">
                <a16:creationId xmlns:a16="http://schemas.microsoft.com/office/drawing/2014/main" id="{8ED77BC8-1571-40BF-BE1E-11D1FE7B83F9}"/>
              </a:ext>
            </a:extLst>
          </p:cNvPr>
          <p:cNvSpPr>
            <a:spLocks noGrp="1"/>
          </p:cNvSpPr>
          <p:nvPr/>
        </p:nvSpPr>
        <p:spPr>
          <a:xfrm>
            <a:off x="1238250" y="5353050"/>
            <a:ext cx="9620250" cy="3619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1875" b="1">
                <a:solidFill>
                  <a:srgbClr val="FAFAFA"/>
                </a:solidFill>
              </a:defRPr>
            </a:pPr>
            <a:r>
              <a:rPr sz="1875" b="1" dirty="0">
                <a:solidFill>
                  <a:srgbClr val="FAFAFA"/>
                </a:solidFill>
              </a:rPr>
              <a:t>Critical path: data </a:t>
            </a:r>
            <a:r>
              <a:rPr lang="en-US" sz="1875" b="1" dirty="0">
                <a:solidFill>
                  <a:srgbClr val="FAFAFA"/>
                </a:solidFill>
                <a:sym typeface="Wingdings" panose="05000000000000000000" pitchFamily="2" charset="2"/>
              </a:rPr>
              <a:t></a:t>
            </a:r>
            <a:r>
              <a:rPr sz="1875" b="1" dirty="0">
                <a:solidFill>
                  <a:srgbClr val="FAFAFA"/>
                </a:solidFill>
              </a:rPr>
              <a:t> NLP </a:t>
            </a:r>
            <a:r>
              <a:rPr lang="en-US" sz="1875" b="1" dirty="0">
                <a:solidFill>
                  <a:srgbClr val="FAFAFA"/>
                </a:solidFill>
                <a:sym typeface="Wingdings" panose="05000000000000000000" pitchFamily="2" charset="2"/>
              </a:rPr>
              <a:t></a:t>
            </a:r>
            <a:r>
              <a:rPr sz="1875" b="1" dirty="0">
                <a:solidFill>
                  <a:srgbClr val="FAFAFA"/>
                </a:solidFill>
              </a:rPr>
              <a:t> model </a:t>
            </a:r>
            <a:r>
              <a:rPr lang="en-US" sz="1875" b="1" dirty="0">
                <a:solidFill>
                  <a:srgbClr val="FAFAFA"/>
                </a:solidFill>
                <a:sym typeface="Wingdings" panose="05000000000000000000" pitchFamily="2" charset="2"/>
              </a:rPr>
              <a:t></a:t>
            </a:r>
            <a:r>
              <a:rPr sz="1875" b="1" dirty="0">
                <a:solidFill>
                  <a:srgbClr val="FAFAFA"/>
                </a:solidFill>
              </a:rPr>
              <a:t> API </a:t>
            </a:r>
            <a:r>
              <a:rPr lang="en-US" sz="1875" b="1" dirty="0">
                <a:solidFill>
                  <a:srgbClr val="FAFAFA"/>
                </a:solidFill>
                <a:sym typeface="Wingdings" panose="05000000000000000000" pitchFamily="2" charset="2"/>
              </a:rPr>
              <a:t></a:t>
            </a:r>
            <a:r>
              <a:rPr sz="1875" b="1" dirty="0">
                <a:solidFill>
                  <a:srgbClr val="FAFAFA"/>
                </a:solidFill>
              </a:rPr>
              <a:t> dashboard </a:t>
            </a:r>
            <a:r>
              <a:rPr lang="en-US" sz="1875" b="1" dirty="0">
                <a:solidFill>
                  <a:srgbClr val="FAFAFA"/>
                </a:solidFill>
                <a:sym typeface="Wingdings" panose="05000000000000000000" pitchFamily="2" charset="2"/>
              </a:rPr>
              <a:t></a:t>
            </a:r>
            <a:r>
              <a:rPr sz="1875" b="1" dirty="0">
                <a:solidFill>
                  <a:srgbClr val="FAFAFA"/>
                </a:solidFill>
              </a:rPr>
              <a:t> final report</a:t>
            </a:r>
          </a:p>
        </p:txBody>
      </p:sp>
      <p:sp>
        <p:nvSpPr>
          <p:cNvPr id="22" name="Rectangle 21">
            <a:extLst>
              <a:ext uri="{FF2B5EF4-FFF2-40B4-BE49-F238E27FC236}">
                <a16:creationId xmlns:a16="http://schemas.microsoft.com/office/drawing/2014/main" id="{37AA7F83-2671-4153-96DD-F4190D542A2E}"/>
              </a:ext>
            </a:extLst>
          </p:cNvPr>
          <p:cNvSpPr>
            <a:spLocks noGrp="1"/>
          </p:cNvSpPr>
          <p:nvPr/>
        </p:nvSpPr>
        <p:spPr>
          <a:xfrm>
            <a:off x="2000250" y="5848350"/>
            <a:ext cx="8191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ctr">
              <a:defRPr sz="1350" b="0">
                <a:solidFill>
                  <a:srgbClr val="D1D5DB"/>
                </a:solidFill>
              </a:defRPr>
            </a:pPr>
            <a:r>
              <a:rPr sz="1350" b="0">
                <a:solidFill>
                  <a:srgbClr val="D1D5DB"/>
                </a:solidFill>
              </a:rPr>
              <a:t>This matches the final deliverable focus: design, implementation plan, testing, and documentation.</a:t>
            </a:r>
          </a:p>
        </p:txBody>
      </p:sp>
      <p:sp>
        <p:nvSpPr>
          <p:cNvPr id="23" name="Rectangle 22">
            <a:extLst>
              <a:ext uri="{FF2B5EF4-FFF2-40B4-BE49-F238E27FC236}">
                <a16:creationId xmlns:a16="http://schemas.microsoft.com/office/drawing/2014/main" id="{C2059322-25B4-4189-82E6-791CE3F72D60}"/>
              </a:ext>
            </a:extLst>
          </p:cNvPr>
          <p:cNvSpPr>
            <a:spLocks noGrp="1"/>
          </p:cNvSpPr>
          <p:nvPr/>
        </p:nvSpPr>
        <p:spPr>
          <a:xfrm>
            <a:off x="609600" y="6419850"/>
            <a:ext cx="1524000" cy="19050"/>
          </a:xfrm>
          <a:prstGeom prst="rect">
            <a:avLst/>
          </a:prstGeom>
          <a:solidFill>
            <a:srgbClr val="DC2626"/>
          </a:solidFill>
          <a:ln w="0">
            <a:solidFill>
              <a:srgbClr val="DC2626"/>
            </a:solidFill>
            <a:prstDash val="solid"/>
          </a:ln>
        </p:spPr>
        <p:txBody>
          <a:bodyPr/>
          <a:lstStyle/>
          <a:p>
            <a:endParaRPr lang="en-US"/>
          </a:p>
        </p:txBody>
      </p:sp>
      <p:sp>
        <p:nvSpPr>
          <p:cNvPr id="24" name="Rectangle 23">
            <a:extLst>
              <a:ext uri="{FF2B5EF4-FFF2-40B4-BE49-F238E27FC236}">
                <a16:creationId xmlns:a16="http://schemas.microsoft.com/office/drawing/2014/main" id="{6CDA7D3E-E48C-4862-B0AE-07E312D94751}"/>
              </a:ext>
            </a:extLst>
          </p:cNvPr>
          <p:cNvSpPr>
            <a:spLocks noGrp="1"/>
          </p:cNvSpPr>
          <p:nvPr/>
        </p:nvSpPr>
        <p:spPr>
          <a:xfrm>
            <a:off x="2266950" y="6315075"/>
            <a:ext cx="1714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050" b="0">
                <a:solidFill>
                  <a:srgbClr val="6B7280"/>
                </a:solidFill>
              </a:defRPr>
            </a:pPr>
            <a:r>
              <a:rPr sz="1050" b="0">
                <a:solidFill>
                  <a:srgbClr val="6B7280"/>
                </a:solidFill>
              </a:rPr>
              <a:t>CarSight AI</a:t>
            </a:r>
          </a:p>
        </p:txBody>
      </p:sp>
      <p:sp>
        <p:nvSpPr>
          <p:cNvPr id="25" name="Rectangle 24">
            <a:extLst>
              <a:ext uri="{FF2B5EF4-FFF2-40B4-BE49-F238E27FC236}">
                <a16:creationId xmlns:a16="http://schemas.microsoft.com/office/drawing/2014/main" id="{6ABEDAE4-38B4-4AA8-AEB2-2EB07C58EF15}"/>
              </a:ext>
            </a:extLst>
          </p:cNvPr>
          <p:cNvSpPr>
            <a:spLocks noGrp="1"/>
          </p:cNvSpPr>
          <p:nvPr/>
        </p:nvSpPr>
        <p:spPr>
          <a:xfrm>
            <a:off x="11315700" y="6286500"/>
            <a:ext cx="3619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r">
              <a:defRPr sz="1200" b="0">
                <a:solidFill>
                  <a:srgbClr val="6B7280"/>
                </a:solidFill>
              </a:defRPr>
            </a:pPr>
            <a:r>
              <a:rPr sz="1200" b="0">
                <a:solidFill>
                  <a:srgbClr val="6B7280"/>
                </a:solidFill>
              </a:rPr>
              <a:t>10</a:t>
            </a:r>
          </a:p>
        </p:txBody>
      </p:sp>
    </p:spTree>
    <p:extLst>
      <p:ext uri="{BB962C8B-B14F-4D97-AF65-F5344CB8AC3E}">
        <p14:creationId xmlns:p14="http://schemas.microsoft.com/office/powerpoint/2010/main" val="1782402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B61A397-984F-487A-BD68-D34796C08CCA}"/>
              </a:ext>
            </a:extLst>
          </p:cNvPr>
          <p:cNvSpPr>
            <a:spLocks noGrp="1"/>
          </p:cNvSpPr>
          <p:nvPr/>
        </p:nvSpPr>
        <p:spPr>
          <a:xfrm>
            <a:off x="609600" y="457200"/>
            <a:ext cx="1809750" cy="323850"/>
          </a:xfrm>
          <a:prstGeom prst="roundRect">
            <a:avLst>
              <a:gd name="adj" fmla="val 16667"/>
            </a:avLst>
          </a:prstGeom>
          <a:solidFill>
            <a:srgbClr val="DC2626"/>
          </a:solidFill>
          <a:ln w="0">
            <a:solidFill>
              <a:srgbClr val="DC2626"/>
            </a:solidFill>
            <a:prstDash val="solid"/>
          </a:ln>
        </p:spPr>
        <p:txBody>
          <a:bodyPr lIns="95250" tIns="28575" rIns="95250" bIns="28575" anchor="ctr"/>
          <a:lstStyle/>
          <a:p>
            <a:pPr algn="ctr">
              <a:defRPr sz="1050" b="1">
                <a:solidFill>
                  <a:srgbClr val="FAFAFA"/>
                </a:solidFill>
              </a:defRPr>
            </a:pPr>
            <a:r>
              <a:rPr sz="1050" b="1">
                <a:solidFill>
                  <a:srgbClr val="FAFAFA"/>
                </a:solidFill>
              </a:rPr>
              <a:t>WHAT COMES NEXT</a:t>
            </a:r>
          </a:p>
        </p:txBody>
      </p:sp>
      <p:sp>
        <p:nvSpPr>
          <p:cNvPr id="3" name="Rectangle 2">
            <a:extLst>
              <a:ext uri="{FF2B5EF4-FFF2-40B4-BE49-F238E27FC236}">
                <a16:creationId xmlns:a16="http://schemas.microsoft.com/office/drawing/2014/main" id="{7A7A051F-9B59-4F11-8B24-DC070DF5E05E}"/>
              </a:ext>
            </a:extLst>
          </p:cNvPr>
          <p:cNvSpPr>
            <a:spLocks noGrp="1"/>
          </p:cNvSpPr>
          <p:nvPr/>
        </p:nvSpPr>
        <p:spPr>
          <a:xfrm>
            <a:off x="609600" y="914400"/>
            <a:ext cx="7429500" cy="819150"/>
          </a:xfrm>
          <a:prstGeom prst="rect">
            <a:avLst/>
          </a:prstGeom>
          <a:solidFill>
            <a:srgbClr val="000000">
              <a:alpha val="0"/>
            </a:srgbClr>
          </a:solidFill>
          <a:ln w="0">
            <a:solidFill>
              <a:srgbClr val="000000">
                <a:alpha val="0"/>
              </a:srgbClr>
            </a:solidFill>
            <a:prstDash val="solid"/>
          </a:ln>
        </p:spPr>
        <p:txBody>
          <a:bodyPr lIns="0" tIns="0" rIns="0" bIns="0" anchor="t">
            <a:normAutofit fontScale="95879"/>
          </a:bodyPr>
          <a:lstStyle/>
          <a:p>
            <a:pPr algn="l">
              <a:defRPr sz="3450" b="1">
                <a:solidFill>
                  <a:srgbClr val="FAFAFA"/>
                </a:solidFill>
              </a:defRPr>
            </a:pPr>
            <a:r>
              <a:rPr sz="3450" b="1" dirty="0">
                <a:solidFill>
                  <a:srgbClr val="FAFAFA"/>
                </a:solidFill>
              </a:rPr>
              <a:t>The </a:t>
            </a:r>
            <a:r>
              <a:rPr lang="en-US" sz="3450" b="1" dirty="0">
                <a:solidFill>
                  <a:srgbClr val="FAFAFA"/>
                </a:solidFill>
              </a:rPr>
              <a:t>model</a:t>
            </a:r>
            <a:r>
              <a:rPr sz="3450" b="1" dirty="0">
                <a:solidFill>
                  <a:srgbClr val="FAFAFA"/>
                </a:solidFill>
              </a:rPr>
              <a:t> works, but it is not</a:t>
            </a:r>
            <a:r>
              <a:rPr lang="en-US" sz="3450" b="1" dirty="0">
                <a:solidFill>
                  <a:srgbClr val="FAFAFA"/>
                </a:solidFill>
              </a:rPr>
              <a:t> over yet</a:t>
            </a:r>
            <a:r>
              <a:rPr sz="3450" b="1" dirty="0">
                <a:solidFill>
                  <a:srgbClr val="FAFAFA"/>
                </a:solidFill>
              </a:rPr>
              <a:t>.</a:t>
            </a:r>
          </a:p>
        </p:txBody>
      </p:sp>
      <p:sp>
        <p:nvSpPr>
          <p:cNvPr id="4" name="Rectangle 3">
            <a:extLst>
              <a:ext uri="{FF2B5EF4-FFF2-40B4-BE49-F238E27FC236}">
                <a16:creationId xmlns:a16="http://schemas.microsoft.com/office/drawing/2014/main" id="{57BD5C7D-E2E1-4AA4-8C98-F06DB5931515}"/>
              </a:ext>
            </a:extLst>
          </p:cNvPr>
          <p:cNvSpPr>
            <a:spLocks noGrp="1"/>
          </p:cNvSpPr>
          <p:nvPr/>
        </p:nvSpPr>
        <p:spPr>
          <a:xfrm>
            <a:off x="609600" y="1943100"/>
            <a:ext cx="6858000" cy="4762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650" b="0">
                <a:solidFill>
                  <a:srgbClr val="D1D5DB"/>
                </a:solidFill>
              </a:defRPr>
            </a:pPr>
            <a:r>
              <a:rPr sz="1650" b="0" dirty="0">
                <a:solidFill>
                  <a:srgbClr val="D1D5DB"/>
                </a:solidFill>
              </a:rPr>
              <a:t>The main limits are data quality, simple NLP, and real-world coverage.</a:t>
            </a:r>
          </a:p>
        </p:txBody>
      </p:sp>
      <p:sp>
        <p:nvSpPr>
          <p:cNvPr id="5" name="Rectangle: Rounded Corners 4">
            <a:extLst>
              <a:ext uri="{FF2B5EF4-FFF2-40B4-BE49-F238E27FC236}">
                <a16:creationId xmlns:a16="http://schemas.microsoft.com/office/drawing/2014/main" id="{5E9BE454-DA8E-42C7-975C-FE47B890ED09}"/>
              </a:ext>
            </a:extLst>
          </p:cNvPr>
          <p:cNvSpPr>
            <a:spLocks noGrp="1"/>
          </p:cNvSpPr>
          <p:nvPr/>
        </p:nvSpPr>
        <p:spPr>
          <a:xfrm>
            <a:off x="857250" y="2724150"/>
            <a:ext cx="2457450" cy="15621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6" name="Rectangle 5">
            <a:extLst>
              <a:ext uri="{FF2B5EF4-FFF2-40B4-BE49-F238E27FC236}">
                <a16:creationId xmlns:a16="http://schemas.microsoft.com/office/drawing/2014/main" id="{E7A57693-C2A6-4B9D-944F-F30BF5086ECB}"/>
              </a:ext>
            </a:extLst>
          </p:cNvPr>
          <p:cNvSpPr>
            <a:spLocks noGrp="1"/>
          </p:cNvSpPr>
          <p:nvPr/>
        </p:nvSpPr>
        <p:spPr>
          <a:xfrm>
            <a:off x="857250" y="2724150"/>
            <a:ext cx="57150" cy="1562100"/>
          </a:xfrm>
          <a:prstGeom prst="rect">
            <a:avLst/>
          </a:prstGeom>
          <a:solidFill>
            <a:srgbClr val="DC2626"/>
          </a:solidFill>
          <a:ln w="0">
            <a:solidFill>
              <a:srgbClr val="DC2626"/>
            </a:solidFill>
            <a:prstDash val="solid"/>
          </a:ln>
        </p:spPr>
        <p:txBody>
          <a:bodyPr/>
          <a:lstStyle/>
          <a:p>
            <a:endParaRPr lang="en-US"/>
          </a:p>
        </p:txBody>
      </p:sp>
      <p:sp>
        <p:nvSpPr>
          <p:cNvPr id="7" name="Rectangle 6">
            <a:extLst>
              <a:ext uri="{FF2B5EF4-FFF2-40B4-BE49-F238E27FC236}">
                <a16:creationId xmlns:a16="http://schemas.microsoft.com/office/drawing/2014/main" id="{F1E64C8F-BBDC-49CC-A688-6EA5E8C208F0}"/>
              </a:ext>
            </a:extLst>
          </p:cNvPr>
          <p:cNvSpPr>
            <a:spLocks noGrp="1"/>
          </p:cNvSpPr>
          <p:nvPr/>
        </p:nvSpPr>
        <p:spPr>
          <a:xfrm>
            <a:off x="1085850" y="2933700"/>
            <a:ext cx="20383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Better data</a:t>
            </a:r>
          </a:p>
        </p:txBody>
      </p:sp>
      <p:sp>
        <p:nvSpPr>
          <p:cNvPr id="8" name="Rectangle 7">
            <a:extLst>
              <a:ext uri="{FF2B5EF4-FFF2-40B4-BE49-F238E27FC236}">
                <a16:creationId xmlns:a16="http://schemas.microsoft.com/office/drawing/2014/main" id="{CCD8A1A4-27C9-410C-B52E-D15D0571A01F}"/>
              </a:ext>
            </a:extLst>
          </p:cNvPr>
          <p:cNvSpPr>
            <a:spLocks noGrp="1"/>
          </p:cNvSpPr>
          <p:nvPr/>
        </p:nvSpPr>
        <p:spPr>
          <a:xfrm>
            <a:off x="1085850" y="3314700"/>
            <a:ext cx="2038350" cy="8191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D1D5DB"/>
                </a:solidFill>
              </a:defRPr>
            </a:pPr>
            <a:r>
              <a:rPr sz="1350" b="0">
                <a:solidFill>
                  <a:srgbClr val="D1D5DB"/>
                </a:solidFill>
              </a:rPr>
              <a:t>More real listings, cleaner labels, and examples of rare damage types.</a:t>
            </a:r>
          </a:p>
        </p:txBody>
      </p:sp>
      <p:sp>
        <p:nvSpPr>
          <p:cNvPr id="9" name="Rectangle: Rounded Corners 8">
            <a:extLst>
              <a:ext uri="{FF2B5EF4-FFF2-40B4-BE49-F238E27FC236}">
                <a16:creationId xmlns:a16="http://schemas.microsoft.com/office/drawing/2014/main" id="{DDF8D3F6-2F96-4AE1-A09C-91B299828907}"/>
              </a:ext>
            </a:extLst>
          </p:cNvPr>
          <p:cNvSpPr>
            <a:spLocks noGrp="1"/>
          </p:cNvSpPr>
          <p:nvPr/>
        </p:nvSpPr>
        <p:spPr>
          <a:xfrm>
            <a:off x="3676650" y="2724150"/>
            <a:ext cx="2457450" cy="15621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0" name="Rectangle 9">
            <a:extLst>
              <a:ext uri="{FF2B5EF4-FFF2-40B4-BE49-F238E27FC236}">
                <a16:creationId xmlns:a16="http://schemas.microsoft.com/office/drawing/2014/main" id="{4D70847E-3598-43C0-B677-41CA8D9A75AD}"/>
              </a:ext>
            </a:extLst>
          </p:cNvPr>
          <p:cNvSpPr>
            <a:spLocks noGrp="1"/>
          </p:cNvSpPr>
          <p:nvPr/>
        </p:nvSpPr>
        <p:spPr>
          <a:xfrm>
            <a:off x="3676650" y="2724150"/>
            <a:ext cx="57150" cy="1562100"/>
          </a:xfrm>
          <a:prstGeom prst="rect">
            <a:avLst/>
          </a:prstGeom>
          <a:solidFill>
            <a:srgbClr val="DC2626"/>
          </a:solidFill>
          <a:ln w="0">
            <a:solidFill>
              <a:srgbClr val="DC2626"/>
            </a:solidFill>
            <a:prstDash val="solid"/>
          </a:ln>
        </p:spPr>
        <p:txBody>
          <a:bodyPr/>
          <a:lstStyle/>
          <a:p>
            <a:endParaRPr lang="en-US"/>
          </a:p>
        </p:txBody>
      </p:sp>
      <p:sp>
        <p:nvSpPr>
          <p:cNvPr id="11" name="Rectangle 10">
            <a:extLst>
              <a:ext uri="{FF2B5EF4-FFF2-40B4-BE49-F238E27FC236}">
                <a16:creationId xmlns:a16="http://schemas.microsoft.com/office/drawing/2014/main" id="{35A3792D-7AD5-4AE0-AF2A-CAA92BE5AFE3}"/>
              </a:ext>
            </a:extLst>
          </p:cNvPr>
          <p:cNvSpPr>
            <a:spLocks noGrp="1"/>
          </p:cNvSpPr>
          <p:nvPr/>
        </p:nvSpPr>
        <p:spPr>
          <a:xfrm>
            <a:off x="3905250" y="2933700"/>
            <a:ext cx="20383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Stronger NLP</a:t>
            </a:r>
          </a:p>
        </p:txBody>
      </p:sp>
      <p:sp>
        <p:nvSpPr>
          <p:cNvPr id="12" name="Rectangle 11">
            <a:extLst>
              <a:ext uri="{FF2B5EF4-FFF2-40B4-BE49-F238E27FC236}">
                <a16:creationId xmlns:a16="http://schemas.microsoft.com/office/drawing/2014/main" id="{A64ABF9A-2F19-4A99-BB20-2267A3898336}"/>
              </a:ext>
            </a:extLst>
          </p:cNvPr>
          <p:cNvSpPr>
            <a:spLocks noGrp="1"/>
          </p:cNvSpPr>
          <p:nvPr/>
        </p:nvSpPr>
        <p:spPr>
          <a:xfrm>
            <a:off x="3905250" y="3314700"/>
            <a:ext cx="2038350" cy="8191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D1D5DB"/>
                </a:solidFill>
              </a:defRPr>
            </a:pPr>
            <a:r>
              <a:rPr sz="1350" b="0">
                <a:solidFill>
                  <a:srgbClr val="D1D5DB"/>
                </a:solidFill>
              </a:rPr>
              <a:t>Move from TF-IDF and rules toward transformer-based text understanding.</a:t>
            </a:r>
          </a:p>
        </p:txBody>
      </p:sp>
      <p:sp>
        <p:nvSpPr>
          <p:cNvPr id="13" name="Rectangle: Rounded Corners 12">
            <a:extLst>
              <a:ext uri="{FF2B5EF4-FFF2-40B4-BE49-F238E27FC236}">
                <a16:creationId xmlns:a16="http://schemas.microsoft.com/office/drawing/2014/main" id="{CBA4670E-275A-4062-8AB1-0F808A5C74C9}"/>
              </a:ext>
            </a:extLst>
          </p:cNvPr>
          <p:cNvSpPr>
            <a:spLocks noGrp="1"/>
          </p:cNvSpPr>
          <p:nvPr/>
        </p:nvSpPr>
        <p:spPr>
          <a:xfrm>
            <a:off x="6496050" y="2724150"/>
            <a:ext cx="2457450" cy="15621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4" name="Rectangle 13">
            <a:extLst>
              <a:ext uri="{FF2B5EF4-FFF2-40B4-BE49-F238E27FC236}">
                <a16:creationId xmlns:a16="http://schemas.microsoft.com/office/drawing/2014/main" id="{ABBF2DAD-01CE-40B9-99D5-FA8FBD4C7ED6}"/>
              </a:ext>
            </a:extLst>
          </p:cNvPr>
          <p:cNvSpPr>
            <a:spLocks noGrp="1"/>
          </p:cNvSpPr>
          <p:nvPr/>
        </p:nvSpPr>
        <p:spPr>
          <a:xfrm>
            <a:off x="6496050" y="2724150"/>
            <a:ext cx="57150" cy="1562100"/>
          </a:xfrm>
          <a:prstGeom prst="rect">
            <a:avLst/>
          </a:prstGeom>
          <a:solidFill>
            <a:srgbClr val="DC2626"/>
          </a:solidFill>
          <a:ln w="0">
            <a:solidFill>
              <a:srgbClr val="DC2626"/>
            </a:solidFill>
            <a:prstDash val="solid"/>
          </a:ln>
        </p:spPr>
        <p:txBody>
          <a:bodyPr/>
          <a:lstStyle/>
          <a:p>
            <a:endParaRPr lang="en-US"/>
          </a:p>
        </p:txBody>
      </p:sp>
      <p:sp>
        <p:nvSpPr>
          <p:cNvPr id="15" name="Rectangle 14">
            <a:extLst>
              <a:ext uri="{FF2B5EF4-FFF2-40B4-BE49-F238E27FC236}">
                <a16:creationId xmlns:a16="http://schemas.microsoft.com/office/drawing/2014/main" id="{4E582D6E-ED50-4350-866B-B1862A3AFE6D}"/>
              </a:ext>
            </a:extLst>
          </p:cNvPr>
          <p:cNvSpPr>
            <a:spLocks noGrp="1"/>
          </p:cNvSpPr>
          <p:nvPr/>
        </p:nvSpPr>
        <p:spPr>
          <a:xfrm>
            <a:off x="6724650" y="2933700"/>
            <a:ext cx="20383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Image analysis</a:t>
            </a:r>
          </a:p>
        </p:txBody>
      </p:sp>
      <p:sp>
        <p:nvSpPr>
          <p:cNvPr id="16" name="Rectangle 15">
            <a:extLst>
              <a:ext uri="{FF2B5EF4-FFF2-40B4-BE49-F238E27FC236}">
                <a16:creationId xmlns:a16="http://schemas.microsoft.com/office/drawing/2014/main" id="{1EA554B2-2814-4210-9F64-FDCA64465DEA}"/>
              </a:ext>
            </a:extLst>
          </p:cNvPr>
          <p:cNvSpPr>
            <a:spLocks noGrp="1"/>
          </p:cNvSpPr>
          <p:nvPr/>
        </p:nvSpPr>
        <p:spPr>
          <a:xfrm>
            <a:off x="6724650" y="3314700"/>
            <a:ext cx="2038350" cy="8191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D1D5DB"/>
                </a:solidFill>
              </a:defRPr>
            </a:pPr>
            <a:r>
              <a:rPr sz="1350" b="0">
                <a:solidFill>
                  <a:srgbClr val="D1D5DB"/>
                </a:solidFill>
              </a:rPr>
              <a:t>Use car photos to confirm visible damage instead of relying only on text.</a:t>
            </a:r>
          </a:p>
        </p:txBody>
      </p:sp>
      <p:sp>
        <p:nvSpPr>
          <p:cNvPr id="17" name="Rectangle: Rounded Corners 16">
            <a:extLst>
              <a:ext uri="{FF2B5EF4-FFF2-40B4-BE49-F238E27FC236}">
                <a16:creationId xmlns:a16="http://schemas.microsoft.com/office/drawing/2014/main" id="{8F01263C-6807-4AAD-A26E-C911F609B3D2}"/>
              </a:ext>
            </a:extLst>
          </p:cNvPr>
          <p:cNvSpPr>
            <a:spLocks noGrp="1"/>
          </p:cNvSpPr>
          <p:nvPr/>
        </p:nvSpPr>
        <p:spPr>
          <a:xfrm>
            <a:off x="9315450" y="2724150"/>
            <a:ext cx="2076450" cy="1562100"/>
          </a:xfrm>
          <a:prstGeom prst="roundRect">
            <a:avLst>
              <a:gd name="adj" fmla="val 10000"/>
            </a:avLst>
          </a:prstGeom>
          <a:solidFill>
            <a:srgbClr val="1F2937"/>
          </a:solidFill>
          <a:ln w="10478">
            <a:solidFill>
              <a:srgbClr val="334155"/>
            </a:solidFill>
            <a:prstDash val="solid"/>
          </a:ln>
        </p:spPr>
        <p:txBody>
          <a:bodyPr/>
          <a:lstStyle/>
          <a:p>
            <a:endParaRPr lang="en-US"/>
          </a:p>
        </p:txBody>
      </p:sp>
      <p:sp>
        <p:nvSpPr>
          <p:cNvPr id="18" name="Rectangle 17">
            <a:extLst>
              <a:ext uri="{FF2B5EF4-FFF2-40B4-BE49-F238E27FC236}">
                <a16:creationId xmlns:a16="http://schemas.microsoft.com/office/drawing/2014/main" id="{CEEDEF3A-314A-4AEA-9D90-8482165DBD44}"/>
              </a:ext>
            </a:extLst>
          </p:cNvPr>
          <p:cNvSpPr>
            <a:spLocks noGrp="1"/>
          </p:cNvSpPr>
          <p:nvPr/>
        </p:nvSpPr>
        <p:spPr>
          <a:xfrm>
            <a:off x="9315450" y="2724150"/>
            <a:ext cx="57150" cy="1562100"/>
          </a:xfrm>
          <a:prstGeom prst="rect">
            <a:avLst/>
          </a:prstGeom>
          <a:solidFill>
            <a:srgbClr val="DC2626"/>
          </a:solidFill>
          <a:ln w="0">
            <a:solidFill>
              <a:srgbClr val="DC2626"/>
            </a:solidFill>
            <a:prstDash val="solid"/>
          </a:ln>
        </p:spPr>
        <p:txBody>
          <a:bodyPr/>
          <a:lstStyle/>
          <a:p>
            <a:endParaRPr lang="en-US"/>
          </a:p>
        </p:txBody>
      </p:sp>
      <p:sp>
        <p:nvSpPr>
          <p:cNvPr id="19" name="Rectangle 18">
            <a:extLst>
              <a:ext uri="{FF2B5EF4-FFF2-40B4-BE49-F238E27FC236}">
                <a16:creationId xmlns:a16="http://schemas.microsoft.com/office/drawing/2014/main" id="{5A6D8494-1C9C-4F41-B6E9-420284C14429}"/>
              </a:ext>
            </a:extLst>
          </p:cNvPr>
          <p:cNvSpPr>
            <a:spLocks noGrp="1"/>
          </p:cNvSpPr>
          <p:nvPr/>
        </p:nvSpPr>
        <p:spPr>
          <a:xfrm>
            <a:off x="9544050" y="2933700"/>
            <a:ext cx="16573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Marketplace fit</a:t>
            </a:r>
          </a:p>
        </p:txBody>
      </p:sp>
      <p:sp>
        <p:nvSpPr>
          <p:cNvPr id="20" name="Rectangle 19">
            <a:extLst>
              <a:ext uri="{FF2B5EF4-FFF2-40B4-BE49-F238E27FC236}">
                <a16:creationId xmlns:a16="http://schemas.microsoft.com/office/drawing/2014/main" id="{367E7BB3-1111-4764-BFFB-81ED1A126A97}"/>
              </a:ext>
            </a:extLst>
          </p:cNvPr>
          <p:cNvSpPr>
            <a:spLocks noGrp="1"/>
          </p:cNvSpPr>
          <p:nvPr/>
        </p:nvSpPr>
        <p:spPr>
          <a:xfrm>
            <a:off x="9544050" y="3314700"/>
            <a:ext cx="1657350" cy="8191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350" b="0">
                <a:solidFill>
                  <a:srgbClr val="D1D5DB"/>
                </a:solidFill>
              </a:defRPr>
            </a:pPr>
            <a:r>
              <a:rPr sz="1350" b="0">
                <a:solidFill>
                  <a:srgbClr val="D1D5DB"/>
                </a:solidFill>
              </a:rPr>
              <a:t>Connect the system to live listings and comparison data.</a:t>
            </a:r>
          </a:p>
        </p:txBody>
      </p:sp>
      <p:sp>
        <p:nvSpPr>
          <p:cNvPr id="21" name="Rectangle 20">
            <a:extLst>
              <a:ext uri="{FF2B5EF4-FFF2-40B4-BE49-F238E27FC236}">
                <a16:creationId xmlns:a16="http://schemas.microsoft.com/office/drawing/2014/main" id="{5235B82E-36AE-4EB4-A06B-5F61DC63EF3B}"/>
              </a:ext>
            </a:extLst>
          </p:cNvPr>
          <p:cNvSpPr>
            <a:spLocks noGrp="1"/>
          </p:cNvSpPr>
          <p:nvPr/>
        </p:nvSpPr>
        <p:spPr>
          <a:xfrm>
            <a:off x="1809750" y="5181600"/>
            <a:ext cx="8572500" cy="19050"/>
          </a:xfrm>
          <a:prstGeom prst="rect">
            <a:avLst/>
          </a:prstGeom>
          <a:solidFill>
            <a:srgbClr val="DC2626"/>
          </a:solidFill>
          <a:ln w="0">
            <a:solidFill>
              <a:srgbClr val="DC2626"/>
            </a:solidFill>
            <a:prstDash val="solid"/>
          </a:ln>
        </p:spPr>
        <p:txBody>
          <a:bodyPr/>
          <a:lstStyle/>
          <a:p>
            <a:endParaRPr lang="en-US"/>
          </a:p>
        </p:txBody>
      </p:sp>
      <p:sp>
        <p:nvSpPr>
          <p:cNvPr id="22" name="Rectangle 21">
            <a:extLst>
              <a:ext uri="{FF2B5EF4-FFF2-40B4-BE49-F238E27FC236}">
                <a16:creationId xmlns:a16="http://schemas.microsoft.com/office/drawing/2014/main" id="{09B41480-FE25-489C-B590-99C982E72D4E}"/>
              </a:ext>
            </a:extLst>
          </p:cNvPr>
          <p:cNvSpPr>
            <a:spLocks noGrp="1"/>
          </p:cNvSpPr>
          <p:nvPr/>
        </p:nvSpPr>
        <p:spPr>
          <a:xfrm>
            <a:off x="1752600" y="5467350"/>
            <a:ext cx="8686800" cy="533400"/>
          </a:xfrm>
          <a:prstGeom prst="rect">
            <a:avLst/>
          </a:prstGeom>
          <a:solidFill>
            <a:srgbClr val="000000">
              <a:alpha val="0"/>
            </a:srgbClr>
          </a:solidFill>
          <a:ln w="0">
            <a:solidFill>
              <a:srgbClr val="000000">
                <a:alpha val="0"/>
              </a:srgbClr>
            </a:solidFill>
            <a:prstDash val="solid"/>
          </a:ln>
        </p:spPr>
        <p:txBody>
          <a:bodyPr lIns="0" tIns="0" rIns="0" bIns="0" anchor="t">
            <a:normAutofit fontScale="95721" lnSpcReduction="10000"/>
          </a:bodyPr>
          <a:lstStyle/>
          <a:p>
            <a:pPr algn="ctr">
              <a:defRPr sz="1950" b="1">
                <a:solidFill>
                  <a:srgbClr val="FAFAFA"/>
                </a:solidFill>
              </a:defRPr>
            </a:pPr>
            <a:r>
              <a:rPr sz="1950" b="1">
                <a:solidFill>
                  <a:srgbClr val="FAFAFA"/>
                </a:solidFill>
              </a:rPr>
              <a:t>The future version should learn severity from real examples instead of depending mainly on hand-built rules.</a:t>
            </a:r>
          </a:p>
        </p:txBody>
      </p:sp>
      <p:sp>
        <p:nvSpPr>
          <p:cNvPr id="23" name="Rectangle 22">
            <a:extLst>
              <a:ext uri="{FF2B5EF4-FFF2-40B4-BE49-F238E27FC236}">
                <a16:creationId xmlns:a16="http://schemas.microsoft.com/office/drawing/2014/main" id="{53EA433D-7AEB-4A34-9999-9F7E3445B74D}"/>
              </a:ext>
            </a:extLst>
          </p:cNvPr>
          <p:cNvSpPr>
            <a:spLocks noGrp="1"/>
          </p:cNvSpPr>
          <p:nvPr/>
        </p:nvSpPr>
        <p:spPr>
          <a:xfrm>
            <a:off x="609600" y="6419850"/>
            <a:ext cx="1524000" cy="19050"/>
          </a:xfrm>
          <a:prstGeom prst="rect">
            <a:avLst/>
          </a:prstGeom>
          <a:solidFill>
            <a:srgbClr val="DC2626"/>
          </a:solidFill>
          <a:ln w="0">
            <a:solidFill>
              <a:srgbClr val="DC2626"/>
            </a:solidFill>
            <a:prstDash val="solid"/>
          </a:ln>
        </p:spPr>
        <p:txBody>
          <a:bodyPr/>
          <a:lstStyle/>
          <a:p>
            <a:endParaRPr lang="en-US"/>
          </a:p>
        </p:txBody>
      </p:sp>
      <p:sp>
        <p:nvSpPr>
          <p:cNvPr id="24" name="Rectangle 23">
            <a:extLst>
              <a:ext uri="{FF2B5EF4-FFF2-40B4-BE49-F238E27FC236}">
                <a16:creationId xmlns:a16="http://schemas.microsoft.com/office/drawing/2014/main" id="{315A7260-80EB-4CC8-811A-64FC568D6639}"/>
              </a:ext>
            </a:extLst>
          </p:cNvPr>
          <p:cNvSpPr>
            <a:spLocks noGrp="1"/>
          </p:cNvSpPr>
          <p:nvPr/>
        </p:nvSpPr>
        <p:spPr>
          <a:xfrm>
            <a:off x="2266950" y="6315075"/>
            <a:ext cx="1714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050" b="0">
                <a:solidFill>
                  <a:srgbClr val="6B7280"/>
                </a:solidFill>
              </a:defRPr>
            </a:pPr>
            <a:r>
              <a:rPr sz="1050" b="0">
                <a:solidFill>
                  <a:srgbClr val="6B7280"/>
                </a:solidFill>
              </a:rPr>
              <a:t>CarSight AI</a:t>
            </a:r>
          </a:p>
        </p:txBody>
      </p:sp>
      <p:sp>
        <p:nvSpPr>
          <p:cNvPr id="25" name="Rectangle 24">
            <a:extLst>
              <a:ext uri="{FF2B5EF4-FFF2-40B4-BE49-F238E27FC236}">
                <a16:creationId xmlns:a16="http://schemas.microsoft.com/office/drawing/2014/main" id="{6E13EEA1-7AF9-4EB9-B141-5AAD948B1AE8}"/>
              </a:ext>
            </a:extLst>
          </p:cNvPr>
          <p:cNvSpPr>
            <a:spLocks noGrp="1"/>
          </p:cNvSpPr>
          <p:nvPr/>
        </p:nvSpPr>
        <p:spPr>
          <a:xfrm>
            <a:off x="11315700" y="6286500"/>
            <a:ext cx="3619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r">
              <a:defRPr sz="1200" b="0">
                <a:solidFill>
                  <a:srgbClr val="6B7280"/>
                </a:solidFill>
              </a:defRPr>
            </a:pPr>
            <a:r>
              <a:rPr sz="1200" b="0">
                <a:solidFill>
                  <a:srgbClr val="6B7280"/>
                </a:solidFill>
              </a:rPr>
              <a:t>11</a:t>
            </a:r>
          </a:p>
        </p:txBody>
      </p:sp>
    </p:spTree>
    <p:extLst>
      <p:ext uri="{BB962C8B-B14F-4D97-AF65-F5344CB8AC3E}">
        <p14:creationId xmlns:p14="http://schemas.microsoft.com/office/powerpoint/2010/main" val="1309393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12" name="Slide Number Placeholder 5">
            <a:extLst>
              <a:ext uri="{FF2B5EF4-FFF2-40B4-BE49-F238E27FC236}">
                <a16:creationId xmlns:a16="http://schemas.microsoft.com/office/drawing/2014/main" id="{2A8FDA44-78E5-4D30-AB5D-D07E98725BD3}"/>
              </a:ext>
            </a:extLst>
          </p:cNvPr>
          <p:cNvSpPr>
            <a:spLocks noGrp="1"/>
          </p:cNvSpPr>
          <p:nvPr>
            <p:ph type="sldNum" idx="12"/>
          </p:nvPr>
        </p:nvSpPr>
        <p:spPr>
          <a:xfrm>
            <a:off x="1524000" y="1122363"/>
            <a:ext cx="9144000" cy="2387600"/>
          </a:xfrm>
        </p:spPr>
        <p:txBody>
          <a:bodyPr/>
          <a:lstStyle/>
          <a:p>
            <a:endParaRPr/>
          </a:p>
        </p:txBody>
      </p:sp>
      <p:pic>
        <p:nvPicPr>
          <p:cNvPr id="2" name="Picture 1"/>
          <p:cNvPicPr>
            <a:picLocks noChangeAspect="1"/>
          </p:cNvPicPr>
          <p:nvPr/>
        </p:nvPicPr>
        <p:blipFill>
          <a:blip r:embed="rId3"/>
          <a:srcRect t="14539" b="14539"/>
          <a:stretch>
            <a:fillRect/>
          </a:stretch>
        </p:blipFill>
        <p:spPr>
          <a:xfrm>
            <a:off x="781050" y="914400"/>
            <a:ext cx="4476750" cy="4762500"/>
          </a:xfrm>
          <a:prstGeom prst="rect">
            <a:avLst/>
          </a:prstGeom>
        </p:spPr>
      </p:pic>
      <p:sp>
        <p:nvSpPr>
          <p:cNvPr id="3" name="Rectangle 2">
            <a:extLst>
              <a:ext uri="{FF2B5EF4-FFF2-40B4-BE49-F238E27FC236}">
                <a16:creationId xmlns:a16="http://schemas.microsoft.com/office/drawing/2014/main" id="{DBE5C813-E3C8-4969-9DCD-0566EDEA1DCD}"/>
              </a:ext>
            </a:extLst>
          </p:cNvPr>
          <p:cNvSpPr>
            <a:spLocks noGrp="1"/>
          </p:cNvSpPr>
          <p:nvPr/>
        </p:nvSpPr>
        <p:spPr>
          <a:xfrm>
            <a:off x="781050" y="914400"/>
            <a:ext cx="4476750" cy="4762500"/>
          </a:xfrm>
          <a:prstGeom prst="rect">
            <a:avLst/>
          </a:prstGeom>
          <a:solidFill>
            <a:srgbClr val="111827">
              <a:alpha val="3922"/>
            </a:srgbClr>
          </a:solidFill>
          <a:ln w="9525">
            <a:solidFill>
              <a:srgbClr val="CBD5E1"/>
            </a:solidFill>
            <a:prstDash val="solid"/>
          </a:ln>
        </p:spPr>
        <p:txBody>
          <a:bodyPr/>
          <a:lstStyle/>
          <a:p>
            <a:endParaRPr lang="en-US"/>
          </a:p>
        </p:txBody>
      </p:sp>
      <p:sp>
        <p:nvSpPr>
          <p:cNvPr id="4" name="Rectangle 3">
            <a:extLst>
              <a:ext uri="{FF2B5EF4-FFF2-40B4-BE49-F238E27FC236}">
                <a16:creationId xmlns:a16="http://schemas.microsoft.com/office/drawing/2014/main" id="{A1814F3F-264C-4F6E-9F04-EC79FF4BEE27}"/>
              </a:ext>
            </a:extLst>
          </p:cNvPr>
          <p:cNvSpPr>
            <a:spLocks noGrp="1"/>
          </p:cNvSpPr>
          <p:nvPr/>
        </p:nvSpPr>
        <p:spPr>
          <a:xfrm>
            <a:off x="6057900" y="0"/>
            <a:ext cx="6134100" cy="6858000"/>
          </a:xfrm>
          <a:prstGeom prst="rect">
            <a:avLst/>
          </a:prstGeom>
          <a:solidFill>
            <a:srgbClr val="111827"/>
          </a:solidFill>
          <a:ln w="0">
            <a:solidFill>
              <a:srgbClr val="111827">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1E198C6A-D8A5-493F-8EAE-672CEE9F7266}"/>
              </a:ext>
            </a:extLst>
          </p:cNvPr>
          <p:cNvSpPr>
            <a:spLocks noGrp="1"/>
          </p:cNvSpPr>
          <p:nvPr/>
        </p:nvSpPr>
        <p:spPr>
          <a:xfrm>
            <a:off x="6724650" y="1123950"/>
            <a:ext cx="1714500" cy="38100"/>
          </a:xfrm>
          <a:prstGeom prst="rect">
            <a:avLst/>
          </a:prstGeom>
          <a:solidFill>
            <a:srgbClr val="DC2626"/>
          </a:solidFill>
          <a:ln w="0">
            <a:solidFill>
              <a:srgbClr val="DC2626"/>
            </a:solidFill>
            <a:prstDash val="solid"/>
          </a:ln>
        </p:spPr>
        <p:txBody>
          <a:bodyPr/>
          <a:lstStyle/>
          <a:p>
            <a:endParaRPr lang="en-US"/>
          </a:p>
        </p:txBody>
      </p:sp>
      <p:sp>
        <p:nvSpPr>
          <p:cNvPr id="6" name="Rectangle 5">
            <a:extLst>
              <a:ext uri="{FF2B5EF4-FFF2-40B4-BE49-F238E27FC236}">
                <a16:creationId xmlns:a16="http://schemas.microsoft.com/office/drawing/2014/main" id="{3F27557E-B9BC-40DD-BB76-10C959F19058}"/>
              </a:ext>
            </a:extLst>
          </p:cNvPr>
          <p:cNvSpPr>
            <a:spLocks noGrp="1"/>
          </p:cNvSpPr>
          <p:nvPr/>
        </p:nvSpPr>
        <p:spPr>
          <a:xfrm>
            <a:off x="6705600" y="1562100"/>
            <a:ext cx="4476750" cy="13906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3600" b="1">
                <a:solidFill>
                  <a:srgbClr val="FAFAFA"/>
                </a:solidFill>
              </a:defRPr>
            </a:pPr>
            <a:r>
              <a:rPr sz="3600" b="1">
                <a:solidFill>
                  <a:srgbClr val="FAFAFA"/>
                </a:solidFill>
              </a:rPr>
              <a:t>Less guessing.</a:t>
            </a:r>
          </a:p>
          <a:p>
            <a:pPr algn="l">
              <a:defRPr sz="3600" b="1">
                <a:solidFill>
                  <a:srgbClr val="FAFAFA"/>
                </a:solidFill>
              </a:defRPr>
            </a:pPr>
            <a:r>
              <a:rPr sz="3600" b="1">
                <a:solidFill>
                  <a:srgbClr val="FAFAFA"/>
                </a:solidFill>
              </a:rPr>
              <a:t>More honest pricing.</a:t>
            </a:r>
          </a:p>
        </p:txBody>
      </p:sp>
      <p:sp>
        <p:nvSpPr>
          <p:cNvPr id="7" name="Rectangle 6">
            <a:extLst>
              <a:ext uri="{FF2B5EF4-FFF2-40B4-BE49-F238E27FC236}">
                <a16:creationId xmlns:a16="http://schemas.microsoft.com/office/drawing/2014/main" id="{B5F5EF27-6EE9-4005-92A9-3B1FF42BD401}"/>
              </a:ext>
            </a:extLst>
          </p:cNvPr>
          <p:cNvSpPr>
            <a:spLocks noGrp="1"/>
          </p:cNvSpPr>
          <p:nvPr/>
        </p:nvSpPr>
        <p:spPr>
          <a:xfrm>
            <a:off x="6743700" y="3295650"/>
            <a:ext cx="4171950" cy="819150"/>
          </a:xfrm>
          <a:prstGeom prst="rect">
            <a:avLst/>
          </a:prstGeom>
          <a:solidFill>
            <a:srgbClr val="000000">
              <a:alpha val="0"/>
            </a:srgbClr>
          </a:solidFill>
          <a:ln w="0">
            <a:solidFill>
              <a:srgbClr val="000000">
                <a:alpha val="0"/>
              </a:srgbClr>
            </a:solidFill>
            <a:prstDash val="solid"/>
          </a:ln>
        </p:spPr>
        <p:txBody>
          <a:bodyPr lIns="0" tIns="0" rIns="0" bIns="0" anchor="t">
            <a:normAutofit fontScale="93935" lnSpcReduction="10000"/>
          </a:bodyPr>
          <a:lstStyle/>
          <a:p>
            <a:pPr algn="l">
              <a:defRPr sz="1875" b="0">
                <a:solidFill>
                  <a:srgbClr val="D1D5DB"/>
                </a:solidFill>
              </a:defRPr>
            </a:pPr>
            <a:r>
              <a:rPr sz="1875" b="0">
                <a:solidFill>
                  <a:srgbClr val="D1D5DB"/>
                </a:solidFill>
              </a:rPr>
              <a:t>CarSight AI turns vague damage language into a clearer price range and a better conversation.</a:t>
            </a:r>
          </a:p>
        </p:txBody>
      </p:sp>
      <p:sp>
        <p:nvSpPr>
          <p:cNvPr id="8" name="Rectangle 7">
            <a:extLst>
              <a:ext uri="{FF2B5EF4-FFF2-40B4-BE49-F238E27FC236}">
                <a16:creationId xmlns:a16="http://schemas.microsoft.com/office/drawing/2014/main" id="{F7775A3E-44DA-434B-87F3-4B509CB55095}"/>
              </a:ext>
            </a:extLst>
          </p:cNvPr>
          <p:cNvSpPr>
            <a:spLocks noGrp="1"/>
          </p:cNvSpPr>
          <p:nvPr/>
        </p:nvSpPr>
        <p:spPr>
          <a:xfrm>
            <a:off x="6743700" y="5257800"/>
            <a:ext cx="3429000" cy="5905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575" b="1">
                <a:solidFill>
                  <a:srgbClr val="FAFAFA"/>
                </a:solidFill>
              </a:defRPr>
            </a:pPr>
            <a:r>
              <a:rPr sz="1575" b="1">
                <a:solidFill>
                  <a:srgbClr val="FAFAFA"/>
                </a:solidFill>
              </a:rPr>
              <a:t>Thank you</a:t>
            </a:r>
          </a:p>
          <a:p>
            <a:pPr algn="l">
              <a:defRPr sz="1575" b="1">
                <a:solidFill>
                  <a:srgbClr val="FAFAFA"/>
                </a:solidFill>
              </a:defRPr>
            </a:pPr>
            <a:r>
              <a:rPr sz="1575" b="1">
                <a:solidFill>
                  <a:srgbClr val="FAFAFA"/>
                </a:solidFill>
              </a:rPr>
              <a:t>Lakshya Mohan Rastogi</a:t>
            </a:r>
          </a:p>
        </p:txBody>
      </p:sp>
      <p:sp>
        <p:nvSpPr>
          <p:cNvPr id="9" name="Rectangle 8">
            <a:extLst>
              <a:ext uri="{FF2B5EF4-FFF2-40B4-BE49-F238E27FC236}">
                <a16:creationId xmlns:a16="http://schemas.microsoft.com/office/drawing/2014/main" id="{AB432418-E4BA-48AD-86D7-8CDA160111F1}"/>
              </a:ext>
            </a:extLst>
          </p:cNvPr>
          <p:cNvSpPr>
            <a:spLocks noGrp="1"/>
          </p:cNvSpPr>
          <p:nvPr/>
        </p:nvSpPr>
        <p:spPr>
          <a:xfrm>
            <a:off x="609600" y="6419850"/>
            <a:ext cx="1524000" cy="19050"/>
          </a:xfrm>
          <a:prstGeom prst="rect">
            <a:avLst/>
          </a:prstGeom>
          <a:solidFill>
            <a:srgbClr val="DC2626"/>
          </a:solidFill>
          <a:ln w="0">
            <a:solidFill>
              <a:srgbClr val="DC2626"/>
            </a:solidFill>
            <a:prstDash val="solid"/>
          </a:ln>
        </p:spPr>
        <p:txBody>
          <a:bodyPr/>
          <a:lstStyle/>
          <a:p>
            <a:endParaRPr lang="en-US"/>
          </a:p>
        </p:txBody>
      </p:sp>
      <p:sp>
        <p:nvSpPr>
          <p:cNvPr id="10" name="Rectangle 9">
            <a:extLst>
              <a:ext uri="{FF2B5EF4-FFF2-40B4-BE49-F238E27FC236}">
                <a16:creationId xmlns:a16="http://schemas.microsoft.com/office/drawing/2014/main" id="{D027F6C6-F2F1-41D1-8B6C-EC8F99B8D021}"/>
              </a:ext>
            </a:extLst>
          </p:cNvPr>
          <p:cNvSpPr>
            <a:spLocks noGrp="1"/>
          </p:cNvSpPr>
          <p:nvPr/>
        </p:nvSpPr>
        <p:spPr>
          <a:xfrm>
            <a:off x="2266950" y="6315075"/>
            <a:ext cx="1714500" cy="26670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l">
              <a:defRPr sz="1050" b="0">
                <a:solidFill>
                  <a:srgbClr val="6B7280"/>
                </a:solidFill>
              </a:defRPr>
            </a:pPr>
            <a:r>
              <a:rPr sz="1050" b="0">
                <a:solidFill>
                  <a:srgbClr val="6B7280"/>
                </a:solidFill>
              </a:rPr>
              <a:t>CarSight AI</a:t>
            </a:r>
          </a:p>
        </p:txBody>
      </p:sp>
      <p:sp>
        <p:nvSpPr>
          <p:cNvPr id="11" name="Rectangle 10">
            <a:extLst>
              <a:ext uri="{FF2B5EF4-FFF2-40B4-BE49-F238E27FC236}">
                <a16:creationId xmlns:a16="http://schemas.microsoft.com/office/drawing/2014/main" id="{130A3D6C-DDF2-499B-A47E-86E97401959A}"/>
              </a:ext>
            </a:extLst>
          </p:cNvPr>
          <p:cNvSpPr>
            <a:spLocks noGrp="1"/>
          </p:cNvSpPr>
          <p:nvPr/>
        </p:nvSpPr>
        <p:spPr>
          <a:xfrm>
            <a:off x="11315700" y="6286500"/>
            <a:ext cx="361950" cy="285750"/>
          </a:xfrm>
          <a:prstGeom prst="rect">
            <a:avLst/>
          </a:prstGeom>
          <a:solidFill>
            <a:srgbClr val="000000">
              <a:alpha val="0"/>
            </a:srgbClr>
          </a:solidFill>
          <a:ln w="0">
            <a:solidFill>
              <a:srgbClr val="000000">
                <a:alpha val="0"/>
              </a:srgbClr>
            </a:solidFill>
            <a:prstDash val="solid"/>
          </a:ln>
        </p:spPr>
        <p:txBody>
          <a:bodyPr lIns="0" tIns="0" rIns="0" bIns="0" anchor="t">
            <a:normAutofit/>
          </a:bodyPr>
          <a:lstStyle/>
          <a:p>
            <a:pPr algn="r">
              <a:defRPr sz="1200" b="0">
                <a:solidFill>
                  <a:srgbClr val="6B7280"/>
                </a:solidFill>
              </a:defRPr>
            </a:pPr>
            <a:r>
              <a:rPr sz="1200" b="0">
                <a:solidFill>
                  <a:srgbClr val="6B7280"/>
                </a:solidFill>
              </a:rPr>
              <a:t>12</a:t>
            </a:r>
          </a:p>
        </p:txBody>
      </p:sp>
    </p:spTree>
    <p:extLst>
      <p:ext uri="{BB962C8B-B14F-4D97-AF65-F5344CB8AC3E}">
        <p14:creationId xmlns:p14="http://schemas.microsoft.com/office/powerpoint/2010/main" val="757190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1377</TotalTime>
  <Words>1483</Words>
  <Application>Microsoft Office PowerPoint</Application>
  <DocSecurity>0</DocSecurity>
  <PresentationFormat>Widescreen</PresentationFormat>
  <Paragraphs>186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Rastogi, Lakshya Mohan</cp:lastModifiedBy>
  <cp:revision>5</cp:revision>
  <dcterms:created xsi:type="dcterms:W3CDTF">2026-04-20T19:27:52Z</dcterms:created>
  <dcterms:modified xsi:type="dcterms:W3CDTF">2026-04-21T18:40:23Z</dcterms:modified>
</cp:coreProperties>
</file>